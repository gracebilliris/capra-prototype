
<file path=[Content_Types].xml><?xml version="1.0" encoding="utf-8"?>
<Types xmlns="http://schemas.openxmlformats.org/package/2006/content-types">
  <Default Extension="bin" ContentType="application/vnd.openxmlformats-officedocument.presentationml.printerSettings"/>
  <Default Extension="gif" ContentType="image/gif"/>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CAPRA — the framework, in under three minutes.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CAPRA has six internal layers organised around a central knowledge store called the Context Layer. External systems push events in at the bottom. A human reviewer sits on the right, connected to the Human Interaction Layer. Everything else in between turns raw events into a risk assessment, and turns reviewer decisions into learning.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at the bottom, with the Data Federation Layer — we'll call it DFL. It's the front door. External systems push raw telemetry in — event streams, web requests, database changes — and DFL translates whatever arrives into one common record: who did what, on which resource, for what stated reason, and when. Its output is normalised telemetry.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the Context Processing Layer — CPL. It listens for event triggers coming out of the Context Layer and enriches them with additional context — role of the actor, sensitivity of the resource, legitimacy of the reason. It then hands that contextual enrichment back to the Context Layer.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middle sits the Context Layer — CL. This is the shared knowledge store. It holds a machine-readable model of the domain — actors, resources, legitimate reasons, historical events — and it acts as the hub every other layer talks to. Normalised telemetry flows in from DFL. Enriched context is exchanged with CPL. Enriched context flows up to the Risk Intelligence Layer, and assessment results flow back.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Above that, the Risk Intelligence Layer — RIL. It receives enriched context, runs simulation and inference over it, and produces an assessment result: a severity level and a short reason. The rule is deliberately simple, so it's easy to inspect — zero warning signs is low, one is medium, two is high, three or more is critical. Assessment results go back to the Context Layer and up to the next layer for refinement.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Feedback and Refinement Layer — FRL — sits at the top. It collects assessment results and user evaluations, looks for patterns and errors, and produces updates to the domain model itself — corrections, new categories, revised thresholds — which are written back into the Context Layer. This is how CAPRA learns over time.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right, the Human Interaction Layer — HIL. It takes assessment results from the Context Layer, presents them to the human reviewer connected on the right, and captures their evaluation and feedback, which flow up to FRL.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flows up. Human decisions flow back down as feedback. Every step is traceable. The next video shows it running live.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it is running. One event enters through the Data Federation Layer, is enriched by the Context Processing Layer, assessed by the Risk Intelligence Layer, and presented to a human reviewer through the Human Interaction Layer. The reviewer's response then returns as feedback through the Feedback and Refinement Layer, updating the Context Layer. The full cycle takes seconds; this replay is sped up for illustration.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gif"/><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731520"/>
            <a:ext cx="45720" cy="502920"/>
          </a:xfrm>
          <a:prstGeom prst="rect">
            <a:avLst/>
          </a:prstGeom>
          <a:solidFill>
            <a:srgbClr val="1B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731520"/>
            <a:ext cx="502920" cy="45720"/>
          </a:xfrm>
          <a:prstGeom prst="rect">
            <a:avLst/>
          </a:prstGeom>
          <a:solidFill>
            <a:srgbClr val="1B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463040"/>
            <a:ext cx="10972800" cy="274320"/>
          </a:xfrm>
          <a:prstGeom prst="rect">
            <a:avLst/>
          </a:prstGeom>
          <a:noFill/>
        </p:spPr>
        <p:txBody>
          <a:bodyPr wrap="square" lIns="0" rIns="0" tIns="0" bIns="0" anchor="t">
            <a:spAutoFit/>
          </a:bodyPr>
          <a:lstStyle/>
          <a:p>
            <a:pPr algn="l">
              <a:lnSpc>
                <a:spcPct val="115000"/>
              </a:lnSpc>
            </a:pPr>
            <a:r>
              <a:rPr sz="1000" b="1" i="0" spc="300">
                <a:solidFill>
                  <a:srgbClr val="7BA7D9"/>
                </a:solidFill>
                <a:latin typeface="Helvetica Neue"/>
              </a:rPr>
              <a:t>FRAMEWORK</a:t>
            </a:r>
          </a:p>
        </p:txBody>
      </p:sp>
      <p:sp>
        <p:nvSpPr>
          <p:cNvPr id="6" name="TextBox 5"/>
          <p:cNvSpPr txBox="1"/>
          <p:nvPr/>
        </p:nvSpPr>
        <p:spPr>
          <a:xfrm>
            <a:off x="731520" y="2286000"/>
            <a:ext cx="10972800" cy="2194560"/>
          </a:xfrm>
          <a:prstGeom prst="rect">
            <a:avLst/>
          </a:prstGeom>
          <a:noFill/>
        </p:spPr>
        <p:txBody>
          <a:bodyPr wrap="square" lIns="0" rIns="0" tIns="0" bIns="0" anchor="t">
            <a:spAutoFit/>
          </a:bodyPr>
          <a:lstStyle/>
          <a:p>
            <a:pPr algn="l">
              <a:lnSpc>
                <a:spcPct val="90000"/>
              </a:lnSpc>
            </a:pPr>
            <a:r>
              <a:rPr sz="18000" b="1" i="0">
                <a:solidFill>
                  <a:srgbClr val="FFFFFF"/>
                </a:solidFill>
                <a:latin typeface="Helvetica Neue"/>
              </a:rPr>
              <a:t>CAPRA</a:t>
            </a:r>
          </a:p>
        </p:txBody>
      </p:sp>
      <p:sp>
        <p:nvSpPr>
          <p:cNvPr id="7" name="TextBox 6"/>
          <p:cNvSpPr txBox="1"/>
          <p:nvPr/>
        </p:nvSpPr>
        <p:spPr>
          <a:xfrm>
            <a:off x="731520" y="4709160"/>
            <a:ext cx="10972800" cy="548640"/>
          </a:xfrm>
          <a:prstGeom prst="rect">
            <a:avLst/>
          </a:prstGeom>
          <a:noFill/>
        </p:spPr>
        <p:txBody>
          <a:bodyPr wrap="square" lIns="0" rIns="0" tIns="0" bIns="0" anchor="t">
            <a:spAutoFit/>
          </a:bodyPr>
          <a:lstStyle/>
          <a:p>
            <a:pPr algn="l">
              <a:lnSpc>
                <a:spcPct val="115000"/>
              </a:lnSpc>
            </a:pPr>
            <a:r>
              <a:rPr sz="2200" b="0" i="0">
                <a:solidFill>
                  <a:srgbClr val="3B6FA8"/>
                </a:solidFill>
                <a:latin typeface="Helvetica Neue"/>
              </a:rPr>
              <a:t>A framework for continuous, context-aware privacy risk assessment.</a:t>
            </a:r>
          </a:p>
        </p:txBody>
      </p:sp>
      <p:sp>
        <p:nvSpPr>
          <p:cNvPr id="8" name="Rectangle 7"/>
          <p:cNvSpPr/>
          <p:nvPr/>
        </p:nvSpPr>
        <p:spPr>
          <a:xfrm>
            <a:off x="731520" y="5577840"/>
            <a:ext cx="1097280" cy="36576"/>
          </a:xfrm>
          <a:prstGeom prst="rect">
            <a:avLst/>
          </a:prstGeom>
          <a:solidFill>
            <a:srgbClr val="1B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5760720"/>
            <a:ext cx="10972800" cy="365760"/>
          </a:xfrm>
          <a:prstGeom prst="rect">
            <a:avLst/>
          </a:prstGeom>
          <a:noFill/>
        </p:spPr>
        <p:txBody>
          <a:bodyPr wrap="square" lIns="0" rIns="0" tIns="0" bIns="0" anchor="t">
            <a:spAutoFit/>
          </a:bodyPr>
          <a:lstStyle/>
          <a:p>
            <a:pPr algn="l">
              <a:lnSpc>
                <a:spcPct val="115000"/>
              </a:lnSpc>
            </a:pPr>
            <a:r>
              <a:rPr sz="1100" b="0" i="0" spc="150">
                <a:solidFill>
                  <a:srgbClr val="9AA5B4"/>
                </a:solidFill>
                <a:latin typeface="Helvetica Neue"/>
              </a:rPr>
              <a:t>Data ↑    ·    Feedback ↓    ·    Every step traceable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972800" cy="256032"/>
          </a:xfrm>
          <a:prstGeom prst="rect">
            <a:avLst/>
          </a:prstGeom>
          <a:noFill/>
        </p:spPr>
        <p:txBody>
          <a:bodyPr wrap="square" lIns="0" rIns="0" tIns="0" bIns="0" anchor="t">
            <a:spAutoFit/>
          </a:bodyPr>
          <a:lstStyle/>
          <a:p>
            <a:pPr algn="l">
              <a:lnSpc>
                <a:spcPct val="115000"/>
              </a:lnSpc>
            </a:pPr>
            <a:r>
              <a:rPr sz="900" b="1" i="0" spc="250">
                <a:solidFill>
                  <a:srgbClr val="0A2540"/>
                </a:solidFill>
                <a:latin typeface="Helvetica Neue"/>
              </a:rPr>
              <a:t>OVERVIEW</a:t>
            </a:r>
          </a:p>
        </p:txBody>
      </p:sp>
      <p:sp>
        <p:nvSpPr>
          <p:cNvPr id="4" name="TextBox 3"/>
          <p:cNvSpPr txBox="1"/>
          <p:nvPr/>
        </p:nvSpPr>
        <p:spPr>
          <a:xfrm>
            <a:off x="731520" y="713232"/>
            <a:ext cx="10972800" cy="502920"/>
          </a:xfrm>
          <a:prstGeom prst="rect">
            <a:avLst/>
          </a:prstGeom>
          <a:noFill/>
        </p:spPr>
        <p:txBody>
          <a:bodyPr wrap="square" lIns="0" rIns="0" tIns="0" bIns="0" anchor="t">
            <a:spAutoFit/>
          </a:bodyPr>
          <a:lstStyle/>
          <a:p>
            <a:pPr algn="l">
              <a:lnSpc>
                <a:spcPct val="115000"/>
              </a:lnSpc>
            </a:pPr>
            <a:r>
              <a:rPr sz="2400" b="1" i="0">
                <a:solidFill>
                  <a:srgbClr val="0A1628"/>
                </a:solidFill>
                <a:latin typeface="Helvetica Neue"/>
              </a:rPr>
              <a:t>Six layers arranged around a central knowledge store</a:t>
            </a:r>
          </a:p>
        </p:txBody>
      </p:sp>
      <p:sp>
        <p:nvSpPr>
          <p:cNvPr id="5" name="TextBox 4"/>
          <p:cNvSpPr txBox="1"/>
          <p:nvPr/>
        </p:nvSpPr>
        <p:spPr>
          <a:xfrm>
            <a:off x="731520" y="1234440"/>
            <a:ext cx="10972800" cy="292608"/>
          </a:xfrm>
          <a:prstGeom prst="rect">
            <a:avLst/>
          </a:prstGeom>
          <a:noFill/>
        </p:spPr>
        <p:txBody>
          <a:bodyPr wrap="square" lIns="0" rIns="0" tIns="0" bIns="0" anchor="t">
            <a:spAutoFit/>
          </a:bodyPr>
          <a:lstStyle/>
          <a:p>
            <a:pPr algn="l">
              <a:lnSpc>
                <a:spcPct val="115000"/>
              </a:lnSpc>
            </a:pPr>
            <a:r>
              <a:rPr sz="1200" b="0" i="1">
                <a:solidFill>
                  <a:srgbClr val="4A5C74"/>
                </a:solidFill>
                <a:latin typeface="Helvetica Neue"/>
              </a:rPr>
              <a:t>Data flows upward · Feedback flows downward</a:t>
            </a:r>
          </a:p>
        </p:txBody>
      </p:sp>
      <p:sp>
        <p:nvSpPr>
          <p:cNvPr id="6" name="Rectangle 5"/>
          <p:cNvSpPr/>
          <p:nvPr/>
        </p:nvSpPr>
        <p:spPr>
          <a:xfrm>
            <a:off x="731520" y="1572768"/>
            <a:ext cx="457200" cy="32004"/>
          </a:xfrm>
          <a:prstGeom prst="rect">
            <a:avLst/>
          </a:prstGeom>
          <a:solidFill>
            <a:srgbClr val="1B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68680" y="2011680"/>
            <a:ext cx="10515600" cy="3840480"/>
          </a:xfrm>
          <a:prstGeom prst="roundRect">
            <a:avLst/>
          </a:prstGeom>
          <a:noFill/>
          <a:ln w="12700">
            <a:solidFill>
              <a:srgbClr val="9AA5B4"/>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6172200"/>
            <a:ext cx="548640" cy="411480"/>
          </a:xfrm>
          <a:prstGeom prst="rect">
            <a:avLst/>
          </a:prstGeom>
          <a:noFill/>
        </p:spPr>
        <p:txBody>
          <a:bodyPr wrap="square" lIns="0" rIns="0" tIns="0" bIns="0" anchor="t">
            <a:spAutoFit/>
          </a:bodyPr>
          <a:lstStyle/>
          <a:p>
            <a:pPr algn="l">
              <a:lnSpc>
                <a:spcPct val="115000"/>
              </a:lnSpc>
            </a:pPr>
            <a:r>
              <a:rPr sz="700" b="0" i="0">
                <a:solidFill>
                  <a:srgbClr val="9AA5B4"/>
                </a:solidFill>
                <a:latin typeface="Helvetica Neue"/>
              </a:rPr>
              <a:t>CAPRA</a:t>
            </a:r>
          </a:p>
          <a:p>
            <a:pPr algn="l">
              <a:lnSpc>
                <a:spcPct val="115000"/>
              </a:lnSpc>
            </a:pPr>
            <a:r>
              <a:rPr sz="700" b="0" i="0">
                <a:solidFill>
                  <a:srgbClr val="9AA5B4"/>
                </a:solidFill>
                <a:latin typeface="Helvetica Neue"/>
              </a:rPr>
              <a:t>System</a:t>
            </a:r>
          </a:p>
          <a:p>
            <a:pPr algn="l">
              <a:lnSpc>
                <a:spcPct val="115000"/>
              </a:lnSpc>
            </a:pPr>
            <a:r>
              <a:rPr sz="700" b="0" i="0">
                <a:solidFill>
                  <a:srgbClr val="9AA5B4"/>
                </a:solidFill>
                <a:latin typeface="Helvetica Neue"/>
              </a:rPr>
              <a:t>Boundary</a:t>
            </a:r>
          </a:p>
        </p:txBody>
      </p:sp>
      <p:sp>
        <p:nvSpPr>
          <p:cNvPr id="9" name="Rounded Rectangle 8"/>
          <p:cNvSpPr/>
          <p:nvPr/>
        </p:nvSpPr>
        <p:spPr>
          <a:xfrm>
            <a:off x="1417320" y="6126480"/>
            <a:ext cx="2514600" cy="457200"/>
          </a:xfrm>
          <a:prstGeom prst="roundRect">
            <a:avLst/>
          </a:prstGeom>
          <a:solidFill>
            <a:srgbClr val="4A5C74"/>
          </a:solidFill>
          <a:ln w="12700">
            <a:solidFill>
              <a:srgbClr val="4A5C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17320" y="6126480"/>
            <a:ext cx="2514600" cy="457200"/>
          </a:xfrm>
          <a:prstGeom prst="rect">
            <a:avLst/>
          </a:prstGeom>
          <a:noFill/>
        </p:spPr>
        <p:txBody>
          <a:bodyPr wrap="square" lIns="0" rIns="0" tIns="0" bIns="0" anchor="ctr">
            <a:spAutoFit/>
          </a:bodyPr>
          <a:lstStyle/>
          <a:p>
            <a:pPr algn="ctr">
              <a:lnSpc>
                <a:spcPct val="115000"/>
              </a:lnSpc>
            </a:pPr>
            <a:r>
              <a:rPr sz="1000" b="1" i="0">
                <a:solidFill>
                  <a:srgbClr val="FFFFFF"/>
                </a:solidFill>
                <a:latin typeface="Helvetica Neue"/>
              </a:rPr>
              <a:t>External Systems</a:t>
            </a:r>
          </a:p>
        </p:txBody>
      </p:sp>
      <p:sp>
        <p:nvSpPr>
          <p:cNvPr id="11" name="Oval 10"/>
          <p:cNvSpPr/>
          <p:nvPr/>
        </p:nvSpPr>
        <p:spPr>
          <a:xfrm>
            <a:off x="1316736" y="6025896"/>
            <a:ext cx="292608" cy="292608"/>
          </a:xfrm>
          <a:prstGeom prst="ellipse">
            <a:avLst/>
          </a:prstGeom>
          <a:solidFill>
            <a:srgbClr val="4A5C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316736" y="6025896"/>
            <a:ext cx="292608" cy="292608"/>
          </a:xfrm>
          <a:prstGeom prst="rect">
            <a:avLst/>
          </a:prstGeom>
          <a:noFill/>
        </p:spPr>
        <p:txBody>
          <a:bodyPr wrap="square" lIns="0" rIns="0" tIns="0" bIns="0" anchor="ctr">
            <a:spAutoFit/>
          </a:bodyPr>
          <a:lstStyle/>
          <a:p>
            <a:pPr algn="ctr">
              <a:lnSpc>
                <a:spcPct val="115000"/>
              </a:lnSpc>
            </a:pPr>
            <a:r>
              <a:rPr sz="1000" b="1" i="0">
                <a:solidFill>
                  <a:srgbClr val="FFFFFF"/>
                </a:solidFill>
                <a:latin typeface="Helvetica Neue"/>
              </a:rPr>
              <a:t>0</a:t>
            </a:r>
          </a:p>
        </p:txBody>
      </p:sp>
      <p:sp>
        <p:nvSpPr>
          <p:cNvPr id="13" name="Oval 12"/>
          <p:cNvSpPr/>
          <p:nvPr/>
        </p:nvSpPr>
        <p:spPr>
          <a:xfrm>
            <a:off x="10698480" y="3749039"/>
            <a:ext cx="914400" cy="502920"/>
          </a:xfrm>
          <a:prstGeom prst="ellipse">
            <a:avLst/>
          </a:prstGeom>
          <a:solidFill>
            <a:srgbClr val="1B3A5E"/>
          </a:solidFill>
          <a:ln w="15240">
            <a:solidFill>
              <a:srgbClr val="1B3A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698480" y="3749039"/>
            <a:ext cx="914400" cy="502920"/>
          </a:xfrm>
          <a:prstGeom prst="rect">
            <a:avLst/>
          </a:prstGeom>
          <a:noFill/>
        </p:spPr>
        <p:txBody>
          <a:bodyPr wrap="square" lIns="0" rIns="0" tIns="0" bIns="0" anchor="ctr">
            <a:spAutoFit/>
          </a:bodyPr>
          <a:lstStyle/>
          <a:p>
            <a:pPr algn="ctr">
              <a:lnSpc>
                <a:spcPct val="115000"/>
              </a:lnSpc>
            </a:pPr>
            <a:r>
              <a:rPr sz="1000" b="1" i="0">
                <a:solidFill>
                  <a:srgbClr val="FFFFFF"/>
                </a:solidFill>
                <a:latin typeface="Helvetica Neue"/>
              </a:rPr>
              <a:t>Human</a:t>
            </a:r>
          </a:p>
        </p:txBody>
      </p:sp>
      <p:sp>
        <p:nvSpPr>
          <p:cNvPr id="15" name="Oval 14"/>
          <p:cNvSpPr/>
          <p:nvPr/>
        </p:nvSpPr>
        <p:spPr>
          <a:xfrm>
            <a:off x="10597896" y="3648455"/>
            <a:ext cx="292608" cy="292608"/>
          </a:xfrm>
          <a:prstGeom prst="ellipse">
            <a:avLst/>
          </a:prstGeom>
          <a:solidFill>
            <a:srgbClr val="1B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97896" y="3648455"/>
            <a:ext cx="292608" cy="292608"/>
          </a:xfrm>
          <a:prstGeom prst="rect">
            <a:avLst/>
          </a:prstGeom>
          <a:noFill/>
        </p:spPr>
        <p:txBody>
          <a:bodyPr wrap="square" lIns="0" rIns="0" tIns="0" bIns="0" anchor="ctr">
            <a:spAutoFit/>
          </a:bodyPr>
          <a:lstStyle/>
          <a:p>
            <a:pPr algn="ctr">
              <a:lnSpc>
                <a:spcPct val="115000"/>
              </a:lnSpc>
            </a:pPr>
            <a:r>
              <a:rPr sz="1000" b="1" i="0">
                <a:solidFill>
                  <a:srgbClr val="FFFFFF"/>
                </a:solidFill>
                <a:latin typeface="Helvetica Neue"/>
              </a:rPr>
              <a:t>7</a:t>
            </a:r>
          </a:p>
        </p:txBody>
      </p:sp>
      <p:sp>
        <p:nvSpPr>
          <p:cNvPr id="17" name="Rounded Rectangle 16"/>
          <p:cNvSpPr/>
          <p:nvPr/>
        </p:nvSpPr>
        <p:spPr>
          <a:xfrm>
            <a:off x="1444752" y="5038344"/>
            <a:ext cx="2514600" cy="777240"/>
          </a:xfrm>
          <a:prstGeom prst="roundRect">
            <a:avLst/>
          </a:prstGeom>
          <a:solidFill>
            <a:srgbClr val="D5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417320" y="4983480"/>
            <a:ext cx="2514600" cy="777240"/>
          </a:xfrm>
          <a:prstGeom prst="roundRect">
            <a:avLst/>
          </a:prstGeom>
          <a:solidFill>
            <a:srgbClr val="FFFFFF"/>
          </a:solidFill>
          <a:ln w="17780">
            <a:solidFill>
              <a:srgbClr val="0A2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417320" y="4983480"/>
            <a:ext cx="82296" cy="777240"/>
          </a:xfrm>
          <a:prstGeom prst="round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3291840" y="5376672"/>
            <a:ext cx="502920" cy="274320"/>
          </a:xfrm>
          <a:prstGeom prst="round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91840" y="5376672"/>
            <a:ext cx="502920" cy="274320"/>
          </a:xfrm>
          <a:prstGeom prst="rect">
            <a:avLst/>
          </a:prstGeom>
          <a:noFill/>
        </p:spPr>
        <p:txBody>
          <a:bodyPr wrap="square" lIns="0" rIns="0" tIns="0" bIns="0" anchor="ctr">
            <a:spAutoFit/>
          </a:bodyPr>
          <a:lstStyle/>
          <a:p>
            <a:pPr algn="ctr">
              <a:lnSpc>
                <a:spcPct val="115000"/>
              </a:lnSpc>
            </a:pPr>
            <a:r>
              <a:rPr sz="900" b="1" i="0">
                <a:solidFill>
                  <a:srgbClr val="FFFFFF"/>
                </a:solidFill>
                <a:latin typeface="Helvetica Neue"/>
              </a:rPr>
              <a:t>DFL</a:t>
            </a:r>
          </a:p>
        </p:txBody>
      </p:sp>
      <p:sp>
        <p:nvSpPr>
          <p:cNvPr id="22" name="TextBox 21"/>
          <p:cNvSpPr txBox="1"/>
          <p:nvPr/>
        </p:nvSpPr>
        <p:spPr>
          <a:xfrm>
            <a:off x="1600200" y="5074920"/>
            <a:ext cx="2240280" cy="310896"/>
          </a:xfrm>
          <a:prstGeom prst="rect">
            <a:avLst/>
          </a:prstGeom>
          <a:noFill/>
        </p:spPr>
        <p:txBody>
          <a:bodyPr wrap="square" lIns="0" rIns="0" tIns="0" bIns="0" anchor="t">
            <a:spAutoFit/>
          </a:bodyPr>
          <a:lstStyle/>
          <a:p>
            <a:pPr algn="l">
              <a:lnSpc>
                <a:spcPct val="115000"/>
              </a:lnSpc>
            </a:pPr>
            <a:r>
              <a:rPr sz="1200" b="1" i="0">
                <a:solidFill>
                  <a:srgbClr val="0A1628"/>
                </a:solidFill>
                <a:latin typeface="Helvetica Neue"/>
              </a:rPr>
              <a:t>Data Federation Layer</a:t>
            </a:r>
          </a:p>
        </p:txBody>
      </p:sp>
      <p:sp>
        <p:nvSpPr>
          <p:cNvPr id="23" name="Oval 22"/>
          <p:cNvSpPr/>
          <p:nvPr/>
        </p:nvSpPr>
        <p:spPr>
          <a:xfrm>
            <a:off x="1316736" y="4882896"/>
            <a:ext cx="292608" cy="292608"/>
          </a:xfrm>
          <a:prstGeom prst="ellipse">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316736" y="4882896"/>
            <a:ext cx="292608" cy="292608"/>
          </a:xfrm>
          <a:prstGeom prst="rect">
            <a:avLst/>
          </a:prstGeom>
          <a:noFill/>
        </p:spPr>
        <p:txBody>
          <a:bodyPr wrap="square" lIns="0" rIns="0" tIns="0" bIns="0" anchor="ctr">
            <a:spAutoFit/>
          </a:bodyPr>
          <a:lstStyle/>
          <a:p>
            <a:pPr algn="ctr">
              <a:lnSpc>
                <a:spcPct val="115000"/>
              </a:lnSpc>
            </a:pPr>
            <a:r>
              <a:rPr sz="1000" b="1" i="0">
                <a:solidFill>
                  <a:srgbClr val="FFFFFF"/>
                </a:solidFill>
                <a:latin typeface="Helvetica Neue"/>
              </a:rPr>
              <a:t>1</a:t>
            </a:r>
          </a:p>
        </p:txBody>
      </p:sp>
      <p:sp>
        <p:nvSpPr>
          <p:cNvPr id="25" name="Rounded Rectangle 24"/>
          <p:cNvSpPr/>
          <p:nvPr/>
        </p:nvSpPr>
        <p:spPr>
          <a:xfrm>
            <a:off x="4873752" y="5038344"/>
            <a:ext cx="2697480" cy="777240"/>
          </a:xfrm>
          <a:prstGeom prst="roundRect">
            <a:avLst/>
          </a:prstGeom>
          <a:solidFill>
            <a:srgbClr val="D5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4846320" y="4983480"/>
            <a:ext cx="2697480" cy="777240"/>
          </a:xfrm>
          <a:prstGeom prst="roundRect">
            <a:avLst/>
          </a:prstGeom>
          <a:solidFill>
            <a:srgbClr val="FFFFFF"/>
          </a:solidFill>
          <a:ln w="17780">
            <a:solidFill>
              <a:srgbClr val="0A2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4846320" y="4983480"/>
            <a:ext cx="82296" cy="777240"/>
          </a:xfrm>
          <a:prstGeom prst="round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903720" y="5376672"/>
            <a:ext cx="502920" cy="274320"/>
          </a:xfrm>
          <a:prstGeom prst="round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903720" y="5376672"/>
            <a:ext cx="502920" cy="274320"/>
          </a:xfrm>
          <a:prstGeom prst="rect">
            <a:avLst/>
          </a:prstGeom>
          <a:noFill/>
        </p:spPr>
        <p:txBody>
          <a:bodyPr wrap="square" lIns="0" rIns="0" tIns="0" bIns="0" anchor="ctr">
            <a:spAutoFit/>
          </a:bodyPr>
          <a:lstStyle/>
          <a:p>
            <a:pPr algn="ctr">
              <a:lnSpc>
                <a:spcPct val="115000"/>
              </a:lnSpc>
            </a:pPr>
            <a:r>
              <a:rPr sz="900" b="1" i="0">
                <a:solidFill>
                  <a:srgbClr val="FFFFFF"/>
                </a:solidFill>
                <a:latin typeface="Helvetica Neue"/>
              </a:rPr>
              <a:t>CPL</a:t>
            </a:r>
          </a:p>
        </p:txBody>
      </p:sp>
      <p:sp>
        <p:nvSpPr>
          <p:cNvPr id="30" name="TextBox 29"/>
          <p:cNvSpPr txBox="1"/>
          <p:nvPr/>
        </p:nvSpPr>
        <p:spPr>
          <a:xfrm>
            <a:off x="5029200" y="5074920"/>
            <a:ext cx="2423160" cy="310896"/>
          </a:xfrm>
          <a:prstGeom prst="rect">
            <a:avLst/>
          </a:prstGeom>
          <a:noFill/>
        </p:spPr>
        <p:txBody>
          <a:bodyPr wrap="square" lIns="0" rIns="0" tIns="0" bIns="0" anchor="t">
            <a:spAutoFit/>
          </a:bodyPr>
          <a:lstStyle/>
          <a:p>
            <a:pPr algn="l">
              <a:lnSpc>
                <a:spcPct val="115000"/>
              </a:lnSpc>
            </a:pPr>
            <a:r>
              <a:rPr sz="1200" b="1" i="0">
                <a:solidFill>
                  <a:srgbClr val="0A1628"/>
                </a:solidFill>
                <a:latin typeface="Helvetica Neue"/>
              </a:rPr>
              <a:t>Context Processing Layer</a:t>
            </a:r>
          </a:p>
        </p:txBody>
      </p:sp>
      <p:sp>
        <p:nvSpPr>
          <p:cNvPr id="31" name="Oval 30"/>
          <p:cNvSpPr/>
          <p:nvPr/>
        </p:nvSpPr>
        <p:spPr>
          <a:xfrm>
            <a:off x="4745736" y="4882896"/>
            <a:ext cx="292608" cy="292608"/>
          </a:xfrm>
          <a:prstGeom prst="ellipse">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745736" y="4882896"/>
            <a:ext cx="292608" cy="292608"/>
          </a:xfrm>
          <a:prstGeom prst="rect">
            <a:avLst/>
          </a:prstGeom>
          <a:noFill/>
        </p:spPr>
        <p:txBody>
          <a:bodyPr wrap="square" lIns="0" rIns="0" tIns="0" bIns="0" anchor="ctr">
            <a:spAutoFit/>
          </a:bodyPr>
          <a:lstStyle/>
          <a:p>
            <a:pPr algn="ctr">
              <a:lnSpc>
                <a:spcPct val="115000"/>
              </a:lnSpc>
            </a:pPr>
            <a:r>
              <a:rPr sz="1000" b="1" i="0">
                <a:solidFill>
                  <a:srgbClr val="FFFFFF"/>
                </a:solidFill>
                <a:latin typeface="Helvetica Neue"/>
              </a:rPr>
              <a:t>3</a:t>
            </a:r>
          </a:p>
        </p:txBody>
      </p:sp>
      <p:sp>
        <p:nvSpPr>
          <p:cNvPr id="33" name="Rounded Rectangle 32"/>
          <p:cNvSpPr/>
          <p:nvPr/>
        </p:nvSpPr>
        <p:spPr>
          <a:xfrm>
            <a:off x="1444752" y="3621024"/>
            <a:ext cx="6172200" cy="822960"/>
          </a:xfrm>
          <a:prstGeom prst="roundRect">
            <a:avLst/>
          </a:prstGeom>
          <a:solidFill>
            <a:srgbClr val="D5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1417320" y="3566160"/>
            <a:ext cx="6172200" cy="822960"/>
          </a:xfrm>
          <a:prstGeom prst="roundRect">
            <a:avLst/>
          </a:prstGeom>
          <a:solidFill>
            <a:srgbClr val="FFFFFF"/>
          </a:solidFill>
          <a:ln w="17780">
            <a:solidFill>
              <a:srgbClr val="0A2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1417320" y="3566160"/>
            <a:ext cx="82296" cy="822960"/>
          </a:xfrm>
          <a:prstGeom prst="round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6949440" y="4005072"/>
            <a:ext cx="502920" cy="274320"/>
          </a:xfrm>
          <a:prstGeom prst="round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949440" y="4005072"/>
            <a:ext cx="502920" cy="274320"/>
          </a:xfrm>
          <a:prstGeom prst="rect">
            <a:avLst/>
          </a:prstGeom>
          <a:noFill/>
        </p:spPr>
        <p:txBody>
          <a:bodyPr wrap="square" lIns="0" rIns="0" tIns="0" bIns="0" anchor="ctr">
            <a:spAutoFit/>
          </a:bodyPr>
          <a:lstStyle/>
          <a:p>
            <a:pPr algn="ctr">
              <a:lnSpc>
                <a:spcPct val="115000"/>
              </a:lnSpc>
            </a:pPr>
            <a:r>
              <a:rPr sz="900" b="1" i="0">
                <a:solidFill>
                  <a:srgbClr val="FFFFFF"/>
                </a:solidFill>
                <a:latin typeface="Helvetica Neue"/>
              </a:rPr>
              <a:t>CL</a:t>
            </a:r>
          </a:p>
        </p:txBody>
      </p:sp>
      <p:sp>
        <p:nvSpPr>
          <p:cNvPr id="38" name="TextBox 37"/>
          <p:cNvSpPr txBox="1"/>
          <p:nvPr/>
        </p:nvSpPr>
        <p:spPr>
          <a:xfrm>
            <a:off x="1600200" y="3657600"/>
            <a:ext cx="5897880" cy="310896"/>
          </a:xfrm>
          <a:prstGeom prst="rect">
            <a:avLst/>
          </a:prstGeom>
          <a:noFill/>
        </p:spPr>
        <p:txBody>
          <a:bodyPr wrap="square" lIns="0" rIns="0" tIns="0" bIns="0" anchor="t">
            <a:spAutoFit/>
          </a:bodyPr>
          <a:lstStyle/>
          <a:p>
            <a:pPr algn="l">
              <a:lnSpc>
                <a:spcPct val="115000"/>
              </a:lnSpc>
            </a:pPr>
            <a:r>
              <a:rPr sz="1200" b="1" i="0">
                <a:solidFill>
                  <a:srgbClr val="0A1628"/>
                </a:solidFill>
                <a:latin typeface="Helvetica Neue"/>
              </a:rPr>
              <a:t>Context Layer</a:t>
            </a:r>
          </a:p>
        </p:txBody>
      </p:sp>
      <p:sp>
        <p:nvSpPr>
          <p:cNvPr id="39" name="Oval 38"/>
          <p:cNvSpPr/>
          <p:nvPr/>
        </p:nvSpPr>
        <p:spPr>
          <a:xfrm>
            <a:off x="1316736" y="3465576"/>
            <a:ext cx="292608" cy="292608"/>
          </a:xfrm>
          <a:prstGeom prst="ellipse">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316736" y="3465576"/>
            <a:ext cx="292608" cy="292608"/>
          </a:xfrm>
          <a:prstGeom prst="rect">
            <a:avLst/>
          </a:prstGeom>
          <a:noFill/>
        </p:spPr>
        <p:txBody>
          <a:bodyPr wrap="square" lIns="0" rIns="0" tIns="0" bIns="0" anchor="ctr">
            <a:spAutoFit/>
          </a:bodyPr>
          <a:lstStyle/>
          <a:p>
            <a:pPr algn="ctr">
              <a:lnSpc>
                <a:spcPct val="115000"/>
              </a:lnSpc>
            </a:pPr>
            <a:r>
              <a:rPr sz="1000" b="1" i="0">
                <a:solidFill>
                  <a:srgbClr val="FFFFFF"/>
                </a:solidFill>
                <a:latin typeface="Helvetica Neue"/>
              </a:rPr>
              <a:t>2</a:t>
            </a:r>
          </a:p>
        </p:txBody>
      </p:sp>
      <p:sp>
        <p:nvSpPr>
          <p:cNvPr id="41" name="Rounded Rectangle 40"/>
          <p:cNvSpPr/>
          <p:nvPr/>
        </p:nvSpPr>
        <p:spPr>
          <a:xfrm>
            <a:off x="1444752" y="2249424"/>
            <a:ext cx="2514600" cy="777240"/>
          </a:xfrm>
          <a:prstGeom prst="roundRect">
            <a:avLst/>
          </a:prstGeom>
          <a:solidFill>
            <a:srgbClr val="D5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1417320" y="2194560"/>
            <a:ext cx="2514600" cy="777240"/>
          </a:xfrm>
          <a:prstGeom prst="roundRect">
            <a:avLst/>
          </a:prstGeom>
          <a:solidFill>
            <a:srgbClr val="FFFFFF"/>
          </a:solidFill>
          <a:ln w="17780">
            <a:solidFill>
              <a:srgbClr val="0A2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1417320" y="2194560"/>
            <a:ext cx="82296" cy="777240"/>
          </a:xfrm>
          <a:prstGeom prst="round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3291840" y="2587752"/>
            <a:ext cx="502920" cy="274320"/>
          </a:xfrm>
          <a:prstGeom prst="round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291840" y="2587752"/>
            <a:ext cx="502920" cy="274320"/>
          </a:xfrm>
          <a:prstGeom prst="rect">
            <a:avLst/>
          </a:prstGeom>
          <a:noFill/>
        </p:spPr>
        <p:txBody>
          <a:bodyPr wrap="square" lIns="0" rIns="0" tIns="0" bIns="0" anchor="ctr">
            <a:spAutoFit/>
          </a:bodyPr>
          <a:lstStyle/>
          <a:p>
            <a:pPr algn="ctr">
              <a:lnSpc>
                <a:spcPct val="115000"/>
              </a:lnSpc>
            </a:pPr>
            <a:r>
              <a:rPr sz="900" b="1" i="0">
                <a:solidFill>
                  <a:srgbClr val="FFFFFF"/>
                </a:solidFill>
                <a:latin typeface="Helvetica Neue"/>
              </a:rPr>
              <a:t>RIL</a:t>
            </a:r>
          </a:p>
        </p:txBody>
      </p:sp>
      <p:sp>
        <p:nvSpPr>
          <p:cNvPr id="46" name="TextBox 45"/>
          <p:cNvSpPr txBox="1"/>
          <p:nvPr/>
        </p:nvSpPr>
        <p:spPr>
          <a:xfrm>
            <a:off x="1600200" y="2286000"/>
            <a:ext cx="2240280" cy="310896"/>
          </a:xfrm>
          <a:prstGeom prst="rect">
            <a:avLst/>
          </a:prstGeom>
          <a:noFill/>
        </p:spPr>
        <p:txBody>
          <a:bodyPr wrap="square" lIns="0" rIns="0" tIns="0" bIns="0" anchor="t">
            <a:spAutoFit/>
          </a:bodyPr>
          <a:lstStyle/>
          <a:p>
            <a:pPr algn="l">
              <a:lnSpc>
                <a:spcPct val="115000"/>
              </a:lnSpc>
            </a:pPr>
            <a:r>
              <a:rPr sz="1200" b="1" i="0">
                <a:solidFill>
                  <a:srgbClr val="0A1628"/>
                </a:solidFill>
                <a:latin typeface="Helvetica Neue"/>
              </a:rPr>
              <a:t>Risk Intelligence Layer</a:t>
            </a:r>
          </a:p>
        </p:txBody>
      </p:sp>
      <p:sp>
        <p:nvSpPr>
          <p:cNvPr id="47" name="Oval 46"/>
          <p:cNvSpPr/>
          <p:nvPr/>
        </p:nvSpPr>
        <p:spPr>
          <a:xfrm>
            <a:off x="1316736" y="2093976"/>
            <a:ext cx="292608" cy="292608"/>
          </a:xfrm>
          <a:prstGeom prst="ellipse">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316736" y="2093976"/>
            <a:ext cx="292608" cy="292608"/>
          </a:xfrm>
          <a:prstGeom prst="rect">
            <a:avLst/>
          </a:prstGeom>
          <a:noFill/>
        </p:spPr>
        <p:txBody>
          <a:bodyPr wrap="square" lIns="0" rIns="0" tIns="0" bIns="0" anchor="ctr">
            <a:spAutoFit/>
          </a:bodyPr>
          <a:lstStyle/>
          <a:p>
            <a:pPr algn="ctr">
              <a:lnSpc>
                <a:spcPct val="115000"/>
              </a:lnSpc>
            </a:pPr>
            <a:r>
              <a:rPr sz="1000" b="1" i="0">
                <a:solidFill>
                  <a:srgbClr val="FFFFFF"/>
                </a:solidFill>
                <a:latin typeface="Helvetica Neue"/>
              </a:rPr>
              <a:t>4</a:t>
            </a:r>
          </a:p>
        </p:txBody>
      </p:sp>
      <p:sp>
        <p:nvSpPr>
          <p:cNvPr id="49" name="Rounded Rectangle 48"/>
          <p:cNvSpPr/>
          <p:nvPr/>
        </p:nvSpPr>
        <p:spPr>
          <a:xfrm>
            <a:off x="4873752" y="2249424"/>
            <a:ext cx="2697480" cy="777240"/>
          </a:xfrm>
          <a:prstGeom prst="roundRect">
            <a:avLst/>
          </a:prstGeom>
          <a:solidFill>
            <a:srgbClr val="D5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4846320" y="2194560"/>
            <a:ext cx="2697480" cy="777240"/>
          </a:xfrm>
          <a:prstGeom prst="roundRect">
            <a:avLst/>
          </a:prstGeom>
          <a:solidFill>
            <a:srgbClr val="FFFFFF"/>
          </a:solidFill>
          <a:ln w="17780">
            <a:solidFill>
              <a:srgbClr val="0A2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4846320" y="2194560"/>
            <a:ext cx="82296" cy="777240"/>
          </a:xfrm>
          <a:prstGeom prst="round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ounded Rectangle 51"/>
          <p:cNvSpPr/>
          <p:nvPr/>
        </p:nvSpPr>
        <p:spPr>
          <a:xfrm>
            <a:off x="6903720" y="2587752"/>
            <a:ext cx="502920" cy="274320"/>
          </a:xfrm>
          <a:prstGeom prst="round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903720" y="2587752"/>
            <a:ext cx="502920" cy="274320"/>
          </a:xfrm>
          <a:prstGeom prst="rect">
            <a:avLst/>
          </a:prstGeom>
          <a:noFill/>
        </p:spPr>
        <p:txBody>
          <a:bodyPr wrap="square" lIns="0" rIns="0" tIns="0" bIns="0" anchor="ctr">
            <a:spAutoFit/>
          </a:bodyPr>
          <a:lstStyle/>
          <a:p>
            <a:pPr algn="ctr">
              <a:lnSpc>
                <a:spcPct val="115000"/>
              </a:lnSpc>
            </a:pPr>
            <a:r>
              <a:rPr sz="900" b="1" i="0">
                <a:solidFill>
                  <a:srgbClr val="FFFFFF"/>
                </a:solidFill>
                <a:latin typeface="Helvetica Neue"/>
              </a:rPr>
              <a:t>FRL</a:t>
            </a:r>
          </a:p>
        </p:txBody>
      </p:sp>
      <p:sp>
        <p:nvSpPr>
          <p:cNvPr id="54" name="TextBox 53"/>
          <p:cNvSpPr txBox="1"/>
          <p:nvPr/>
        </p:nvSpPr>
        <p:spPr>
          <a:xfrm>
            <a:off x="5029200" y="2286000"/>
            <a:ext cx="2423160" cy="310896"/>
          </a:xfrm>
          <a:prstGeom prst="rect">
            <a:avLst/>
          </a:prstGeom>
          <a:noFill/>
        </p:spPr>
        <p:txBody>
          <a:bodyPr wrap="square" lIns="0" rIns="0" tIns="0" bIns="0" anchor="t">
            <a:spAutoFit/>
          </a:bodyPr>
          <a:lstStyle/>
          <a:p>
            <a:pPr algn="l">
              <a:lnSpc>
                <a:spcPct val="115000"/>
              </a:lnSpc>
            </a:pPr>
            <a:r>
              <a:rPr sz="1200" b="1" i="0">
                <a:solidFill>
                  <a:srgbClr val="0A1628"/>
                </a:solidFill>
                <a:latin typeface="Helvetica Neue"/>
              </a:rPr>
              <a:t>Feedback &amp; Refinement Layer</a:t>
            </a:r>
          </a:p>
        </p:txBody>
      </p:sp>
      <p:sp>
        <p:nvSpPr>
          <p:cNvPr id="55" name="Oval 54"/>
          <p:cNvSpPr/>
          <p:nvPr/>
        </p:nvSpPr>
        <p:spPr>
          <a:xfrm>
            <a:off x="4745736" y="2093976"/>
            <a:ext cx="292608" cy="292608"/>
          </a:xfrm>
          <a:prstGeom prst="ellipse">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745736" y="2093976"/>
            <a:ext cx="292608" cy="292608"/>
          </a:xfrm>
          <a:prstGeom prst="rect">
            <a:avLst/>
          </a:prstGeom>
          <a:noFill/>
        </p:spPr>
        <p:txBody>
          <a:bodyPr wrap="square" lIns="0" rIns="0" tIns="0" bIns="0" anchor="ctr">
            <a:spAutoFit/>
          </a:bodyPr>
          <a:lstStyle/>
          <a:p>
            <a:pPr algn="ctr">
              <a:lnSpc>
                <a:spcPct val="115000"/>
              </a:lnSpc>
            </a:pPr>
            <a:r>
              <a:rPr sz="1000" b="1" i="0">
                <a:solidFill>
                  <a:srgbClr val="FFFFFF"/>
                </a:solidFill>
                <a:latin typeface="Helvetica Neue"/>
              </a:rPr>
              <a:t>5</a:t>
            </a:r>
          </a:p>
        </p:txBody>
      </p:sp>
      <p:sp>
        <p:nvSpPr>
          <p:cNvPr id="57" name="Rounded Rectangle 56"/>
          <p:cNvSpPr/>
          <p:nvPr/>
        </p:nvSpPr>
        <p:spPr>
          <a:xfrm>
            <a:off x="8348472" y="3621024"/>
            <a:ext cx="2194560" cy="822960"/>
          </a:xfrm>
          <a:prstGeom prst="roundRect">
            <a:avLst/>
          </a:prstGeom>
          <a:solidFill>
            <a:srgbClr val="D5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ounded Rectangle 57"/>
          <p:cNvSpPr/>
          <p:nvPr/>
        </p:nvSpPr>
        <p:spPr>
          <a:xfrm>
            <a:off x="8321040" y="3566160"/>
            <a:ext cx="2194560" cy="822960"/>
          </a:xfrm>
          <a:prstGeom prst="roundRect">
            <a:avLst/>
          </a:prstGeom>
          <a:solidFill>
            <a:srgbClr val="FFFFFF"/>
          </a:solidFill>
          <a:ln w="17780">
            <a:solidFill>
              <a:srgbClr val="1B3A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ounded Rectangle 58"/>
          <p:cNvSpPr/>
          <p:nvPr/>
        </p:nvSpPr>
        <p:spPr>
          <a:xfrm>
            <a:off x="8321040" y="3566160"/>
            <a:ext cx="82296" cy="822960"/>
          </a:xfrm>
          <a:prstGeom prst="roundRect">
            <a:avLst/>
          </a:prstGeom>
          <a:solidFill>
            <a:srgbClr val="1B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ounded Rectangle 59"/>
          <p:cNvSpPr/>
          <p:nvPr/>
        </p:nvSpPr>
        <p:spPr>
          <a:xfrm>
            <a:off x="9875520" y="4005072"/>
            <a:ext cx="502920" cy="274320"/>
          </a:xfrm>
          <a:prstGeom prst="roundRect">
            <a:avLst/>
          </a:prstGeom>
          <a:solidFill>
            <a:srgbClr val="1B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9875520" y="4005072"/>
            <a:ext cx="502920" cy="274320"/>
          </a:xfrm>
          <a:prstGeom prst="rect">
            <a:avLst/>
          </a:prstGeom>
          <a:noFill/>
        </p:spPr>
        <p:txBody>
          <a:bodyPr wrap="square" lIns="0" rIns="0" tIns="0" bIns="0" anchor="ctr">
            <a:spAutoFit/>
          </a:bodyPr>
          <a:lstStyle/>
          <a:p>
            <a:pPr algn="ctr">
              <a:lnSpc>
                <a:spcPct val="115000"/>
              </a:lnSpc>
            </a:pPr>
            <a:r>
              <a:rPr sz="900" b="1" i="0">
                <a:solidFill>
                  <a:srgbClr val="FFFFFF"/>
                </a:solidFill>
                <a:latin typeface="Helvetica Neue"/>
              </a:rPr>
              <a:t>HIL</a:t>
            </a:r>
          </a:p>
        </p:txBody>
      </p:sp>
      <p:sp>
        <p:nvSpPr>
          <p:cNvPr id="62" name="TextBox 61"/>
          <p:cNvSpPr txBox="1"/>
          <p:nvPr/>
        </p:nvSpPr>
        <p:spPr>
          <a:xfrm>
            <a:off x="8503920" y="3657600"/>
            <a:ext cx="1920240" cy="310896"/>
          </a:xfrm>
          <a:prstGeom prst="rect">
            <a:avLst/>
          </a:prstGeom>
          <a:noFill/>
        </p:spPr>
        <p:txBody>
          <a:bodyPr wrap="square" lIns="0" rIns="0" tIns="0" bIns="0" anchor="t">
            <a:spAutoFit/>
          </a:bodyPr>
          <a:lstStyle/>
          <a:p>
            <a:pPr algn="l">
              <a:lnSpc>
                <a:spcPct val="115000"/>
              </a:lnSpc>
            </a:pPr>
            <a:r>
              <a:rPr sz="1200" b="1" i="0">
                <a:solidFill>
                  <a:srgbClr val="0A1628"/>
                </a:solidFill>
                <a:latin typeface="Helvetica Neue"/>
              </a:rPr>
              <a:t>Human Interaction Layer</a:t>
            </a:r>
          </a:p>
        </p:txBody>
      </p:sp>
      <p:sp>
        <p:nvSpPr>
          <p:cNvPr id="63" name="Oval 62"/>
          <p:cNvSpPr/>
          <p:nvPr/>
        </p:nvSpPr>
        <p:spPr>
          <a:xfrm>
            <a:off x="8220456" y="3465576"/>
            <a:ext cx="292608" cy="292608"/>
          </a:xfrm>
          <a:prstGeom prst="ellipse">
            <a:avLst/>
          </a:prstGeom>
          <a:solidFill>
            <a:srgbClr val="1B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8220456" y="3465576"/>
            <a:ext cx="292608" cy="292608"/>
          </a:xfrm>
          <a:prstGeom prst="rect">
            <a:avLst/>
          </a:prstGeom>
          <a:noFill/>
        </p:spPr>
        <p:txBody>
          <a:bodyPr wrap="square" lIns="0" rIns="0" tIns="0" bIns="0" anchor="ctr">
            <a:spAutoFit/>
          </a:bodyPr>
          <a:lstStyle/>
          <a:p>
            <a:pPr algn="ctr">
              <a:lnSpc>
                <a:spcPct val="115000"/>
              </a:lnSpc>
            </a:pPr>
            <a:r>
              <a:rPr sz="1000" b="1" i="0">
                <a:solidFill>
                  <a:srgbClr val="FFFFFF"/>
                </a:solidFill>
                <a:latin typeface="Helvetica Neue"/>
              </a:rPr>
              <a:t>6</a:t>
            </a:r>
          </a:p>
        </p:txBody>
      </p:sp>
      <p:cxnSp>
        <p:nvCxnSpPr>
          <p:cNvPr id="65" name="Connector 64"/>
          <p:cNvCxnSpPr/>
          <p:nvPr/>
        </p:nvCxnSpPr>
        <p:spPr>
          <a:xfrm flipV="1">
            <a:off x="2674620" y="5760720"/>
            <a:ext cx="0" cy="365760"/>
          </a:xfrm>
          <a:prstGeom prst="line">
            <a:avLst/>
          </a:prstGeom>
          <a:ln w="21590">
            <a:solidFill>
              <a:srgbClr val="0A2540"/>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2674620" y="4389120"/>
            <a:ext cx="1828800" cy="594360"/>
          </a:xfrm>
          <a:prstGeom prst="line">
            <a:avLst/>
          </a:prstGeom>
          <a:ln w="21590">
            <a:solidFill>
              <a:srgbClr val="0A2540"/>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4503420" y="4389120"/>
            <a:ext cx="1691640" cy="594360"/>
          </a:xfrm>
          <a:prstGeom prst="line">
            <a:avLst/>
          </a:prstGeom>
          <a:ln w="21590">
            <a:solidFill>
              <a:srgbClr val="0A2540"/>
            </a:solidFill>
            <a:tailEnd type="triangle" w="med" h="med"/>
            <a:headEnd type="triangle" w="med" h="med"/>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flipV="1">
            <a:off x="2674620" y="2971800"/>
            <a:ext cx="1828800" cy="594360"/>
          </a:xfrm>
          <a:prstGeom prst="line">
            <a:avLst/>
          </a:prstGeom>
          <a:ln w="21590">
            <a:solidFill>
              <a:srgbClr val="0A2540"/>
            </a:solidFill>
            <a:tailEnd type="triangle" w="med" h="med"/>
            <a:headEnd type="triangle" w="med" h="med"/>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7589520" y="3977640"/>
            <a:ext cx="731520" cy="0"/>
          </a:xfrm>
          <a:prstGeom prst="line">
            <a:avLst/>
          </a:prstGeom>
          <a:ln w="21590">
            <a:solidFill>
              <a:srgbClr val="0A2540"/>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10515600" y="3977640"/>
            <a:ext cx="182880" cy="22859"/>
          </a:xfrm>
          <a:prstGeom prst="line">
            <a:avLst/>
          </a:prstGeom>
          <a:ln w="21590">
            <a:solidFill>
              <a:srgbClr val="0A2540"/>
            </a:solidFill>
            <a:tailEnd type="triangle" w="med" h="med"/>
            <a:headEnd type="triangle" w="med" h="med"/>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3931920" y="2583180"/>
            <a:ext cx="914400" cy="0"/>
          </a:xfrm>
          <a:prstGeom prst="line">
            <a:avLst/>
          </a:prstGeom>
          <a:ln w="21590">
            <a:solidFill>
              <a:srgbClr val="3B6FA8"/>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a:off x="4503420" y="2971800"/>
            <a:ext cx="1691640" cy="594360"/>
          </a:xfrm>
          <a:prstGeom prst="line">
            <a:avLst/>
          </a:prstGeom>
          <a:ln w="21590">
            <a:solidFill>
              <a:srgbClr val="3B6FA8"/>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flipV="1">
            <a:off x="7543800" y="2583180"/>
            <a:ext cx="1874520" cy="982980"/>
          </a:xfrm>
          <a:prstGeom prst="line">
            <a:avLst/>
          </a:prstGeom>
          <a:ln w="21590">
            <a:solidFill>
              <a:srgbClr val="3B6FA8"/>
            </a:solidFill>
            <a:tailEnd type="triangle" w="med" h="med"/>
          </a:ln>
        </p:spPr>
        <p:style>
          <a:lnRef idx="2">
            <a:schemeClr val="accent1"/>
          </a:lnRef>
          <a:fillRef idx="0">
            <a:schemeClr val="accent1"/>
          </a:fillRef>
          <a:effectRef idx="1">
            <a:schemeClr val="accent1"/>
          </a:effectRef>
          <a:fontRef idx="minor">
            <a:schemeClr val="tx1"/>
          </a:fontRef>
        </p:style>
      </p:cxnSp>
      <p:sp>
        <p:nvSpPr>
          <p:cNvPr id="74" name="Rounded Rectangle 73"/>
          <p:cNvSpPr/>
          <p:nvPr/>
        </p:nvSpPr>
        <p:spPr>
          <a:xfrm>
            <a:off x="1965960" y="5806440"/>
            <a:ext cx="1463040" cy="2743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1965960" y="5806440"/>
            <a:ext cx="1463040" cy="274320"/>
          </a:xfrm>
          <a:prstGeom prst="rect">
            <a:avLst/>
          </a:prstGeom>
          <a:noFill/>
        </p:spPr>
        <p:txBody>
          <a:bodyPr wrap="square" lIns="0" rIns="0" tIns="0" bIns="0" anchor="ctr">
            <a:spAutoFit/>
          </a:bodyPr>
          <a:lstStyle/>
          <a:p>
            <a:pPr algn="ctr">
              <a:lnSpc>
                <a:spcPct val="115000"/>
              </a:lnSpc>
            </a:pPr>
            <a:r>
              <a:rPr sz="800" b="0" i="0">
                <a:solidFill>
                  <a:srgbClr val="0A2540"/>
                </a:solidFill>
                <a:latin typeface="Helvetica Neue"/>
              </a:rPr>
              <a:t>raw telemetry</a:t>
            </a:r>
          </a:p>
        </p:txBody>
      </p:sp>
      <p:sp>
        <p:nvSpPr>
          <p:cNvPr id="76" name="Rounded Rectangle 75"/>
          <p:cNvSpPr/>
          <p:nvPr/>
        </p:nvSpPr>
        <p:spPr>
          <a:xfrm>
            <a:off x="2125980" y="4544568"/>
            <a:ext cx="1600200" cy="2743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2125980" y="4544568"/>
            <a:ext cx="1600200" cy="274320"/>
          </a:xfrm>
          <a:prstGeom prst="rect">
            <a:avLst/>
          </a:prstGeom>
          <a:noFill/>
        </p:spPr>
        <p:txBody>
          <a:bodyPr wrap="square" lIns="0" rIns="0" tIns="0" bIns="0" anchor="ctr">
            <a:spAutoFit/>
          </a:bodyPr>
          <a:lstStyle/>
          <a:p>
            <a:pPr algn="ctr">
              <a:lnSpc>
                <a:spcPct val="115000"/>
              </a:lnSpc>
            </a:pPr>
            <a:r>
              <a:rPr sz="800" b="0" i="0">
                <a:solidFill>
                  <a:srgbClr val="0A2540"/>
                </a:solidFill>
                <a:latin typeface="Helvetica Neue"/>
              </a:rPr>
              <a:t>normalised telemetry</a:t>
            </a:r>
          </a:p>
        </p:txBody>
      </p:sp>
      <p:sp>
        <p:nvSpPr>
          <p:cNvPr id="78" name="Rounded Rectangle 77"/>
          <p:cNvSpPr/>
          <p:nvPr/>
        </p:nvSpPr>
        <p:spPr>
          <a:xfrm>
            <a:off x="5234940" y="4544568"/>
            <a:ext cx="1600200" cy="2743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5234940" y="4544568"/>
            <a:ext cx="1600200" cy="274320"/>
          </a:xfrm>
          <a:prstGeom prst="rect">
            <a:avLst/>
          </a:prstGeom>
          <a:noFill/>
        </p:spPr>
        <p:txBody>
          <a:bodyPr wrap="square" lIns="0" rIns="0" tIns="0" bIns="0" anchor="ctr">
            <a:spAutoFit/>
          </a:bodyPr>
          <a:lstStyle/>
          <a:p>
            <a:pPr algn="ctr">
              <a:lnSpc>
                <a:spcPct val="115000"/>
              </a:lnSpc>
            </a:pPr>
            <a:r>
              <a:rPr sz="800" b="0" i="0">
                <a:solidFill>
                  <a:srgbClr val="0A2540"/>
                </a:solidFill>
                <a:latin typeface="Helvetica Neue"/>
              </a:rPr>
              <a:t>context enrichment</a:t>
            </a:r>
          </a:p>
        </p:txBody>
      </p:sp>
      <p:sp>
        <p:nvSpPr>
          <p:cNvPr id="80" name="Rounded Rectangle 79"/>
          <p:cNvSpPr/>
          <p:nvPr/>
        </p:nvSpPr>
        <p:spPr>
          <a:xfrm>
            <a:off x="2171700" y="3108960"/>
            <a:ext cx="1691640" cy="2743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2171700" y="3108960"/>
            <a:ext cx="1691640" cy="274320"/>
          </a:xfrm>
          <a:prstGeom prst="rect">
            <a:avLst/>
          </a:prstGeom>
          <a:noFill/>
        </p:spPr>
        <p:txBody>
          <a:bodyPr wrap="square" lIns="0" rIns="0" tIns="0" bIns="0" anchor="ctr">
            <a:spAutoFit/>
          </a:bodyPr>
          <a:lstStyle/>
          <a:p>
            <a:pPr algn="ctr">
              <a:lnSpc>
                <a:spcPct val="115000"/>
              </a:lnSpc>
            </a:pPr>
            <a:r>
              <a:rPr sz="800" b="0" i="0">
                <a:solidFill>
                  <a:srgbClr val="0A2540"/>
                </a:solidFill>
                <a:latin typeface="Helvetica Neue"/>
              </a:rPr>
              <a:t>context &amp; assessment</a:t>
            </a:r>
          </a:p>
        </p:txBody>
      </p:sp>
      <p:sp>
        <p:nvSpPr>
          <p:cNvPr id="82" name="Rounded Rectangle 81"/>
          <p:cNvSpPr/>
          <p:nvPr/>
        </p:nvSpPr>
        <p:spPr>
          <a:xfrm>
            <a:off x="7598663" y="3840479"/>
            <a:ext cx="713232" cy="2743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7598663" y="3840479"/>
            <a:ext cx="713232" cy="274320"/>
          </a:xfrm>
          <a:prstGeom prst="rect">
            <a:avLst/>
          </a:prstGeom>
          <a:noFill/>
        </p:spPr>
        <p:txBody>
          <a:bodyPr wrap="square" lIns="0" rIns="0" tIns="0" bIns="0" anchor="ctr">
            <a:spAutoFit/>
          </a:bodyPr>
          <a:lstStyle/>
          <a:p>
            <a:pPr algn="ctr">
              <a:lnSpc>
                <a:spcPct val="115000"/>
              </a:lnSpc>
            </a:pPr>
            <a:r>
              <a:rPr sz="800" b="0" i="0">
                <a:solidFill>
                  <a:srgbClr val="0A2540"/>
                </a:solidFill>
                <a:latin typeface="Helvetica Neue"/>
              </a:rPr>
              <a:t>risk profile</a:t>
            </a:r>
          </a:p>
        </p:txBody>
      </p:sp>
      <p:sp>
        <p:nvSpPr>
          <p:cNvPr id="84" name="Rounded Rectangle 83"/>
          <p:cNvSpPr/>
          <p:nvPr/>
        </p:nvSpPr>
        <p:spPr>
          <a:xfrm>
            <a:off x="3954780" y="2446020"/>
            <a:ext cx="868680" cy="2743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3954780" y="2446020"/>
            <a:ext cx="868680" cy="274320"/>
          </a:xfrm>
          <a:prstGeom prst="rect">
            <a:avLst/>
          </a:prstGeom>
          <a:noFill/>
        </p:spPr>
        <p:txBody>
          <a:bodyPr wrap="square" lIns="0" rIns="0" tIns="0" bIns="0" anchor="ctr">
            <a:spAutoFit/>
          </a:bodyPr>
          <a:lstStyle/>
          <a:p>
            <a:pPr algn="ctr">
              <a:lnSpc>
                <a:spcPct val="115000"/>
              </a:lnSpc>
            </a:pPr>
            <a:r>
              <a:rPr sz="800" b="0" i="0">
                <a:solidFill>
                  <a:srgbClr val="3B6FA8"/>
                </a:solidFill>
                <a:latin typeface="Helvetica Neue"/>
              </a:rPr>
              <a:t>risk output</a:t>
            </a:r>
          </a:p>
        </p:txBody>
      </p:sp>
      <p:sp>
        <p:nvSpPr>
          <p:cNvPr id="86" name="Rounded Rectangle 85"/>
          <p:cNvSpPr/>
          <p:nvPr/>
        </p:nvSpPr>
        <p:spPr>
          <a:xfrm>
            <a:off x="5623560" y="3108960"/>
            <a:ext cx="1188720" cy="2743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5623560" y="3108960"/>
            <a:ext cx="1188720" cy="274320"/>
          </a:xfrm>
          <a:prstGeom prst="rect">
            <a:avLst/>
          </a:prstGeom>
          <a:noFill/>
        </p:spPr>
        <p:txBody>
          <a:bodyPr wrap="square" lIns="0" rIns="0" tIns="0" bIns="0" anchor="ctr">
            <a:spAutoFit/>
          </a:bodyPr>
          <a:lstStyle/>
          <a:p>
            <a:pPr algn="ctr">
              <a:lnSpc>
                <a:spcPct val="115000"/>
              </a:lnSpc>
            </a:pPr>
            <a:r>
              <a:rPr sz="800" b="0" i="0">
                <a:solidFill>
                  <a:srgbClr val="3B6FA8"/>
                </a:solidFill>
                <a:latin typeface="Helvetica Neue"/>
              </a:rPr>
              <a:t>model updates</a:t>
            </a:r>
          </a:p>
        </p:txBody>
      </p:sp>
      <p:sp>
        <p:nvSpPr>
          <p:cNvPr id="88" name="Rounded Rectangle 87"/>
          <p:cNvSpPr/>
          <p:nvPr/>
        </p:nvSpPr>
        <p:spPr>
          <a:xfrm>
            <a:off x="7795260" y="2880360"/>
            <a:ext cx="1417320" cy="2743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7795260" y="2880360"/>
            <a:ext cx="1417320" cy="274320"/>
          </a:xfrm>
          <a:prstGeom prst="rect">
            <a:avLst/>
          </a:prstGeom>
          <a:noFill/>
        </p:spPr>
        <p:txBody>
          <a:bodyPr wrap="square" lIns="0" rIns="0" tIns="0" bIns="0" anchor="ctr">
            <a:spAutoFit/>
          </a:bodyPr>
          <a:lstStyle/>
          <a:p>
            <a:pPr algn="ctr">
              <a:lnSpc>
                <a:spcPct val="115000"/>
              </a:lnSpc>
            </a:pPr>
            <a:r>
              <a:rPr sz="800" b="0" i="0">
                <a:solidFill>
                  <a:srgbClr val="3B6FA8"/>
                </a:solidFill>
                <a:latin typeface="Helvetica Neue"/>
              </a:rPr>
              <a:t>user evaluations</a:t>
            </a:r>
          </a:p>
        </p:txBody>
      </p:sp>
      <p:sp>
        <p:nvSpPr>
          <p:cNvPr id="90" name="Rectangle 89"/>
          <p:cNvSpPr/>
          <p:nvPr/>
        </p:nvSpPr>
        <p:spPr>
          <a:xfrm>
            <a:off x="7772400" y="6409944"/>
            <a:ext cx="256032" cy="4572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8138160" y="6309360"/>
            <a:ext cx="1463040" cy="256032"/>
          </a:xfrm>
          <a:prstGeom prst="rect">
            <a:avLst/>
          </a:prstGeom>
          <a:noFill/>
        </p:spPr>
        <p:txBody>
          <a:bodyPr wrap="square" lIns="0" rIns="0" tIns="0" bIns="0" anchor="ctr">
            <a:spAutoFit/>
          </a:bodyPr>
          <a:lstStyle/>
          <a:p>
            <a:pPr algn="l">
              <a:lnSpc>
                <a:spcPct val="115000"/>
              </a:lnSpc>
            </a:pPr>
            <a:r>
              <a:rPr sz="900" b="0" i="0">
                <a:solidFill>
                  <a:srgbClr val="4A5C74"/>
                </a:solidFill>
                <a:latin typeface="Helvetica Neue"/>
              </a:rPr>
              <a:t>Data path (up)</a:t>
            </a:r>
          </a:p>
        </p:txBody>
      </p:sp>
      <p:sp>
        <p:nvSpPr>
          <p:cNvPr id="92" name="Rectangle 91"/>
          <p:cNvSpPr/>
          <p:nvPr/>
        </p:nvSpPr>
        <p:spPr>
          <a:xfrm>
            <a:off x="9692640" y="6409944"/>
            <a:ext cx="256032" cy="45720"/>
          </a:xfrm>
          <a:prstGeom prst="rect">
            <a:avLst/>
          </a:prstGeom>
          <a:solidFill>
            <a:srgbClr val="3B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10058400" y="6309360"/>
            <a:ext cx="2011680" cy="256032"/>
          </a:xfrm>
          <a:prstGeom prst="rect">
            <a:avLst/>
          </a:prstGeom>
          <a:noFill/>
        </p:spPr>
        <p:txBody>
          <a:bodyPr wrap="square" lIns="0" rIns="0" tIns="0" bIns="0" anchor="ctr">
            <a:spAutoFit/>
          </a:bodyPr>
          <a:lstStyle/>
          <a:p>
            <a:pPr algn="l">
              <a:lnSpc>
                <a:spcPct val="115000"/>
              </a:lnSpc>
            </a:pPr>
            <a:r>
              <a:rPr sz="900" b="0" i="0">
                <a:solidFill>
                  <a:srgbClr val="4A5C74"/>
                </a:solidFill>
                <a:latin typeface="Helvetica Neue"/>
              </a:rPr>
              <a:t>Feedback path (down)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972800" cy="256032"/>
          </a:xfrm>
          <a:prstGeom prst="rect">
            <a:avLst/>
          </a:prstGeom>
          <a:noFill/>
        </p:spPr>
        <p:txBody>
          <a:bodyPr wrap="square" lIns="0" rIns="0" tIns="0" bIns="0" anchor="t">
            <a:spAutoFit/>
          </a:bodyPr>
          <a:lstStyle/>
          <a:p>
            <a:pPr algn="l">
              <a:lnSpc>
                <a:spcPct val="115000"/>
              </a:lnSpc>
            </a:pPr>
            <a:r>
              <a:rPr sz="900" b="1" i="0" spc="250">
                <a:solidFill>
                  <a:srgbClr val="0A2540"/>
                </a:solidFill>
                <a:latin typeface="Helvetica Neue"/>
              </a:rPr>
              <a:t>LAYER 1 OF 6 · DFL</a:t>
            </a:r>
          </a:p>
        </p:txBody>
      </p:sp>
      <p:sp>
        <p:nvSpPr>
          <p:cNvPr id="4" name="TextBox 3"/>
          <p:cNvSpPr txBox="1"/>
          <p:nvPr/>
        </p:nvSpPr>
        <p:spPr>
          <a:xfrm>
            <a:off x="731520" y="713232"/>
            <a:ext cx="10972800" cy="502920"/>
          </a:xfrm>
          <a:prstGeom prst="rect">
            <a:avLst/>
          </a:prstGeom>
          <a:noFill/>
        </p:spPr>
        <p:txBody>
          <a:bodyPr wrap="square" lIns="0" rIns="0" tIns="0" bIns="0" anchor="t">
            <a:spAutoFit/>
          </a:bodyPr>
          <a:lstStyle/>
          <a:p>
            <a:pPr algn="l">
              <a:lnSpc>
                <a:spcPct val="115000"/>
              </a:lnSpc>
            </a:pPr>
            <a:r>
              <a:rPr sz="2400" b="1" i="0">
                <a:solidFill>
                  <a:srgbClr val="0A1628"/>
                </a:solidFill>
                <a:latin typeface="Helvetica Neue"/>
              </a:rPr>
              <a:t>Data Federation Layer</a:t>
            </a:r>
          </a:p>
        </p:txBody>
      </p:sp>
      <p:sp>
        <p:nvSpPr>
          <p:cNvPr id="5" name="TextBox 4"/>
          <p:cNvSpPr txBox="1"/>
          <p:nvPr/>
        </p:nvSpPr>
        <p:spPr>
          <a:xfrm>
            <a:off x="731520" y="1234440"/>
            <a:ext cx="10972800" cy="292608"/>
          </a:xfrm>
          <a:prstGeom prst="rect">
            <a:avLst/>
          </a:prstGeom>
          <a:noFill/>
        </p:spPr>
        <p:txBody>
          <a:bodyPr wrap="square" lIns="0" rIns="0" tIns="0" bIns="0" anchor="t">
            <a:spAutoFit/>
          </a:bodyPr>
          <a:lstStyle/>
          <a:p>
            <a:pPr algn="l">
              <a:lnSpc>
                <a:spcPct val="115000"/>
              </a:lnSpc>
            </a:pPr>
            <a:r>
              <a:rPr sz="1200" b="0" i="1">
                <a:solidFill>
                  <a:srgbClr val="4A5C74"/>
                </a:solidFill>
                <a:latin typeface="Helvetica Neue"/>
              </a:rPr>
              <a:t>Normalises arriving telemetry into a common event record.</a:t>
            </a:r>
          </a:p>
        </p:txBody>
      </p:sp>
      <p:sp>
        <p:nvSpPr>
          <p:cNvPr id="6" name="Rectangle 5"/>
          <p:cNvSpPr/>
          <p:nvPr/>
        </p:nvSpPr>
        <p:spPr>
          <a:xfrm>
            <a:off x="731520" y="1572768"/>
            <a:ext cx="457200" cy="32004"/>
          </a:xfrm>
          <a:prstGeom prst="rect">
            <a:avLst/>
          </a:prstGeom>
          <a:solidFill>
            <a:srgbClr val="1B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68680" y="2011680"/>
            <a:ext cx="10515600" cy="3840480"/>
          </a:xfrm>
          <a:prstGeom prst="roundRect">
            <a:avLst/>
          </a:prstGeom>
          <a:noFill/>
          <a:ln w="12700">
            <a:solidFill>
              <a:srgbClr val="9AA5B4"/>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6172200"/>
            <a:ext cx="548640" cy="411480"/>
          </a:xfrm>
          <a:prstGeom prst="rect">
            <a:avLst/>
          </a:prstGeom>
          <a:noFill/>
        </p:spPr>
        <p:txBody>
          <a:bodyPr wrap="square" lIns="0" rIns="0" tIns="0" bIns="0" anchor="t">
            <a:spAutoFit/>
          </a:bodyPr>
          <a:lstStyle/>
          <a:p>
            <a:pPr algn="l">
              <a:lnSpc>
                <a:spcPct val="115000"/>
              </a:lnSpc>
            </a:pPr>
            <a:r>
              <a:rPr sz="700" b="0" i="0">
                <a:solidFill>
                  <a:srgbClr val="9AA5B4"/>
                </a:solidFill>
                <a:latin typeface="Helvetica Neue"/>
              </a:rPr>
              <a:t>CAPRA</a:t>
            </a:r>
          </a:p>
          <a:p>
            <a:pPr algn="l">
              <a:lnSpc>
                <a:spcPct val="115000"/>
              </a:lnSpc>
            </a:pPr>
            <a:r>
              <a:rPr sz="700" b="0" i="0">
                <a:solidFill>
                  <a:srgbClr val="9AA5B4"/>
                </a:solidFill>
                <a:latin typeface="Helvetica Neue"/>
              </a:rPr>
              <a:t>System</a:t>
            </a:r>
          </a:p>
          <a:p>
            <a:pPr algn="l">
              <a:lnSpc>
                <a:spcPct val="115000"/>
              </a:lnSpc>
            </a:pPr>
            <a:r>
              <a:rPr sz="700" b="0" i="0">
                <a:solidFill>
                  <a:srgbClr val="9AA5B4"/>
                </a:solidFill>
                <a:latin typeface="Helvetica Neue"/>
              </a:rPr>
              <a:t>Boundary</a:t>
            </a:r>
          </a:p>
        </p:txBody>
      </p:sp>
      <p:sp>
        <p:nvSpPr>
          <p:cNvPr id="9" name="Rounded Rectangle 8"/>
          <p:cNvSpPr/>
          <p:nvPr/>
        </p:nvSpPr>
        <p:spPr>
          <a:xfrm>
            <a:off x="1417320" y="6126480"/>
            <a:ext cx="2514600" cy="457200"/>
          </a:xfrm>
          <a:prstGeom prst="roundRect">
            <a:avLst/>
          </a:prstGeom>
          <a:solidFill>
            <a:srgbClr val="F1F4F8"/>
          </a:solidFill>
          <a:ln w="6350">
            <a:solidFill>
              <a:srgbClr val="E1E5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17320" y="6126480"/>
            <a:ext cx="2514600" cy="457200"/>
          </a:xfrm>
          <a:prstGeom prst="rect">
            <a:avLst/>
          </a:prstGeom>
          <a:noFill/>
        </p:spPr>
        <p:txBody>
          <a:bodyPr wrap="square" lIns="0" rIns="0" tIns="0" bIns="0" anchor="ctr">
            <a:spAutoFit/>
          </a:bodyPr>
          <a:lstStyle/>
          <a:p>
            <a:pPr algn="ctr">
              <a:lnSpc>
                <a:spcPct val="115000"/>
              </a:lnSpc>
            </a:pPr>
            <a:r>
              <a:rPr sz="1000" b="1" i="0">
                <a:solidFill>
                  <a:srgbClr val="4A5C74"/>
                </a:solidFill>
                <a:latin typeface="Helvetica Neue"/>
              </a:rPr>
              <a:t>External Systems</a:t>
            </a:r>
          </a:p>
        </p:txBody>
      </p:sp>
      <p:sp>
        <p:nvSpPr>
          <p:cNvPr id="11" name="Oval 10"/>
          <p:cNvSpPr/>
          <p:nvPr/>
        </p:nvSpPr>
        <p:spPr>
          <a:xfrm>
            <a:off x="1316736" y="6025896"/>
            <a:ext cx="292608" cy="292608"/>
          </a:xfrm>
          <a:prstGeom prst="ellipse">
            <a:avLst/>
          </a:prstGeom>
          <a:solidFill>
            <a:srgbClr val="9AA5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316736" y="6025896"/>
            <a:ext cx="292608" cy="292608"/>
          </a:xfrm>
          <a:prstGeom prst="rect">
            <a:avLst/>
          </a:prstGeom>
          <a:noFill/>
        </p:spPr>
        <p:txBody>
          <a:bodyPr wrap="square" lIns="0" rIns="0" tIns="0" bIns="0" anchor="ctr">
            <a:spAutoFit/>
          </a:bodyPr>
          <a:lstStyle/>
          <a:p>
            <a:pPr algn="ctr">
              <a:lnSpc>
                <a:spcPct val="115000"/>
              </a:lnSpc>
            </a:pPr>
            <a:r>
              <a:rPr sz="1000" b="1" i="0">
                <a:solidFill>
                  <a:srgbClr val="FFFFFF"/>
                </a:solidFill>
                <a:latin typeface="Helvetica Neue"/>
              </a:rPr>
              <a:t>0</a:t>
            </a:r>
          </a:p>
        </p:txBody>
      </p:sp>
      <p:sp>
        <p:nvSpPr>
          <p:cNvPr id="13" name="Oval 12"/>
          <p:cNvSpPr/>
          <p:nvPr/>
        </p:nvSpPr>
        <p:spPr>
          <a:xfrm>
            <a:off x="10698480" y="3749039"/>
            <a:ext cx="914400" cy="502920"/>
          </a:xfrm>
          <a:prstGeom prst="ellipse">
            <a:avLst/>
          </a:prstGeom>
          <a:solidFill>
            <a:srgbClr val="F1F4F8"/>
          </a:solidFill>
          <a:ln w="6350">
            <a:solidFill>
              <a:srgbClr val="E1E5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698480" y="3749039"/>
            <a:ext cx="914400" cy="502920"/>
          </a:xfrm>
          <a:prstGeom prst="rect">
            <a:avLst/>
          </a:prstGeom>
          <a:noFill/>
        </p:spPr>
        <p:txBody>
          <a:bodyPr wrap="square" lIns="0" rIns="0" tIns="0" bIns="0" anchor="ctr">
            <a:spAutoFit/>
          </a:bodyPr>
          <a:lstStyle/>
          <a:p>
            <a:pPr algn="ctr">
              <a:lnSpc>
                <a:spcPct val="115000"/>
              </a:lnSpc>
            </a:pPr>
            <a:r>
              <a:rPr sz="1000" b="1" i="0">
                <a:solidFill>
                  <a:srgbClr val="4A5C74"/>
                </a:solidFill>
                <a:latin typeface="Helvetica Neue"/>
              </a:rPr>
              <a:t>Human</a:t>
            </a:r>
          </a:p>
        </p:txBody>
      </p:sp>
      <p:sp>
        <p:nvSpPr>
          <p:cNvPr id="15" name="Oval 14"/>
          <p:cNvSpPr/>
          <p:nvPr/>
        </p:nvSpPr>
        <p:spPr>
          <a:xfrm>
            <a:off x="10597896" y="3648455"/>
            <a:ext cx="292608" cy="292608"/>
          </a:xfrm>
          <a:prstGeom prst="ellipse">
            <a:avLst/>
          </a:prstGeom>
          <a:solidFill>
            <a:srgbClr val="9AA5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97896" y="3648455"/>
            <a:ext cx="292608" cy="292608"/>
          </a:xfrm>
          <a:prstGeom prst="rect">
            <a:avLst/>
          </a:prstGeom>
          <a:noFill/>
        </p:spPr>
        <p:txBody>
          <a:bodyPr wrap="square" lIns="0" rIns="0" tIns="0" bIns="0" anchor="ctr">
            <a:spAutoFit/>
          </a:bodyPr>
          <a:lstStyle/>
          <a:p>
            <a:pPr algn="ctr">
              <a:lnSpc>
                <a:spcPct val="115000"/>
              </a:lnSpc>
            </a:pPr>
            <a:r>
              <a:rPr sz="1000" b="1" i="0">
                <a:solidFill>
                  <a:srgbClr val="FFFFFF"/>
                </a:solidFill>
                <a:latin typeface="Helvetica Neue"/>
              </a:rPr>
              <a:t>7</a:t>
            </a:r>
          </a:p>
        </p:txBody>
      </p:sp>
      <p:sp>
        <p:nvSpPr>
          <p:cNvPr id="17" name="Rounded Rectangle 16"/>
          <p:cNvSpPr/>
          <p:nvPr/>
        </p:nvSpPr>
        <p:spPr>
          <a:xfrm>
            <a:off x="1444752" y="5038344"/>
            <a:ext cx="2514600" cy="777240"/>
          </a:xfrm>
          <a:prstGeom prst="roundRect">
            <a:avLst/>
          </a:prstGeom>
          <a:solidFill>
            <a:srgbClr val="D5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417320" y="4983480"/>
            <a:ext cx="2514600" cy="777240"/>
          </a:xfrm>
          <a:prstGeom prst="roundRect">
            <a:avLst/>
          </a:prstGeom>
          <a:solidFill>
            <a:srgbClr val="FFFFFF"/>
          </a:solidFill>
          <a:ln w="17780">
            <a:solidFill>
              <a:srgbClr val="0A2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417320" y="4983480"/>
            <a:ext cx="82296" cy="777240"/>
          </a:xfrm>
          <a:prstGeom prst="round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3291840" y="5376672"/>
            <a:ext cx="502920" cy="274320"/>
          </a:xfrm>
          <a:prstGeom prst="round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91840" y="5376672"/>
            <a:ext cx="502920" cy="274320"/>
          </a:xfrm>
          <a:prstGeom prst="rect">
            <a:avLst/>
          </a:prstGeom>
          <a:noFill/>
        </p:spPr>
        <p:txBody>
          <a:bodyPr wrap="square" lIns="0" rIns="0" tIns="0" bIns="0" anchor="ctr">
            <a:spAutoFit/>
          </a:bodyPr>
          <a:lstStyle/>
          <a:p>
            <a:pPr algn="ctr">
              <a:lnSpc>
                <a:spcPct val="115000"/>
              </a:lnSpc>
            </a:pPr>
            <a:r>
              <a:rPr sz="900" b="1" i="0">
                <a:solidFill>
                  <a:srgbClr val="FFFFFF"/>
                </a:solidFill>
                <a:latin typeface="Helvetica Neue"/>
              </a:rPr>
              <a:t>DFL</a:t>
            </a:r>
          </a:p>
        </p:txBody>
      </p:sp>
      <p:sp>
        <p:nvSpPr>
          <p:cNvPr id="22" name="TextBox 21"/>
          <p:cNvSpPr txBox="1"/>
          <p:nvPr/>
        </p:nvSpPr>
        <p:spPr>
          <a:xfrm>
            <a:off x="1600200" y="5074920"/>
            <a:ext cx="2240280" cy="310896"/>
          </a:xfrm>
          <a:prstGeom prst="rect">
            <a:avLst/>
          </a:prstGeom>
          <a:noFill/>
        </p:spPr>
        <p:txBody>
          <a:bodyPr wrap="square" lIns="0" rIns="0" tIns="0" bIns="0" anchor="t">
            <a:spAutoFit/>
          </a:bodyPr>
          <a:lstStyle/>
          <a:p>
            <a:pPr algn="l">
              <a:lnSpc>
                <a:spcPct val="115000"/>
              </a:lnSpc>
            </a:pPr>
            <a:r>
              <a:rPr sz="1200" b="1" i="0">
                <a:solidFill>
                  <a:srgbClr val="0A1628"/>
                </a:solidFill>
                <a:latin typeface="Helvetica Neue"/>
              </a:rPr>
              <a:t>Data Federation Layer</a:t>
            </a:r>
          </a:p>
        </p:txBody>
      </p:sp>
      <p:sp>
        <p:nvSpPr>
          <p:cNvPr id="23" name="Oval 22"/>
          <p:cNvSpPr/>
          <p:nvPr/>
        </p:nvSpPr>
        <p:spPr>
          <a:xfrm>
            <a:off x="1316736" y="4882896"/>
            <a:ext cx="292608" cy="292608"/>
          </a:xfrm>
          <a:prstGeom prst="ellipse">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316736" y="4882896"/>
            <a:ext cx="292608" cy="292608"/>
          </a:xfrm>
          <a:prstGeom prst="rect">
            <a:avLst/>
          </a:prstGeom>
          <a:noFill/>
        </p:spPr>
        <p:txBody>
          <a:bodyPr wrap="square" lIns="0" rIns="0" tIns="0" bIns="0" anchor="ctr">
            <a:spAutoFit/>
          </a:bodyPr>
          <a:lstStyle/>
          <a:p>
            <a:pPr algn="ctr">
              <a:lnSpc>
                <a:spcPct val="115000"/>
              </a:lnSpc>
            </a:pPr>
            <a:r>
              <a:rPr sz="1000" b="1" i="0">
                <a:solidFill>
                  <a:srgbClr val="FFFFFF"/>
                </a:solidFill>
                <a:latin typeface="Helvetica Neue"/>
              </a:rPr>
              <a:t>1</a:t>
            </a:r>
          </a:p>
        </p:txBody>
      </p:sp>
      <p:sp>
        <p:nvSpPr>
          <p:cNvPr id="25" name="Rounded Rectangle 24"/>
          <p:cNvSpPr/>
          <p:nvPr/>
        </p:nvSpPr>
        <p:spPr>
          <a:xfrm>
            <a:off x="4846320" y="4983480"/>
            <a:ext cx="2697480" cy="777240"/>
          </a:xfrm>
          <a:prstGeom prst="roundRect">
            <a:avLst/>
          </a:prstGeom>
          <a:solidFill>
            <a:srgbClr val="F1F4F8"/>
          </a:solidFill>
          <a:ln w="6350">
            <a:solidFill>
              <a:srgbClr val="E1E5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4846320" y="4983480"/>
            <a:ext cx="82296" cy="777240"/>
          </a:xfrm>
          <a:prstGeom prst="roundRect">
            <a:avLst/>
          </a:prstGeom>
          <a:solidFill>
            <a:srgbClr val="E1E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029200" y="5422392"/>
            <a:ext cx="2423160" cy="274320"/>
          </a:xfrm>
          <a:prstGeom prst="rect">
            <a:avLst/>
          </a:prstGeom>
          <a:noFill/>
        </p:spPr>
        <p:txBody>
          <a:bodyPr wrap="square" lIns="0" rIns="0" tIns="0" bIns="0" anchor="t">
            <a:spAutoFit/>
          </a:bodyPr>
          <a:lstStyle/>
          <a:p>
            <a:pPr algn="l">
              <a:lnSpc>
                <a:spcPct val="115000"/>
              </a:lnSpc>
            </a:pPr>
            <a:r>
              <a:rPr sz="900" b="1" i="0">
                <a:solidFill>
                  <a:srgbClr val="9AA5B4"/>
                </a:solidFill>
                <a:latin typeface="Helvetica Neue"/>
              </a:rPr>
              <a:t>CPL</a:t>
            </a:r>
          </a:p>
        </p:txBody>
      </p:sp>
      <p:sp>
        <p:nvSpPr>
          <p:cNvPr id="28" name="TextBox 27"/>
          <p:cNvSpPr txBox="1"/>
          <p:nvPr/>
        </p:nvSpPr>
        <p:spPr>
          <a:xfrm>
            <a:off x="5029200" y="5074920"/>
            <a:ext cx="2423160" cy="310896"/>
          </a:xfrm>
          <a:prstGeom prst="rect">
            <a:avLst/>
          </a:prstGeom>
          <a:noFill/>
        </p:spPr>
        <p:txBody>
          <a:bodyPr wrap="square" lIns="0" rIns="0" tIns="0" bIns="0" anchor="t">
            <a:spAutoFit/>
          </a:bodyPr>
          <a:lstStyle/>
          <a:p>
            <a:pPr algn="l">
              <a:lnSpc>
                <a:spcPct val="115000"/>
              </a:lnSpc>
            </a:pPr>
            <a:r>
              <a:rPr sz="1200" b="1" i="0">
                <a:solidFill>
                  <a:srgbClr val="9AA5B4"/>
                </a:solidFill>
                <a:latin typeface="Helvetica Neue"/>
              </a:rPr>
              <a:t>Context Processing Layer</a:t>
            </a:r>
          </a:p>
        </p:txBody>
      </p:sp>
      <p:sp>
        <p:nvSpPr>
          <p:cNvPr id="29" name="Oval 28"/>
          <p:cNvSpPr/>
          <p:nvPr/>
        </p:nvSpPr>
        <p:spPr>
          <a:xfrm>
            <a:off x="4745736" y="4882896"/>
            <a:ext cx="292608" cy="292608"/>
          </a:xfrm>
          <a:prstGeom prst="ellipse">
            <a:avLst/>
          </a:prstGeom>
          <a:solidFill>
            <a:srgbClr val="9AA5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45736" y="4882896"/>
            <a:ext cx="292608" cy="292608"/>
          </a:xfrm>
          <a:prstGeom prst="rect">
            <a:avLst/>
          </a:prstGeom>
          <a:noFill/>
        </p:spPr>
        <p:txBody>
          <a:bodyPr wrap="square" lIns="0" rIns="0" tIns="0" bIns="0" anchor="ctr">
            <a:spAutoFit/>
          </a:bodyPr>
          <a:lstStyle/>
          <a:p>
            <a:pPr algn="ctr">
              <a:lnSpc>
                <a:spcPct val="115000"/>
              </a:lnSpc>
            </a:pPr>
            <a:r>
              <a:rPr sz="1000" b="1" i="0">
                <a:solidFill>
                  <a:srgbClr val="FFFFFF"/>
                </a:solidFill>
                <a:latin typeface="Helvetica Neue"/>
              </a:rPr>
              <a:t>3</a:t>
            </a:r>
          </a:p>
        </p:txBody>
      </p:sp>
      <p:sp>
        <p:nvSpPr>
          <p:cNvPr id="31" name="Rounded Rectangle 30"/>
          <p:cNvSpPr/>
          <p:nvPr/>
        </p:nvSpPr>
        <p:spPr>
          <a:xfrm>
            <a:off x="1417320" y="3566160"/>
            <a:ext cx="6172200" cy="822960"/>
          </a:xfrm>
          <a:prstGeom prst="roundRect">
            <a:avLst/>
          </a:prstGeom>
          <a:solidFill>
            <a:srgbClr val="F1F4F8"/>
          </a:solidFill>
          <a:ln w="6350">
            <a:solidFill>
              <a:srgbClr val="E1E5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1417320" y="3566160"/>
            <a:ext cx="82296" cy="822960"/>
          </a:xfrm>
          <a:prstGeom prst="roundRect">
            <a:avLst/>
          </a:prstGeom>
          <a:solidFill>
            <a:srgbClr val="E1E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600200" y="4005072"/>
            <a:ext cx="5897880" cy="274320"/>
          </a:xfrm>
          <a:prstGeom prst="rect">
            <a:avLst/>
          </a:prstGeom>
          <a:noFill/>
        </p:spPr>
        <p:txBody>
          <a:bodyPr wrap="square" lIns="0" rIns="0" tIns="0" bIns="0" anchor="t">
            <a:spAutoFit/>
          </a:bodyPr>
          <a:lstStyle/>
          <a:p>
            <a:pPr algn="l">
              <a:lnSpc>
                <a:spcPct val="115000"/>
              </a:lnSpc>
            </a:pPr>
            <a:r>
              <a:rPr sz="900" b="1" i="0">
                <a:solidFill>
                  <a:srgbClr val="9AA5B4"/>
                </a:solidFill>
                <a:latin typeface="Helvetica Neue"/>
              </a:rPr>
              <a:t>CL</a:t>
            </a:r>
          </a:p>
        </p:txBody>
      </p:sp>
      <p:sp>
        <p:nvSpPr>
          <p:cNvPr id="34" name="TextBox 33"/>
          <p:cNvSpPr txBox="1"/>
          <p:nvPr/>
        </p:nvSpPr>
        <p:spPr>
          <a:xfrm>
            <a:off x="1600200" y="3657600"/>
            <a:ext cx="5897880" cy="310896"/>
          </a:xfrm>
          <a:prstGeom prst="rect">
            <a:avLst/>
          </a:prstGeom>
          <a:noFill/>
        </p:spPr>
        <p:txBody>
          <a:bodyPr wrap="square" lIns="0" rIns="0" tIns="0" bIns="0" anchor="t">
            <a:spAutoFit/>
          </a:bodyPr>
          <a:lstStyle/>
          <a:p>
            <a:pPr algn="l">
              <a:lnSpc>
                <a:spcPct val="115000"/>
              </a:lnSpc>
            </a:pPr>
            <a:r>
              <a:rPr sz="1200" b="1" i="0">
                <a:solidFill>
                  <a:srgbClr val="9AA5B4"/>
                </a:solidFill>
                <a:latin typeface="Helvetica Neue"/>
              </a:rPr>
              <a:t>Context Layer</a:t>
            </a:r>
          </a:p>
        </p:txBody>
      </p:sp>
      <p:sp>
        <p:nvSpPr>
          <p:cNvPr id="35" name="Oval 34"/>
          <p:cNvSpPr/>
          <p:nvPr/>
        </p:nvSpPr>
        <p:spPr>
          <a:xfrm>
            <a:off x="1316736" y="3465576"/>
            <a:ext cx="292608" cy="292608"/>
          </a:xfrm>
          <a:prstGeom prst="ellipse">
            <a:avLst/>
          </a:prstGeom>
          <a:solidFill>
            <a:srgbClr val="9AA5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316736" y="3465576"/>
            <a:ext cx="292608" cy="292608"/>
          </a:xfrm>
          <a:prstGeom prst="rect">
            <a:avLst/>
          </a:prstGeom>
          <a:noFill/>
        </p:spPr>
        <p:txBody>
          <a:bodyPr wrap="square" lIns="0" rIns="0" tIns="0" bIns="0" anchor="ctr">
            <a:spAutoFit/>
          </a:bodyPr>
          <a:lstStyle/>
          <a:p>
            <a:pPr algn="ctr">
              <a:lnSpc>
                <a:spcPct val="115000"/>
              </a:lnSpc>
            </a:pPr>
            <a:r>
              <a:rPr sz="1000" b="1" i="0">
                <a:solidFill>
                  <a:srgbClr val="FFFFFF"/>
                </a:solidFill>
                <a:latin typeface="Helvetica Neue"/>
              </a:rPr>
              <a:t>2</a:t>
            </a:r>
          </a:p>
        </p:txBody>
      </p:sp>
      <p:sp>
        <p:nvSpPr>
          <p:cNvPr id="37" name="Rounded Rectangle 36"/>
          <p:cNvSpPr/>
          <p:nvPr/>
        </p:nvSpPr>
        <p:spPr>
          <a:xfrm>
            <a:off x="1417320" y="2194560"/>
            <a:ext cx="2514600" cy="777240"/>
          </a:xfrm>
          <a:prstGeom prst="roundRect">
            <a:avLst/>
          </a:prstGeom>
          <a:solidFill>
            <a:srgbClr val="F1F4F8"/>
          </a:solidFill>
          <a:ln w="6350">
            <a:solidFill>
              <a:srgbClr val="E1E5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1417320" y="2194560"/>
            <a:ext cx="82296" cy="777240"/>
          </a:xfrm>
          <a:prstGeom prst="roundRect">
            <a:avLst/>
          </a:prstGeom>
          <a:solidFill>
            <a:srgbClr val="E1E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600200" y="2633472"/>
            <a:ext cx="2240280" cy="274320"/>
          </a:xfrm>
          <a:prstGeom prst="rect">
            <a:avLst/>
          </a:prstGeom>
          <a:noFill/>
        </p:spPr>
        <p:txBody>
          <a:bodyPr wrap="square" lIns="0" rIns="0" tIns="0" bIns="0" anchor="t">
            <a:spAutoFit/>
          </a:bodyPr>
          <a:lstStyle/>
          <a:p>
            <a:pPr algn="l">
              <a:lnSpc>
                <a:spcPct val="115000"/>
              </a:lnSpc>
            </a:pPr>
            <a:r>
              <a:rPr sz="900" b="1" i="0">
                <a:solidFill>
                  <a:srgbClr val="9AA5B4"/>
                </a:solidFill>
                <a:latin typeface="Helvetica Neue"/>
              </a:rPr>
              <a:t>RIL</a:t>
            </a:r>
          </a:p>
        </p:txBody>
      </p:sp>
      <p:sp>
        <p:nvSpPr>
          <p:cNvPr id="40" name="TextBox 39"/>
          <p:cNvSpPr txBox="1"/>
          <p:nvPr/>
        </p:nvSpPr>
        <p:spPr>
          <a:xfrm>
            <a:off x="1600200" y="2286000"/>
            <a:ext cx="2240280" cy="310896"/>
          </a:xfrm>
          <a:prstGeom prst="rect">
            <a:avLst/>
          </a:prstGeom>
          <a:noFill/>
        </p:spPr>
        <p:txBody>
          <a:bodyPr wrap="square" lIns="0" rIns="0" tIns="0" bIns="0" anchor="t">
            <a:spAutoFit/>
          </a:bodyPr>
          <a:lstStyle/>
          <a:p>
            <a:pPr algn="l">
              <a:lnSpc>
                <a:spcPct val="115000"/>
              </a:lnSpc>
            </a:pPr>
            <a:r>
              <a:rPr sz="1200" b="1" i="0">
                <a:solidFill>
                  <a:srgbClr val="9AA5B4"/>
                </a:solidFill>
                <a:latin typeface="Helvetica Neue"/>
              </a:rPr>
              <a:t>Risk Intelligence Layer</a:t>
            </a:r>
          </a:p>
        </p:txBody>
      </p:sp>
      <p:sp>
        <p:nvSpPr>
          <p:cNvPr id="41" name="Oval 40"/>
          <p:cNvSpPr/>
          <p:nvPr/>
        </p:nvSpPr>
        <p:spPr>
          <a:xfrm>
            <a:off x="1316736" y="2093976"/>
            <a:ext cx="292608" cy="292608"/>
          </a:xfrm>
          <a:prstGeom prst="ellipse">
            <a:avLst/>
          </a:prstGeom>
          <a:solidFill>
            <a:srgbClr val="9AA5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316736" y="2093976"/>
            <a:ext cx="292608" cy="292608"/>
          </a:xfrm>
          <a:prstGeom prst="rect">
            <a:avLst/>
          </a:prstGeom>
          <a:noFill/>
        </p:spPr>
        <p:txBody>
          <a:bodyPr wrap="square" lIns="0" rIns="0" tIns="0" bIns="0" anchor="ctr">
            <a:spAutoFit/>
          </a:bodyPr>
          <a:lstStyle/>
          <a:p>
            <a:pPr algn="ctr">
              <a:lnSpc>
                <a:spcPct val="115000"/>
              </a:lnSpc>
            </a:pPr>
            <a:r>
              <a:rPr sz="1000" b="1" i="0">
                <a:solidFill>
                  <a:srgbClr val="FFFFFF"/>
                </a:solidFill>
                <a:latin typeface="Helvetica Neue"/>
              </a:rPr>
              <a:t>4</a:t>
            </a:r>
          </a:p>
        </p:txBody>
      </p:sp>
      <p:sp>
        <p:nvSpPr>
          <p:cNvPr id="43" name="Rounded Rectangle 42"/>
          <p:cNvSpPr/>
          <p:nvPr/>
        </p:nvSpPr>
        <p:spPr>
          <a:xfrm>
            <a:off x="4846320" y="2194560"/>
            <a:ext cx="2697480" cy="777240"/>
          </a:xfrm>
          <a:prstGeom prst="roundRect">
            <a:avLst/>
          </a:prstGeom>
          <a:solidFill>
            <a:srgbClr val="F1F4F8"/>
          </a:solidFill>
          <a:ln w="6350">
            <a:solidFill>
              <a:srgbClr val="E1E5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4846320" y="2194560"/>
            <a:ext cx="82296" cy="777240"/>
          </a:xfrm>
          <a:prstGeom prst="roundRect">
            <a:avLst/>
          </a:prstGeom>
          <a:solidFill>
            <a:srgbClr val="E1E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029200" y="2633472"/>
            <a:ext cx="2423160" cy="274320"/>
          </a:xfrm>
          <a:prstGeom prst="rect">
            <a:avLst/>
          </a:prstGeom>
          <a:noFill/>
        </p:spPr>
        <p:txBody>
          <a:bodyPr wrap="square" lIns="0" rIns="0" tIns="0" bIns="0" anchor="t">
            <a:spAutoFit/>
          </a:bodyPr>
          <a:lstStyle/>
          <a:p>
            <a:pPr algn="l">
              <a:lnSpc>
                <a:spcPct val="115000"/>
              </a:lnSpc>
            </a:pPr>
            <a:r>
              <a:rPr sz="900" b="1" i="0">
                <a:solidFill>
                  <a:srgbClr val="9AA5B4"/>
                </a:solidFill>
                <a:latin typeface="Helvetica Neue"/>
              </a:rPr>
              <a:t>FRL</a:t>
            </a:r>
          </a:p>
        </p:txBody>
      </p:sp>
      <p:sp>
        <p:nvSpPr>
          <p:cNvPr id="46" name="TextBox 45"/>
          <p:cNvSpPr txBox="1"/>
          <p:nvPr/>
        </p:nvSpPr>
        <p:spPr>
          <a:xfrm>
            <a:off x="5029200" y="2286000"/>
            <a:ext cx="2423160" cy="310896"/>
          </a:xfrm>
          <a:prstGeom prst="rect">
            <a:avLst/>
          </a:prstGeom>
          <a:noFill/>
        </p:spPr>
        <p:txBody>
          <a:bodyPr wrap="square" lIns="0" rIns="0" tIns="0" bIns="0" anchor="t">
            <a:spAutoFit/>
          </a:bodyPr>
          <a:lstStyle/>
          <a:p>
            <a:pPr algn="l">
              <a:lnSpc>
                <a:spcPct val="115000"/>
              </a:lnSpc>
            </a:pPr>
            <a:r>
              <a:rPr sz="1200" b="1" i="0">
                <a:solidFill>
                  <a:srgbClr val="9AA5B4"/>
                </a:solidFill>
                <a:latin typeface="Helvetica Neue"/>
              </a:rPr>
              <a:t>Feedback &amp; Refinement Layer</a:t>
            </a:r>
          </a:p>
        </p:txBody>
      </p:sp>
      <p:sp>
        <p:nvSpPr>
          <p:cNvPr id="47" name="Oval 46"/>
          <p:cNvSpPr/>
          <p:nvPr/>
        </p:nvSpPr>
        <p:spPr>
          <a:xfrm>
            <a:off x="4745736" y="2093976"/>
            <a:ext cx="292608" cy="292608"/>
          </a:xfrm>
          <a:prstGeom prst="ellipse">
            <a:avLst/>
          </a:prstGeom>
          <a:solidFill>
            <a:srgbClr val="9AA5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745736" y="2093976"/>
            <a:ext cx="292608" cy="292608"/>
          </a:xfrm>
          <a:prstGeom prst="rect">
            <a:avLst/>
          </a:prstGeom>
          <a:noFill/>
        </p:spPr>
        <p:txBody>
          <a:bodyPr wrap="square" lIns="0" rIns="0" tIns="0" bIns="0" anchor="ctr">
            <a:spAutoFit/>
          </a:bodyPr>
          <a:lstStyle/>
          <a:p>
            <a:pPr algn="ctr">
              <a:lnSpc>
                <a:spcPct val="115000"/>
              </a:lnSpc>
            </a:pPr>
            <a:r>
              <a:rPr sz="1000" b="1" i="0">
                <a:solidFill>
                  <a:srgbClr val="FFFFFF"/>
                </a:solidFill>
                <a:latin typeface="Helvetica Neue"/>
              </a:rPr>
              <a:t>5</a:t>
            </a:r>
          </a:p>
        </p:txBody>
      </p:sp>
      <p:sp>
        <p:nvSpPr>
          <p:cNvPr id="49" name="Rounded Rectangle 48"/>
          <p:cNvSpPr/>
          <p:nvPr/>
        </p:nvSpPr>
        <p:spPr>
          <a:xfrm>
            <a:off x="8321040" y="3566160"/>
            <a:ext cx="2194560" cy="822960"/>
          </a:xfrm>
          <a:prstGeom prst="roundRect">
            <a:avLst/>
          </a:prstGeom>
          <a:solidFill>
            <a:srgbClr val="F1F4F8"/>
          </a:solidFill>
          <a:ln w="6350">
            <a:solidFill>
              <a:srgbClr val="E1E5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8321040" y="3566160"/>
            <a:ext cx="82296" cy="822960"/>
          </a:xfrm>
          <a:prstGeom prst="roundRect">
            <a:avLst/>
          </a:prstGeom>
          <a:solidFill>
            <a:srgbClr val="E1E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503920" y="4005072"/>
            <a:ext cx="1920240" cy="274320"/>
          </a:xfrm>
          <a:prstGeom prst="rect">
            <a:avLst/>
          </a:prstGeom>
          <a:noFill/>
        </p:spPr>
        <p:txBody>
          <a:bodyPr wrap="square" lIns="0" rIns="0" tIns="0" bIns="0" anchor="t">
            <a:spAutoFit/>
          </a:bodyPr>
          <a:lstStyle/>
          <a:p>
            <a:pPr algn="l">
              <a:lnSpc>
                <a:spcPct val="115000"/>
              </a:lnSpc>
            </a:pPr>
            <a:r>
              <a:rPr sz="900" b="1" i="0">
                <a:solidFill>
                  <a:srgbClr val="9AA5B4"/>
                </a:solidFill>
                <a:latin typeface="Helvetica Neue"/>
              </a:rPr>
              <a:t>HIL</a:t>
            </a:r>
          </a:p>
        </p:txBody>
      </p:sp>
      <p:sp>
        <p:nvSpPr>
          <p:cNvPr id="52" name="TextBox 51"/>
          <p:cNvSpPr txBox="1"/>
          <p:nvPr/>
        </p:nvSpPr>
        <p:spPr>
          <a:xfrm>
            <a:off x="8503920" y="3657600"/>
            <a:ext cx="1920240" cy="310896"/>
          </a:xfrm>
          <a:prstGeom prst="rect">
            <a:avLst/>
          </a:prstGeom>
          <a:noFill/>
        </p:spPr>
        <p:txBody>
          <a:bodyPr wrap="square" lIns="0" rIns="0" tIns="0" bIns="0" anchor="t">
            <a:spAutoFit/>
          </a:bodyPr>
          <a:lstStyle/>
          <a:p>
            <a:pPr algn="l">
              <a:lnSpc>
                <a:spcPct val="115000"/>
              </a:lnSpc>
            </a:pPr>
            <a:r>
              <a:rPr sz="1200" b="1" i="0">
                <a:solidFill>
                  <a:srgbClr val="9AA5B4"/>
                </a:solidFill>
                <a:latin typeface="Helvetica Neue"/>
              </a:rPr>
              <a:t>Human Interaction Layer</a:t>
            </a:r>
          </a:p>
        </p:txBody>
      </p:sp>
      <p:sp>
        <p:nvSpPr>
          <p:cNvPr id="53" name="Oval 52"/>
          <p:cNvSpPr/>
          <p:nvPr/>
        </p:nvSpPr>
        <p:spPr>
          <a:xfrm>
            <a:off x="8220456" y="3465576"/>
            <a:ext cx="292608" cy="292608"/>
          </a:xfrm>
          <a:prstGeom prst="ellipse">
            <a:avLst/>
          </a:prstGeom>
          <a:solidFill>
            <a:srgbClr val="9AA5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220456" y="3465576"/>
            <a:ext cx="292608" cy="292608"/>
          </a:xfrm>
          <a:prstGeom prst="rect">
            <a:avLst/>
          </a:prstGeom>
          <a:noFill/>
        </p:spPr>
        <p:txBody>
          <a:bodyPr wrap="square" lIns="0" rIns="0" tIns="0" bIns="0" anchor="ctr">
            <a:spAutoFit/>
          </a:bodyPr>
          <a:lstStyle/>
          <a:p>
            <a:pPr algn="ctr">
              <a:lnSpc>
                <a:spcPct val="115000"/>
              </a:lnSpc>
            </a:pPr>
            <a:r>
              <a:rPr sz="1000" b="1" i="0">
                <a:solidFill>
                  <a:srgbClr val="FFFFFF"/>
                </a:solidFill>
                <a:latin typeface="Helvetica Neue"/>
              </a:rPr>
              <a:t>6</a:t>
            </a:r>
          </a:p>
        </p:txBody>
      </p:sp>
      <p:cxnSp>
        <p:nvCxnSpPr>
          <p:cNvPr id="55" name="Connector 54"/>
          <p:cNvCxnSpPr/>
          <p:nvPr/>
        </p:nvCxnSpPr>
        <p:spPr>
          <a:xfrm flipV="1">
            <a:off x="2674620" y="5760720"/>
            <a:ext cx="0" cy="365760"/>
          </a:xfrm>
          <a:prstGeom prst="line">
            <a:avLst/>
          </a:prstGeom>
          <a:ln w="24130">
            <a:solidFill>
              <a:srgbClr val="0A2540"/>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V="1">
            <a:off x="2674620" y="4389120"/>
            <a:ext cx="1828800" cy="594360"/>
          </a:xfrm>
          <a:prstGeom prst="line">
            <a:avLst/>
          </a:prstGeom>
          <a:ln w="24130">
            <a:solidFill>
              <a:srgbClr val="0A2540"/>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4503420" y="4389120"/>
            <a:ext cx="1691640" cy="594360"/>
          </a:xfrm>
          <a:prstGeom prst="line">
            <a:avLst/>
          </a:prstGeom>
          <a:ln w="11430">
            <a:solidFill>
              <a:srgbClr val="9AA5B4"/>
            </a:solidFill>
            <a:tailEnd type="triangle" w="med" h="med"/>
            <a:headEnd type="triangle" w="med" h="med"/>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flipV="1">
            <a:off x="2674620" y="2971800"/>
            <a:ext cx="1828800" cy="594360"/>
          </a:xfrm>
          <a:prstGeom prst="line">
            <a:avLst/>
          </a:prstGeom>
          <a:ln w="11430">
            <a:solidFill>
              <a:srgbClr val="9AA5B4"/>
            </a:solidFill>
            <a:tailEnd type="triangle" w="med" h="med"/>
            <a:headEnd type="triangle" w="med" h="med"/>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7589520" y="3977640"/>
            <a:ext cx="731520" cy="0"/>
          </a:xfrm>
          <a:prstGeom prst="line">
            <a:avLst/>
          </a:prstGeom>
          <a:ln w="11430">
            <a:solidFill>
              <a:srgbClr val="9AA5B4"/>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10515600" y="3977640"/>
            <a:ext cx="182880" cy="22859"/>
          </a:xfrm>
          <a:prstGeom prst="line">
            <a:avLst/>
          </a:prstGeom>
          <a:ln w="11430">
            <a:solidFill>
              <a:srgbClr val="9AA5B4"/>
            </a:solidFill>
            <a:tailEnd type="triangle" w="med" h="med"/>
            <a:headEnd type="triangle" w="med" h="med"/>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3931920" y="2583180"/>
            <a:ext cx="914400" cy="0"/>
          </a:xfrm>
          <a:prstGeom prst="line">
            <a:avLst/>
          </a:prstGeom>
          <a:ln w="11430">
            <a:solidFill>
              <a:srgbClr val="9AA5B4"/>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a:off x="4503420" y="2971800"/>
            <a:ext cx="1691640" cy="594360"/>
          </a:xfrm>
          <a:prstGeom prst="line">
            <a:avLst/>
          </a:prstGeom>
          <a:ln w="11430">
            <a:solidFill>
              <a:srgbClr val="9AA5B4"/>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flipV="1">
            <a:off x="7543800" y="2583180"/>
            <a:ext cx="1874520" cy="982980"/>
          </a:xfrm>
          <a:prstGeom prst="line">
            <a:avLst/>
          </a:prstGeom>
          <a:ln w="11430">
            <a:solidFill>
              <a:srgbClr val="9AA5B4"/>
            </a:solidFill>
            <a:tailEnd type="triangle" w="med" h="med"/>
          </a:ln>
        </p:spPr>
        <p:style>
          <a:lnRef idx="2">
            <a:schemeClr val="accent1"/>
          </a:lnRef>
          <a:fillRef idx="0">
            <a:schemeClr val="accent1"/>
          </a:fillRef>
          <a:effectRef idx="1">
            <a:schemeClr val="accent1"/>
          </a:effectRef>
          <a:fontRef idx="minor">
            <a:schemeClr val="tx1"/>
          </a:fontRef>
        </p:style>
      </p:cxnSp>
      <p:sp>
        <p:nvSpPr>
          <p:cNvPr id="64" name="Rounded Rectangle 63"/>
          <p:cNvSpPr/>
          <p:nvPr/>
        </p:nvSpPr>
        <p:spPr>
          <a:xfrm>
            <a:off x="1965960" y="5806440"/>
            <a:ext cx="1463040" cy="2743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1965960" y="5806440"/>
            <a:ext cx="1463040" cy="274320"/>
          </a:xfrm>
          <a:prstGeom prst="rect">
            <a:avLst/>
          </a:prstGeom>
          <a:noFill/>
        </p:spPr>
        <p:txBody>
          <a:bodyPr wrap="square" lIns="0" rIns="0" tIns="0" bIns="0" anchor="ctr">
            <a:spAutoFit/>
          </a:bodyPr>
          <a:lstStyle/>
          <a:p>
            <a:pPr algn="ctr">
              <a:lnSpc>
                <a:spcPct val="115000"/>
              </a:lnSpc>
            </a:pPr>
            <a:r>
              <a:rPr sz="800" b="0" i="0">
                <a:solidFill>
                  <a:srgbClr val="0A2540"/>
                </a:solidFill>
                <a:latin typeface="Helvetica Neue"/>
              </a:rPr>
              <a:t>raw telemetry</a:t>
            </a:r>
          </a:p>
        </p:txBody>
      </p:sp>
      <p:sp>
        <p:nvSpPr>
          <p:cNvPr id="66" name="Rounded Rectangle 65"/>
          <p:cNvSpPr/>
          <p:nvPr/>
        </p:nvSpPr>
        <p:spPr>
          <a:xfrm>
            <a:off x="2125980" y="4544568"/>
            <a:ext cx="1600200" cy="2743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2125980" y="4544568"/>
            <a:ext cx="1600200" cy="274320"/>
          </a:xfrm>
          <a:prstGeom prst="rect">
            <a:avLst/>
          </a:prstGeom>
          <a:noFill/>
        </p:spPr>
        <p:txBody>
          <a:bodyPr wrap="square" lIns="0" rIns="0" tIns="0" bIns="0" anchor="ctr">
            <a:spAutoFit/>
          </a:bodyPr>
          <a:lstStyle/>
          <a:p>
            <a:pPr algn="ctr">
              <a:lnSpc>
                <a:spcPct val="115000"/>
              </a:lnSpc>
            </a:pPr>
            <a:r>
              <a:rPr sz="800" b="0" i="0">
                <a:solidFill>
                  <a:srgbClr val="0A2540"/>
                </a:solidFill>
                <a:latin typeface="Helvetica Neue"/>
              </a:rPr>
              <a:t>normalised telemetry</a:t>
            </a:r>
          </a:p>
        </p:txBody>
      </p:sp>
      <p:sp>
        <p:nvSpPr>
          <p:cNvPr id="68" name="Rectangle 67"/>
          <p:cNvSpPr/>
          <p:nvPr/>
        </p:nvSpPr>
        <p:spPr>
          <a:xfrm>
            <a:off x="7772400" y="6409944"/>
            <a:ext cx="256032" cy="4572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8138160" y="6309360"/>
            <a:ext cx="1463040" cy="256032"/>
          </a:xfrm>
          <a:prstGeom prst="rect">
            <a:avLst/>
          </a:prstGeom>
          <a:noFill/>
        </p:spPr>
        <p:txBody>
          <a:bodyPr wrap="square" lIns="0" rIns="0" tIns="0" bIns="0" anchor="ctr">
            <a:spAutoFit/>
          </a:bodyPr>
          <a:lstStyle/>
          <a:p>
            <a:pPr algn="l">
              <a:lnSpc>
                <a:spcPct val="115000"/>
              </a:lnSpc>
            </a:pPr>
            <a:r>
              <a:rPr sz="900" b="0" i="0">
                <a:solidFill>
                  <a:srgbClr val="4A5C74"/>
                </a:solidFill>
                <a:latin typeface="Helvetica Neue"/>
              </a:rPr>
              <a:t>Data path (up)</a:t>
            </a:r>
          </a:p>
        </p:txBody>
      </p:sp>
      <p:sp>
        <p:nvSpPr>
          <p:cNvPr id="70" name="Rectangle 69"/>
          <p:cNvSpPr/>
          <p:nvPr/>
        </p:nvSpPr>
        <p:spPr>
          <a:xfrm>
            <a:off x="9692640" y="6409944"/>
            <a:ext cx="256032" cy="45720"/>
          </a:xfrm>
          <a:prstGeom prst="rect">
            <a:avLst/>
          </a:prstGeom>
          <a:solidFill>
            <a:srgbClr val="3B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10058400" y="6309360"/>
            <a:ext cx="2011680" cy="256032"/>
          </a:xfrm>
          <a:prstGeom prst="rect">
            <a:avLst/>
          </a:prstGeom>
          <a:noFill/>
        </p:spPr>
        <p:txBody>
          <a:bodyPr wrap="square" lIns="0" rIns="0" tIns="0" bIns="0" anchor="ctr">
            <a:spAutoFit/>
          </a:bodyPr>
          <a:lstStyle/>
          <a:p>
            <a:pPr algn="l">
              <a:lnSpc>
                <a:spcPct val="115000"/>
              </a:lnSpc>
            </a:pPr>
            <a:r>
              <a:rPr sz="900" b="0" i="0">
                <a:solidFill>
                  <a:srgbClr val="4A5C74"/>
                </a:solidFill>
                <a:latin typeface="Helvetica Neue"/>
              </a:rPr>
              <a:t>Feedback path (down)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972800" cy="256032"/>
          </a:xfrm>
          <a:prstGeom prst="rect">
            <a:avLst/>
          </a:prstGeom>
          <a:noFill/>
        </p:spPr>
        <p:txBody>
          <a:bodyPr wrap="square" lIns="0" rIns="0" tIns="0" bIns="0" anchor="t">
            <a:spAutoFit/>
          </a:bodyPr>
          <a:lstStyle/>
          <a:p>
            <a:pPr algn="l">
              <a:lnSpc>
                <a:spcPct val="115000"/>
              </a:lnSpc>
            </a:pPr>
            <a:r>
              <a:rPr sz="900" b="1" i="0" spc="250">
                <a:solidFill>
                  <a:srgbClr val="0A2540"/>
                </a:solidFill>
                <a:latin typeface="Helvetica Neue"/>
              </a:rPr>
              <a:t>LAYER 2 OF 6 · CPL</a:t>
            </a:r>
          </a:p>
        </p:txBody>
      </p:sp>
      <p:sp>
        <p:nvSpPr>
          <p:cNvPr id="4" name="TextBox 3"/>
          <p:cNvSpPr txBox="1"/>
          <p:nvPr/>
        </p:nvSpPr>
        <p:spPr>
          <a:xfrm>
            <a:off x="731520" y="713232"/>
            <a:ext cx="10972800" cy="502920"/>
          </a:xfrm>
          <a:prstGeom prst="rect">
            <a:avLst/>
          </a:prstGeom>
          <a:noFill/>
        </p:spPr>
        <p:txBody>
          <a:bodyPr wrap="square" lIns="0" rIns="0" tIns="0" bIns="0" anchor="t">
            <a:spAutoFit/>
          </a:bodyPr>
          <a:lstStyle/>
          <a:p>
            <a:pPr algn="l">
              <a:lnSpc>
                <a:spcPct val="115000"/>
              </a:lnSpc>
            </a:pPr>
            <a:r>
              <a:rPr sz="2400" b="1" i="0">
                <a:solidFill>
                  <a:srgbClr val="0A1628"/>
                </a:solidFill>
                <a:latin typeface="Helvetica Neue"/>
              </a:rPr>
              <a:t>Context Processing Layer</a:t>
            </a:r>
          </a:p>
        </p:txBody>
      </p:sp>
      <p:sp>
        <p:nvSpPr>
          <p:cNvPr id="5" name="TextBox 4"/>
          <p:cNvSpPr txBox="1"/>
          <p:nvPr/>
        </p:nvSpPr>
        <p:spPr>
          <a:xfrm>
            <a:off x="731520" y="1234440"/>
            <a:ext cx="10972800" cy="292608"/>
          </a:xfrm>
          <a:prstGeom prst="rect">
            <a:avLst/>
          </a:prstGeom>
          <a:noFill/>
        </p:spPr>
        <p:txBody>
          <a:bodyPr wrap="square" lIns="0" rIns="0" tIns="0" bIns="0" anchor="t">
            <a:spAutoFit/>
          </a:bodyPr>
          <a:lstStyle/>
          <a:p>
            <a:pPr algn="l">
              <a:lnSpc>
                <a:spcPct val="115000"/>
              </a:lnSpc>
            </a:pPr>
            <a:r>
              <a:rPr sz="1200" b="0" i="1">
                <a:solidFill>
                  <a:srgbClr val="4A5C74"/>
                </a:solidFill>
                <a:latin typeface="Helvetica Neue"/>
              </a:rPr>
              <a:t>Enriches events with contextual metadata from the domain model.</a:t>
            </a:r>
          </a:p>
        </p:txBody>
      </p:sp>
      <p:sp>
        <p:nvSpPr>
          <p:cNvPr id="6" name="Rectangle 5"/>
          <p:cNvSpPr/>
          <p:nvPr/>
        </p:nvSpPr>
        <p:spPr>
          <a:xfrm>
            <a:off x="731520" y="1572768"/>
            <a:ext cx="457200" cy="32004"/>
          </a:xfrm>
          <a:prstGeom prst="rect">
            <a:avLst/>
          </a:prstGeom>
          <a:solidFill>
            <a:srgbClr val="1B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68680" y="2011680"/>
            <a:ext cx="10515600" cy="3840480"/>
          </a:xfrm>
          <a:prstGeom prst="roundRect">
            <a:avLst/>
          </a:prstGeom>
          <a:noFill/>
          <a:ln w="12700">
            <a:solidFill>
              <a:srgbClr val="9AA5B4"/>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6172200"/>
            <a:ext cx="548640" cy="411480"/>
          </a:xfrm>
          <a:prstGeom prst="rect">
            <a:avLst/>
          </a:prstGeom>
          <a:noFill/>
        </p:spPr>
        <p:txBody>
          <a:bodyPr wrap="square" lIns="0" rIns="0" tIns="0" bIns="0" anchor="t">
            <a:spAutoFit/>
          </a:bodyPr>
          <a:lstStyle/>
          <a:p>
            <a:pPr algn="l">
              <a:lnSpc>
                <a:spcPct val="115000"/>
              </a:lnSpc>
            </a:pPr>
            <a:r>
              <a:rPr sz="700" b="0" i="0">
                <a:solidFill>
                  <a:srgbClr val="9AA5B4"/>
                </a:solidFill>
                <a:latin typeface="Helvetica Neue"/>
              </a:rPr>
              <a:t>CAPRA</a:t>
            </a:r>
          </a:p>
          <a:p>
            <a:pPr algn="l">
              <a:lnSpc>
                <a:spcPct val="115000"/>
              </a:lnSpc>
            </a:pPr>
            <a:r>
              <a:rPr sz="700" b="0" i="0">
                <a:solidFill>
                  <a:srgbClr val="9AA5B4"/>
                </a:solidFill>
                <a:latin typeface="Helvetica Neue"/>
              </a:rPr>
              <a:t>System</a:t>
            </a:r>
          </a:p>
          <a:p>
            <a:pPr algn="l">
              <a:lnSpc>
                <a:spcPct val="115000"/>
              </a:lnSpc>
            </a:pPr>
            <a:r>
              <a:rPr sz="700" b="0" i="0">
                <a:solidFill>
                  <a:srgbClr val="9AA5B4"/>
                </a:solidFill>
                <a:latin typeface="Helvetica Neue"/>
              </a:rPr>
              <a:t>Boundary</a:t>
            </a:r>
          </a:p>
        </p:txBody>
      </p:sp>
      <p:sp>
        <p:nvSpPr>
          <p:cNvPr id="9" name="Rounded Rectangle 8"/>
          <p:cNvSpPr/>
          <p:nvPr/>
        </p:nvSpPr>
        <p:spPr>
          <a:xfrm>
            <a:off x="1417320" y="6126480"/>
            <a:ext cx="2514600" cy="457200"/>
          </a:xfrm>
          <a:prstGeom prst="roundRect">
            <a:avLst/>
          </a:prstGeom>
          <a:solidFill>
            <a:srgbClr val="F1F4F8"/>
          </a:solidFill>
          <a:ln w="6350">
            <a:solidFill>
              <a:srgbClr val="E1E5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17320" y="6126480"/>
            <a:ext cx="2514600" cy="457200"/>
          </a:xfrm>
          <a:prstGeom prst="rect">
            <a:avLst/>
          </a:prstGeom>
          <a:noFill/>
        </p:spPr>
        <p:txBody>
          <a:bodyPr wrap="square" lIns="0" rIns="0" tIns="0" bIns="0" anchor="ctr">
            <a:spAutoFit/>
          </a:bodyPr>
          <a:lstStyle/>
          <a:p>
            <a:pPr algn="ctr">
              <a:lnSpc>
                <a:spcPct val="115000"/>
              </a:lnSpc>
            </a:pPr>
            <a:r>
              <a:rPr sz="1000" b="1" i="0">
                <a:solidFill>
                  <a:srgbClr val="4A5C74"/>
                </a:solidFill>
                <a:latin typeface="Helvetica Neue"/>
              </a:rPr>
              <a:t>External Systems</a:t>
            </a:r>
          </a:p>
        </p:txBody>
      </p:sp>
      <p:sp>
        <p:nvSpPr>
          <p:cNvPr id="11" name="Oval 10"/>
          <p:cNvSpPr/>
          <p:nvPr/>
        </p:nvSpPr>
        <p:spPr>
          <a:xfrm>
            <a:off x="1316736" y="6025896"/>
            <a:ext cx="292608" cy="292608"/>
          </a:xfrm>
          <a:prstGeom prst="ellipse">
            <a:avLst/>
          </a:prstGeom>
          <a:solidFill>
            <a:srgbClr val="9AA5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316736" y="6025896"/>
            <a:ext cx="292608" cy="292608"/>
          </a:xfrm>
          <a:prstGeom prst="rect">
            <a:avLst/>
          </a:prstGeom>
          <a:noFill/>
        </p:spPr>
        <p:txBody>
          <a:bodyPr wrap="square" lIns="0" rIns="0" tIns="0" bIns="0" anchor="ctr">
            <a:spAutoFit/>
          </a:bodyPr>
          <a:lstStyle/>
          <a:p>
            <a:pPr algn="ctr">
              <a:lnSpc>
                <a:spcPct val="115000"/>
              </a:lnSpc>
            </a:pPr>
            <a:r>
              <a:rPr sz="1000" b="1" i="0">
                <a:solidFill>
                  <a:srgbClr val="FFFFFF"/>
                </a:solidFill>
                <a:latin typeface="Helvetica Neue"/>
              </a:rPr>
              <a:t>0</a:t>
            </a:r>
          </a:p>
        </p:txBody>
      </p:sp>
      <p:sp>
        <p:nvSpPr>
          <p:cNvPr id="13" name="Oval 12"/>
          <p:cNvSpPr/>
          <p:nvPr/>
        </p:nvSpPr>
        <p:spPr>
          <a:xfrm>
            <a:off x="10698480" y="3749039"/>
            <a:ext cx="914400" cy="502920"/>
          </a:xfrm>
          <a:prstGeom prst="ellipse">
            <a:avLst/>
          </a:prstGeom>
          <a:solidFill>
            <a:srgbClr val="F1F4F8"/>
          </a:solidFill>
          <a:ln w="6350">
            <a:solidFill>
              <a:srgbClr val="E1E5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698480" y="3749039"/>
            <a:ext cx="914400" cy="502920"/>
          </a:xfrm>
          <a:prstGeom prst="rect">
            <a:avLst/>
          </a:prstGeom>
          <a:noFill/>
        </p:spPr>
        <p:txBody>
          <a:bodyPr wrap="square" lIns="0" rIns="0" tIns="0" bIns="0" anchor="ctr">
            <a:spAutoFit/>
          </a:bodyPr>
          <a:lstStyle/>
          <a:p>
            <a:pPr algn="ctr">
              <a:lnSpc>
                <a:spcPct val="115000"/>
              </a:lnSpc>
            </a:pPr>
            <a:r>
              <a:rPr sz="1000" b="1" i="0">
                <a:solidFill>
                  <a:srgbClr val="4A5C74"/>
                </a:solidFill>
                <a:latin typeface="Helvetica Neue"/>
              </a:rPr>
              <a:t>Human</a:t>
            </a:r>
          </a:p>
        </p:txBody>
      </p:sp>
      <p:sp>
        <p:nvSpPr>
          <p:cNvPr id="15" name="Oval 14"/>
          <p:cNvSpPr/>
          <p:nvPr/>
        </p:nvSpPr>
        <p:spPr>
          <a:xfrm>
            <a:off x="10597896" y="3648455"/>
            <a:ext cx="292608" cy="292608"/>
          </a:xfrm>
          <a:prstGeom prst="ellipse">
            <a:avLst/>
          </a:prstGeom>
          <a:solidFill>
            <a:srgbClr val="9AA5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97896" y="3648455"/>
            <a:ext cx="292608" cy="292608"/>
          </a:xfrm>
          <a:prstGeom prst="rect">
            <a:avLst/>
          </a:prstGeom>
          <a:noFill/>
        </p:spPr>
        <p:txBody>
          <a:bodyPr wrap="square" lIns="0" rIns="0" tIns="0" bIns="0" anchor="ctr">
            <a:spAutoFit/>
          </a:bodyPr>
          <a:lstStyle/>
          <a:p>
            <a:pPr algn="ctr">
              <a:lnSpc>
                <a:spcPct val="115000"/>
              </a:lnSpc>
            </a:pPr>
            <a:r>
              <a:rPr sz="1000" b="1" i="0">
                <a:solidFill>
                  <a:srgbClr val="FFFFFF"/>
                </a:solidFill>
                <a:latin typeface="Helvetica Neue"/>
              </a:rPr>
              <a:t>7</a:t>
            </a:r>
          </a:p>
        </p:txBody>
      </p:sp>
      <p:sp>
        <p:nvSpPr>
          <p:cNvPr id="17" name="Rounded Rectangle 16"/>
          <p:cNvSpPr/>
          <p:nvPr/>
        </p:nvSpPr>
        <p:spPr>
          <a:xfrm>
            <a:off x="1417320" y="4983480"/>
            <a:ext cx="2514600" cy="777240"/>
          </a:xfrm>
          <a:prstGeom prst="roundRect">
            <a:avLst/>
          </a:prstGeom>
          <a:solidFill>
            <a:srgbClr val="F1F4F8"/>
          </a:solidFill>
          <a:ln w="6350">
            <a:solidFill>
              <a:srgbClr val="E1E5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417320" y="4983480"/>
            <a:ext cx="82296" cy="777240"/>
          </a:xfrm>
          <a:prstGeom prst="roundRect">
            <a:avLst/>
          </a:prstGeom>
          <a:solidFill>
            <a:srgbClr val="E1E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600200" y="5422392"/>
            <a:ext cx="2240280" cy="274320"/>
          </a:xfrm>
          <a:prstGeom prst="rect">
            <a:avLst/>
          </a:prstGeom>
          <a:noFill/>
        </p:spPr>
        <p:txBody>
          <a:bodyPr wrap="square" lIns="0" rIns="0" tIns="0" bIns="0" anchor="t">
            <a:spAutoFit/>
          </a:bodyPr>
          <a:lstStyle/>
          <a:p>
            <a:pPr algn="l">
              <a:lnSpc>
                <a:spcPct val="115000"/>
              </a:lnSpc>
            </a:pPr>
            <a:r>
              <a:rPr sz="900" b="1" i="0">
                <a:solidFill>
                  <a:srgbClr val="9AA5B4"/>
                </a:solidFill>
                <a:latin typeface="Helvetica Neue"/>
              </a:rPr>
              <a:t>DFL</a:t>
            </a:r>
          </a:p>
        </p:txBody>
      </p:sp>
      <p:sp>
        <p:nvSpPr>
          <p:cNvPr id="20" name="TextBox 19"/>
          <p:cNvSpPr txBox="1"/>
          <p:nvPr/>
        </p:nvSpPr>
        <p:spPr>
          <a:xfrm>
            <a:off x="1600200" y="5074920"/>
            <a:ext cx="2240280" cy="310896"/>
          </a:xfrm>
          <a:prstGeom prst="rect">
            <a:avLst/>
          </a:prstGeom>
          <a:noFill/>
        </p:spPr>
        <p:txBody>
          <a:bodyPr wrap="square" lIns="0" rIns="0" tIns="0" bIns="0" anchor="t">
            <a:spAutoFit/>
          </a:bodyPr>
          <a:lstStyle/>
          <a:p>
            <a:pPr algn="l">
              <a:lnSpc>
                <a:spcPct val="115000"/>
              </a:lnSpc>
            </a:pPr>
            <a:r>
              <a:rPr sz="1200" b="1" i="0">
                <a:solidFill>
                  <a:srgbClr val="9AA5B4"/>
                </a:solidFill>
                <a:latin typeface="Helvetica Neue"/>
              </a:rPr>
              <a:t>Data Federation Layer</a:t>
            </a:r>
          </a:p>
        </p:txBody>
      </p:sp>
      <p:sp>
        <p:nvSpPr>
          <p:cNvPr id="21" name="Oval 20"/>
          <p:cNvSpPr/>
          <p:nvPr/>
        </p:nvSpPr>
        <p:spPr>
          <a:xfrm>
            <a:off x="1316736" y="4882896"/>
            <a:ext cx="292608" cy="292608"/>
          </a:xfrm>
          <a:prstGeom prst="ellipse">
            <a:avLst/>
          </a:prstGeom>
          <a:solidFill>
            <a:srgbClr val="9AA5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316736" y="4882896"/>
            <a:ext cx="292608" cy="292608"/>
          </a:xfrm>
          <a:prstGeom prst="rect">
            <a:avLst/>
          </a:prstGeom>
          <a:noFill/>
        </p:spPr>
        <p:txBody>
          <a:bodyPr wrap="square" lIns="0" rIns="0" tIns="0" bIns="0" anchor="ctr">
            <a:spAutoFit/>
          </a:bodyPr>
          <a:lstStyle/>
          <a:p>
            <a:pPr algn="ctr">
              <a:lnSpc>
                <a:spcPct val="115000"/>
              </a:lnSpc>
            </a:pPr>
            <a:r>
              <a:rPr sz="1000" b="1" i="0">
                <a:solidFill>
                  <a:srgbClr val="FFFFFF"/>
                </a:solidFill>
                <a:latin typeface="Helvetica Neue"/>
              </a:rPr>
              <a:t>1</a:t>
            </a:r>
          </a:p>
        </p:txBody>
      </p:sp>
      <p:sp>
        <p:nvSpPr>
          <p:cNvPr id="23" name="Rounded Rectangle 22"/>
          <p:cNvSpPr/>
          <p:nvPr/>
        </p:nvSpPr>
        <p:spPr>
          <a:xfrm>
            <a:off x="4873752" y="5038344"/>
            <a:ext cx="2697480" cy="777240"/>
          </a:xfrm>
          <a:prstGeom prst="roundRect">
            <a:avLst/>
          </a:prstGeom>
          <a:solidFill>
            <a:srgbClr val="D5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4846320" y="4983480"/>
            <a:ext cx="2697480" cy="777240"/>
          </a:xfrm>
          <a:prstGeom prst="roundRect">
            <a:avLst/>
          </a:prstGeom>
          <a:solidFill>
            <a:srgbClr val="FFFFFF"/>
          </a:solidFill>
          <a:ln w="17780">
            <a:solidFill>
              <a:srgbClr val="0A2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4846320" y="4983480"/>
            <a:ext cx="82296" cy="777240"/>
          </a:xfrm>
          <a:prstGeom prst="round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903720" y="5376672"/>
            <a:ext cx="502920" cy="274320"/>
          </a:xfrm>
          <a:prstGeom prst="round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903720" y="5376672"/>
            <a:ext cx="502920" cy="274320"/>
          </a:xfrm>
          <a:prstGeom prst="rect">
            <a:avLst/>
          </a:prstGeom>
          <a:noFill/>
        </p:spPr>
        <p:txBody>
          <a:bodyPr wrap="square" lIns="0" rIns="0" tIns="0" bIns="0" anchor="ctr">
            <a:spAutoFit/>
          </a:bodyPr>
          <a:lstStyle/>
          <a:p>
            <a:pPr algn="ctr">
              <a:lnSpc>
                <a:spcPct val="115000"/>
              </a:lnSpc>
            </a:pPr>
            <a:r>
              <a:rPr sz="900" b="1" i="0">
                <a:solidFill>
                  <a:srgbClr val="FFFFFF"/>
                </a:solidFill>
                <a:latin typeface="Helvetica Neue"/>
              </a:rPr>
              <a:t>CPL</a:t>
            </a:r>
          </a:p>
        </p:txBody>
      </p:sp>
      <p:sp>
        <p:nvSpPr>
          <p:cNvPr id="28" name="TextBox 27"/>
          <p:cNvSpPr txBox="1"/>
          <p:nvPr/>
        </p:nvSpPr>
        <p:spPr>
          <a:xfrm>
            <a:off x="5029200" y="5074920"/>
            <a:ext cx="2423160" cy="310896"/>
          </a:xfrm>
          <a:prstGeom prst="rect">
            <a:avLst/>
          </a:prstGeom>
          <a:noFill/>
        </p:spPr>
        <p:txBody>
          <a:bodyPr wrap="square" lIns="0" rIns="0" tIns="0" bIns="0" anchor="t">
            <a:spAutoFit/>
          </a:bodyPr>
          <a:lstStyle/>
          <a:p>
            <a:pPr algn="l">
              <a:lnSpc>
                <a:spcPct val="115000"/>
              </a:lnSpc>
            </a:pPr>
            <a:r>
              <a:rPr sz="1200" b="1" i="0">
                <a:solidFill>
                  <a:srgbClr val="0A1628"/>
                </a:solidFill>
                <a:latin typeface="Helvetica Neue"/>
              </a:rPr>
              <a:t>Context Processing Layer</a:t>
            </a:r>
          </a:p>
        </p:txBody>
      </p:sp>
      <p:sp>
        <p:nvSpPr>
          <p:cNvPr id="29" name="Oval 28"/>
          <p:cNvSpPr/>
          <p:nvPr/>
        </p:nvSpPr>
        <p:spPr>
          <a:xfrm>
            <a:off x="4745736" y="4882896"/>
            <a:ext cx="292608" cy="292608"/>
          </a:xfrm>
          <a:prstGeom prst="ellipse">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45736" y="4882896"/>
            <a:ext cx="292608" cy="292608"/>
          </a:xfrm>
          <a:prstGeom prst="rect">
            <a:avLst/>
          </a:prstGeom>
          <a:noFill/>
        </p:spPr>
        <p:txBody>
          <a:bodyPr wrap="square" lIns="0" rIns="0" tIns="0" bIns="0" anchor="ctr">
            <a:spAutoFit/>
          </a:bodyPr>
          <a:lstStyle/>
          <a:p>
            <a:pPr algn="ctr">
              <a:lnSpc>
                <a:spcPct val="115000"/>
              </a:lnSpc>
            </a:pPr>
            <a:r>
              <a:rPr sz="1000" b="1" i="0">
                <a:solidFill>
                  <a:srgbClr val="FFFFFF"/>
                </a:solidFill>
                <a:latin typeface="Helvetica Neue"/>
              </a:rPr>
              <a:t>3</a:t>
            </a:r>
          </a:p>
        </p:txBody>
      </p:sp>
      <p:sp>
        <p:nvSpPr>
          <p:cNvPr id="31" name="Rounded Rectangle 30"/>
          <p:cNvSpPr/>
          <p:nvPr/>
        </p:nvSpPr>
        <p:spPr>
          <a:xfrm>
            <a:off x="1417320" y="3566160"/>
            <a:ext cx="6172200" cy="822960"/>
          </a:xfrm>
          <a:prstGeom prst="roundRect">
            <a:avLst/>
          </a:prstGeom>
          <a:solidFill>
            <a:srgbClr val="F1F4F8"/>
          </a:solidFill>
          <a:ln w="6350">
            <a:solidFill>
              <a:srgbClr val="E1E5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1417320" y="3566160"/>
            <a:ext cx="82296" cy="822960"/>
          </a:xfrm>
          <a:prstGeom prst="roundRect">
            <a:avLst/>
          </a:prstGeom>
          <a:solidFill>
            <a:srgbClr val="E1E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600200" y="4005072"/>
            <a:ext cx="5897880" cy="274320"/>
          </a:xfrm>
          <a:prstGeom prst="rect">
            <a:avLst/>
          </a:prstGeom>
          <a:noFill/>
        </p:spPr>
        <p:txBody>
          <a:bodyPr wrap="square" lIns="0" rIns="0" tIns="0" bIns="0" anchor="t">
            <a:spAutoFit/>
          </a:bodyPr>
          <a:lstStyle/>
          <a:p>
            <a:pPr algn="l">
              <a:lnSpc>
                <a:spcPct val="115000"/>
              </a:lnSpc>
            </a:pPr>
            <a:r>
              <a:rPr sz="900" b="1" i="0">
                <a:solidFill>
                  <a:srgbClr val="9AA5B4"/>
                </a:solidFill>
                <a:latin typeface="Helvetica Neue"/>
              </a:rPr>
              <a:t>CL</a:t>
            </a:r>
          </a:p>
        </p:txBody>
      </p:sp>
      <p:sp>
        <p:nvSpPr>
          <p:cNvPr id="34" name="TextBox 33"/>
          <p:cNvSpPr txBox="1"/>
          <p:nvPr/>
        </p:nvSpPr>
        <p:spPr>
          <a:xfrm>
            <a:off x="1600200" y="3657600"/>
            <a:ext cx="5897880" cy="310896"/>
          </a:xfrm>
          <a:prstGeom prst="rect">
            <a:avLst/>
          </a:prstGeom>
          <a:noFill/>
        </p:spPr>
        <p:txBody>
          <a:bodyPr wrap="square" lIns="0" rIns="0" tIns="0" bIns="0" anchor="t">
            <a:spAutoFit/>
          </a:bodyPr>
          <a:lstStyle/>
          <a:p>
            <a:pPr algn="l">
              <a:lnSpc>
                <a:spcPct val="115000"/>
              </a:lnSpc>
            </a:pPr>
            <a:r>
              <a:rPr sz="1200" b="1" i="0">
                <a:solidFill>
                  <a:srgbClr val="9AA5B4"/>
                </a:solidFill>
                <a:latin typeface="Helvetica Neue"/>
              </a:rPr>
              <a:t>Context Layer</a:t>
            </a:r>
          </a:p>
        </p:txBody>
      </p:sp>
      <p:sp>
        <p:nvSpPr>
          <p:cNvPr id="35" name="Oval 34"/>
          <p:cNvSpPr/>
          <p:nvPr/>
        </p:nvSpPr>
        <p:spPr>
          <a:xfrm>
            <a:off x="1316736" y="3465576"/>
            <a:ext cx="292608" cy="292608"/>
          </a:xfrm>
          <a:prstGeom prst="ellipse">
            <a:avLst/>
          </a:prstGeom>
          <a:solidFill>
            <a:srgbClr val="9AA5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316736" y="3465576"/>
            <a:ext cx="292608" cy="292608"/>
          </a:xfrm>
          <a:prstGeom prst="rect">
            <a:avLst/>
          </a:prstGeom>
          <a:noFill/>
        </p:spPr>
        <p:txBody>
          <a:bodyPr wrap="square" lIns="0" rIns="0" tIns="0" bIns="0" anchor="ctr">
            <a:spAutoFit/>
          </a:bodyPr>
          <a:lstStyle/>
          <a:p>
            <a:pPr algn="ctr">
              <a:lnSpc>
                <a:spcPct val="115000"/>
              </a:lnSpc>
            </a:pPr>
            <a:r>
              <a:rPr sz="1000" b="1" i="0">
                <a:solidFill>
                  <a:srgbClr val="FFFFFF"/>
                </a:solidFill>
                <a:latin typeface="Helvetica Neue"/>
              </a:rPr>
              <a:t>2</a:t>
            </a:r>
          </a:p>
        </p:txBody>
      </p:sp>
      <p:sp>
        <p:nvSpPr>
          <p:cNvPr id="37" name="Rounded Rectangle 36"/>
          <p:cNvSpPr/>
          <p:nvPr/>
        </p:nvSpPr>
        <p:spPr>
          <a:xfrm>
            <a:off x="1417320" y="2194560"/>
            <a:ext cx="2514600" cy="777240"/>
          </a:xfrm>
          <a:prstGeom prst="roundRect">
            <a:avLst/>
          </a:prstGeom>
          <a:solidFill>
            <a:srgbClr val="F1F4F8"/>
          </a:solidFill>
          <a:ln w="6350">
            <a:solidFill>
              <a:srgbClr val="E1E5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1417320" y="2194560"/>
            <a:ext cx="82296" cy="777240"/>
          </a:xfrm>
          <a:prstGeom prst="roundRect">
            <a:avLst/>
          </a:prstGeom>
          <a:solidFill>
            <a:srgbClr val="E1E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600200" y="2633472"/>
            <a:ext cx="2240280" cy="274320"/>
          </a:xfrm>
          <a:prstGeom prst="rect">
            <a:avLst/>
          </a:prstGeom>
          <a:noFill/>
        </p:spPr>
        <p:txBody>
          <a:bodyPr wrap="square" lIns="0" rIns="0" tIns="0" bIns="0" anchor="t">
            <a:spAutoFit/>
          </a:bodyPr>
          <a:lstStyle/>
          <a:p>
            <a:pPr algn="l">
              <a:lnSpc>
                <a:spcPct val="115000"/>
              </a:lnSpc>
            </a:pPr>
            <a:r>
              <a:rPr sz="900" b="1" i="0">
                <a:solidFill>
                  <a:srgbClr val="9AA5B4"/>
                </a:solidFill>
                <a:latin typeface="Helvetica Neue"/>
              </a:rPr>
              <a:t>RIL</a:t>
            </a:r>
          </a:p>
        </p:txBody>
      </p:sp>
      <p:sp>
        <p:nvSpPr>
          <p:cNvPr id="40" name="TextBox 39"/>
          <p:cNvSpPr txBox="1"/>
          <p:nvPr/>
        </p:nvSpPr>
        <p:spPr>
          <a:xfrm>
            <a:off x="1600200" y="2286000"/>
            <a:ext cx="2240280" cy="310896"/>
          </a:xfrm>
          <a:prstGeom prst="rect">
            <a:avLst/>
          </a:prstGeom>
          <a:noFill/>
        </p:spPr>
        <p:txBody>
          <a:bodyPr wrap="square" lIns="0" rIns="0" tIns="0" bIns="0" anchor="t">
            <a:spAutoFit/>
          </a:bodyPr>
          <a:lstStyle/>
          <a:p>
            <a:pPr algn="l">
              <a:lnSpc>
                <a:spcPct val="115000"/>
              </a:lnSpc>
            </a:pPr>
            <a:r>
              <a:rPr sz="1200" b="1" i="0">
                <a:solidFill>
                  <a:srgbClr val="9AA5B4"/>
                </a:solidFill>
                <a:latin typeface="Helvetica Neue"/>
              </a:rPr>
              <a:t>Risk Intelligence Layer</a:t>
            </a:r>
          </a:p>
        </p:txBody>
      </p:sp>
      <p:sp>
        <p:nvSpPr>
          <p:cNvPr id="41" name="Oval 40"/>
          <p:cNvSpPr/>
          <p:nvPr/>
        </p:nvSpPr>
        <p:spPr>
          <a:xfrm>
            <a:off x="1316736" y="2093976"/>
            <a:ext cx="292608" cy="292608"/>
          </a:xfrm>
          <a:prstGeom prst="ellipse">
            <a:avLst/>
          </a:prstGeom>
          <a:solidFill>
            <a:srgbClr val="9AA5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316736" y="2093976"/>
            <a:ext cx="292608" cy="292608"/>
          </a:xfrm>
          <a:prstGeom prst="rect">
            <a:avLst/>
          </a:prstGeom>
          <a:noFill/>
        </p:spPr>
        <p:txBody>
          <a:bodyPr wrap="square" lIns="0" rIns="0" tIns="0" bIns="0" anchor="ctr">
            <a:spAutoFit/>
          </a:bodyPr>
          <a:lstStyle/>
          <a:p>
            <a:pPr algn="ctr">
              <a:lnSpc>
                <a:spcPct val="115000"/>
              </a:lnSpc>
            </a:pPr>
            <a:r>
              <a:rPr sz="1000" b="1" i="0">
                <a:solidFill>
                  <a:srgbClr val="FFFFFF"/>
                </a:solidFill>
                <a:latin typeface="Helvetica Neue"/>
              </a:rPr>
              <a:t>4</a:t>
            </a:r>
          </a:p>
        </p:txBody>
      </p:sp>
      <p:sp>
        <p:nvSpPr>
          <p:cNvPr id="43" name="Rounded Rectangle 42"/>
          <p:cNvSpPr/>
          <p:nvPr/>
        </p:nvSpPr>
        <p:spPr>
          <a:xfrm>
            <a:off x="4846320" y="2194560"/>
            <a:ext cx="2697480" cy="777240"/>
          </a:xfrm>
          <a:prstGeom prst="roundRect">
            <a:avLst/>
          </a:prstGeom>
          <a:solidFill>
            <a:srgbClr val="F1F4F8"/>
          </a:solidFill>
          <a:ln w="6350">
            <a:solidFill>
              <a:srgbClr val="E1E5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4846320" y="2194560"/>
            <a:ext cx="82296" cy="777240"/>
          </a:xfrm>
          <a:prstGeom prst="roundRect">
            <a:avLst/>
          </a:prstGeom>
          <a:solidFill>
            <a:srgbClr val="E1E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029200" y="2633472"/>
            <a:ext cx="2423160" cy="274320"/>
          </a:xfrm>
          <a:prstGeom prst="rect">
            <a:avLst/>
          </a:prstGeom>
          <a:noFill/>
        </p:spPr>
        <p:txBody>
          <a:bodyPr wrap="square" lIns="0" rIns="0" tIns="0" bIns="0" anchor="t">
            <a:spAutoFit/>
          </a:bodyPr>
          <a:lstStyle/>
          <a:p>
            <a:pPr algn="l">
              <a:lnSpc>
                <a:spcPct val="115000"/>
              </a:lnSpc>
            </a:pPr>
            <a:r>
              <a:rPr sz="900" b="1" i="0">
                <a:solidFill>
                  <a:srgbClr val="9AA5B4"/>
                </a:solidFill>
                <a:latin typeface="Helvetica Neue"/>
              </a:rPr>
              <a:t>FRL</a:t>
            </a:r>
          </a:p>
        </p:txBody>
      </p:sp>
      <p:sp>
        <p:nvSpPr>
          <p:cNvPr id="46" name="TextBox 45"/>
          <p:cNvSpPr txBox="1"/>
          <p:nvPr/>
        </p:nvSpPr>
        <p:spPr>
          <a:xfrm>
            <a:off x="5029200" y="2286000"/>
            <a:ext cx="2423160" cy="310896"/>
          </a:xfrm>
          <a:prstGeom prst="rect">
            <a:avLst/>
          </a:prstGeom>
          <a:noFill/>
        </p:spPr>
        <p:txBody>
          <a:bodyPr wrap="square" lIns="0" rIns="0" tIns="0" bIns="0" anchor="t">
            <a:spAutoFit/>
          </a:bodyPr>
          <a:lstStyle/>
          <a:p>
            <a:pPr algn="l">
              <a:lnSpc>
                <a:spcPct val="115000"/>
              </a:lnSpc>
            </a:pPr>
            <a:r>
              <a:rPr sz="1200" b="1" i="0">
                <a:solidFill>
                  <a:srgbClr val="9AA5B4"/>
                </a:solidFill>
                <a:latin typeface="Helvetica Neue"/>
              </a:rPr>
              <a:t>Feedback &amp; Refinement Layer</a:t>
            </a:r>
          </a:p>
        </p:txBody>
      </p:sp>
      <p:sp>
        <p:nvSpPr>
          <p:cNvPr id="47" name="Oval 46"/>
          <p:cNvSpPr/>
          <p:nvPr/>
        </p:nvSpPr>
        <p:spPr>
          <a:xfrm>
            <a:off x="4745736" y="2093976"/>
            <a:ext cx="292608" cy="292608"/>
          </a:xfrm>
          <a:prstGeom prst="ellipse">
            <a:avLst/>
          </a:prstGeom>
          <a:solidFill>
            <a:srgbClr val="9AA5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745736" y="2093976"/>
            <a:ext cx="292608" cy="292608"/>
          </a:xfrm>
          <a:prstGeom prst="rect">
            <a:avLst/>
          </a:prstGeom>
          <a:noFill/>
        </p:spPr>
        <p:txBody>
          <a:bodyPr wrap="square" lIns="0" rIns="0" tIns="0" bIns="0" anchor="ctr">
            <a:spAutoFit/>
          </a:bodyPr>
          <a:lstStyle/>
          <a:p>
            <a:pPr algn="ctr">
              <a:lnSpc>
                <a:spcPct val="115000"/>
              </a:lnSpc>
            </a:pPr>
            <a:r>
              <a:rPr sz="1000" b="1" i="0">
                <a:solidFill>
                  <a:srgbClr val="FFFFFF"/>
                </a:solidFill>
                <a:latin typeface="Helvetica Neue"/>
              </a:rPr>
              <a:t>5</a:t>
            </a:r>
          </a:p>
        </p:txBody>
      </p:sp>
      <p:sp>
        <p:nvSpPr>
          <p:cNvPr id="49" name="Rounded Rectangle 48"/>
          <p:cNvSpPr/>
          <p:nvPr/>
        </p:nvSpPr>
        <p:spPr>
          <a:xfrm>
            <a:off x="8321040" y="3566160"/>
            <a:ext cx="2194560" cy="822960"/>
          </a:xfrm>
          <a:prstGeom prst="roundRect">
            <a:avLst/>
          </a:prstGeom>
          <a:solidFill>
            <a:srgbClr val="F1F4F8"/>
          </a:solidFill>
          <a:ln w="6350">
            <a:solidFill>
              <a:srgbClr val="E1E5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8321040" y="3566160"/>
            <a:ext cx="82296" cy="822960"/>
          </a:xfrm>
          <a:prstGeom prst="roundRect">
            <a:avLst/>
          </a:prstGeom>
          <a:solidFill>
            <a:srgbClr val="E1E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503920" y="4005072"/>
            <a:ext cx="1920240" cy="274320"/>
          </a:xfrm>
          <a:prstGeom prst="rect">
            <a:avLst/>
          </a:prstGeom>
          <a:noFill/>
        </p:spPr>
        <p:txBody>
          <a:bodyPr wrap="square" lIns="0" rIns="0" tIns="0" bIns="0" anchor="t">
            <a:spAutoFit/>
          </a:bodyPr>
          <a:lstStyle/>
          <a:p>
            <a:pPr algn="l">
              <a:lnSpc>
                <a:spcPct val="115000"/>
              </a:lnSpc>
            </a:pPr>
            <a:r>
              <a:rPr sz="900" b="1" i="0">
                <a:solidFill>
                  <a:srgbClr val="9AA5B4"/>
                </a:solidFill>
                <a:latin typeface="Helvetica Neue"/>
              </a:rPr>
              <a:t>HIL</a:t>
            </a:r>
          </a:p>
        </p:txBody>
      </p:sp>
      <p:sp>
        <p:nvSpPr>
          <p:cNvPr id="52" name="TextBox 51"/>
          <p:cNvSpPr txBox="1"/>
          <p:nvPr/>
        </p:nvSpPr>
        <p:spPr>
          <a:xfrm>
            <a:off x="8503920" y="3657600"/>
            <a:ext cx="1920240" cy="310896"/>
          </a:xfrm>
          <a:prstGeom prst="rect">
            <a:avLst/>
          </a:prstGeom>
          <a:noFill/>
        </p:spPr>
        <p:txBody>
          <a:bodyPr wrap="square" lIns="0" rIns="0" tIns="0" bIns="0" anchor="t">
            <a:spAutoFit/>
          </a:bodyPr>
          <a:lstStyle/>
          <a:p>
            <a:pPr algn="l">
              <a:lnSpc>
                <a:spcPct val="115000"/>
              </a:lnSpc>
            </a:pPr>
            <a:r>
              <a:rPr sz="1200" b="1" i="0">
                <a:solidFill>
                  <a:srgbClr val="9AA5B4"/>
                </a:solidFill>
                <a:latin typeface="Helvetica Neue"/>
              </a:rPr>
              <a:t>Human Interaction Layer</a:t>
            </a:r>
          </a:p>
        </p:txBody>
      </p:sp>
      <p:sp>
        <p:nvSpPr>
          <p:cNvPr id="53" name="Oval 52"/>
          <p:cNvSpPr/>
          <p:nvPr/>
        </p:nvSpPr>
        <p:spPr>
          <a:xfrm>
            <a:off x="8220456" y="3465576"/>
            <a:ext cx="292608" cy="292608"/>
          </a:xfrm>
          <a:prstGeom prst="ellipse">
            <a:avLst/>
          </a:prstGeom>
          <a:solidFill>
            <a:srgbClr val="9AA5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220456" y="3465576"/>
            <a:ext cx="292608" cy="292608"/>
          </a:xfrm>
          <a:prstGeom prst="rect">
            <a:avLst/>
          </a:prstGeom>
          <a:noFill/>
        </p:spPr>
        <p:txBody>
          <a:bodyPr wrap="square" lIns="0" rIns="0" tIns="0" bIns="0" anchor="ctr">
            <a:spAutoFit/>
          </a:bodyPr>
          <a:lstStyle/>
          <a:p>
            <a:pPr algn="ctr">
              <a:lnSpc>
                <a:spcPct val="115000"/>
              </a:lnSpc>
            </a:pPr>
            <a:r>
              <a:rPr sz="1000" b="1" i="0">
                <a:solidFill>
                  <a:srgbClr val="FFFFFF"/>
                </a:solidFill>
                <a:latin typeface="Helvetica Neue"/>
              </a:rPr>
              <a:t>6</a:t>
            </a:r>
          </a:p>
        </p:txBody>
      </p:sp>
      <p:cxnSp>
        <p:nvCxnSpPr>
          <p:cNvPr id="55" name="Connector 54"/>
          <p:cNvCxnSpPr/>
          <p:nvPr/>
        </p:nvCxnSpPr>
        <p:spPr>
          <a:xfrm flipV="1">
            <a:off x="2674620" y="5760720"/>
            <a:ext cx="0" cy="365760"/>
          </a:xfrm>
          <a:prstGeom prst="line">
            <a:avLst/>
          </a:prstGeom>
          <a:ln w="11430">
            <a:solidFill>
              <a:srgbClr val="9AA5B4"/>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V="1">
            <a:off x="2674620" y="4389120"/>
            <a:ext cx="1828800" cy="594360"/>
          </a:xfrm>
          <a:prstGeom prst="line">
            <a:avLst/>
          </a:prstGeom>
          <a:ln w="11430">
            <a:solidFill>
              <a:srgbClr val="9AA5B4"/>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4503420" y="4389120"/>
            <a:ext cx="1691640" cy="594360"/>
          </a:xfrm>
          <a:prstGeom prst="line">
            <a:avLst/>
          </a:prstGeom>
          <a:ln w="24130">
            <a:solidFill>
              <a:srgbClr val="0A2540"/>
            </a:solidFill>
            <a:tailEnd type="triangle" w="med" h="med"/>
            <a:headEnd type="triangle" w="med" h="med"/>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flipV="1">
            <a:off x="2674620" y="2971800"/>
            <a:ext cx="1828800" cy="594360"/>
          </a:xfrm>
          <a:prstGeom prst="line">
            <a:avLst/>
          </a:prstGeom>
          <a:ln w="11430">
            <a:solidFill>
              <a:srgbClr val="9AA5B4"/>
            </a:solidFill>
            <a:tailEnd type="triangle" w="med" h="med"/>
            <a:headEnd type="triangle" w="med" h="med"/>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7589520" y="3977640"/>
            <a:ext cx="731520" cy="0"/>
          </a:xfrm>
          <a:prstGeom prst="line">
            <a:avLst/>
          </a:prstGeom>
          <a:ln w="11430">
            <a:solidFill>
              <a:srgbClr val="9AA5B4"/>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10515600" y="3977640"/>
            <a:ext cx="182880" cy="22859"/>
          </a:xfrm>
          <a:prstGeom prst="line">
            <a:avLst/>
          </a:prstGeom>
          <a:ln w="11430">
            <a:solidFill>
              <a:srgbClr val="9AA5B4"/>
            </a:solidFill>
            <a:tailEnd type="triangle" w="med" h="med"/>
            <a:headEnd type="triangle" w="med" h="med"/>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3931920" y="2583180"/>
            <a:ext cx="914400" cy="0"/>
          </a:xfrm>
          <a:prstGeom prst="line">
            <a:avLst/>
          </a:prstGeom>
          <a:ln w="11430">
            <a:solidFill>
              <a:srgbClr val="9AA5B4"/>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a:off x="4503420" y="2971800"/>
            <a:ext cx="1691640" cy="594360"/>
          </a:xfrm>
          <a:prstGeom prst="line">
            <a:avLst/>
          </a:prstGeom>
          <a:ln w="11430">
            <a:solidFill>
              <a:srgbClr val="9AA5B4"/>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flipV="1">
            <a:off x="7543800" y="2583180"/>
            <a:ext cx="1874520" cy="982980"/>
          </a:xfrm>
          <a:prstGeom prst="line">
            <a:avLst/>
          </a:prstGeom>
          <a:ln w="11430">
            <a:solidFill>
              <a:srgbClr val="9AA5B4"/>
            </a:solidFill>
            <a:tailEnd type="triangle" w="med" h="med"/>
          </a:ln>
        </p:spPr>
        <p:style>
          <a:lnRef idx="2">
            <a:schemeClr val="accent1"/>
          </a:lnRef>
          <a:fillRef idx="0">
            <a:schemeClr val="accent1"/>
          </a:fillRef>
          <a:effectRef idx="1">
            <a:schemeClr val="accent1"/>
          </a:effectRef>
          <a:fontRef idx="minor">
            <a:schemeClr val="tx1"/>
          </a:fontRef>
        </p:style>
      </p:cxnSp>
      <p:sp>
        <p:nvSpPr>
          <p:cNvPr id="64" name="Rounded Rectangle 63"/>
          <p:cNvSpPr/>
          <p:nvPr/>
        </p:nvSpPr>
        <p:spPr>
          <a:xfrm>
            <a:off x="5234940" y="4544568"/>
            <a:ext cx="1600200" cy="2743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234940" y="4544568"/>
            <a:ext cx="1600200" cy="274320"/>
          </a:xfrm>
          <a:prstGeom prst="rect">
            <a:avLst/>
          </a:prstGeom>
          <a:noFill/>
        </p:spPr>
        <p:txBody>
          <a:bodyPr wrap="square" lIns="0" rIns="0" tIns="0" bIns="0" anchor="ctr">
            <a:spAutoFit/>
          </a:bodyPr>
          <a:lstStyle/>
          <a:p>
            <a:pPr algn="ctr">
              <a:lnSpc>
                <a:spcPct val="115000"/>
              </a:lnSpc>
            </a:pPr>
            <a:r>
              <a:rPr sz="800" b="0" i="0">
                <a:solidFill>
                  <a:srgbClr val="0A2540"/>
                </a:solidFill>
                <a:latin typeface="Helvetica Neue"/>
              </a:rPr>
              <a:t>context enrichment</a:t>
            </a:r>
          </a:p>
        </p:txBody>
      </p:sp>
      <p:sp>
        <p:nvSpPr>
          <p:cNvPr id="66" name="Rectangle 65"/>
          <p:cNvSpPr/>
          <p:nvPr/>
        </p:nvSpPr>
        <p:spPr>
          <a:xfrm>
            <a:off x="7772400" y="6409944"/>
            <a:ext cx="256032" cy="4572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138160" y="6309360"/>
            <a:ext cx="1463040" cy="256032"/>
          </a:xfrm>
          <a:prstGeom prst="rect">
            <a:avLst/>
          </a:prstGeom>
          <a:noFill/>
        </p:spPr>
        <p:txBody>
          <a:bodyPr wrap="square" lIns="0" rIns="0" tIns="0" bIns="0" anchor="ctr">
            <a:spAutoFit/>
          </a:bodyPr>
          <a:lstStyle/>
          <a:p>
            <a:pPr algn="l">
              <a:lnSpc>
                <a:spcPct val="115000"/>
              </a:lnSpc>
            </a:pPr>
            <a:r>
              <a:rPr sz="900" b="0" i="0">
                <a:solidFill>
                  <a:srgbClr val="4A5C74"/>
                </a:solidFill>
                <a:latin typeface="Helvetica Neue"/>
              </a:rPr>
              <a:t>Data path (up)</a:t>
            </a:r>
          </a:p>
        </p:txBody>
      </p:sp>
      <p:sp>
        <p:nvSpPr>
          <p:cNvPr id="68" name="Rectangle 67"/>
          <p:cNvSpPr/>
          <p:nvPr/>
        </p:nvSpPr>
        <p:spPr>
          <a:xfrm>
            <a:off x="9692640" y="6409944"/>
            <a:ext cx="256032" cy="45720"/>
          </a:xfrm>
          <a:prstGeom prst="rect">
            <a:avLst/>
          </a:prstGeom>
          <a:solidFill>
            <a:srgbClr val="3B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10058400" y="6309360"/>
            <a:ext cx="2011680" cy="256032"/>
          </a:xfrm>
          <a:prstGeom prst="rect">
            <a:avLst/>
          </a:prstGeom>
          <a:noFill/>
        </p:spPr>
        <p:txBody>
          <a:bodyPr wrap="square" lIns="0" rIns="0" tIns="0" bIns="0" anchor="ctr">
            <a:spAutoFit/>
          </a:bodyPr>
          <a:lstStyle/>
          <a:p>
            <a:pPr algn="l">
              <a:lnSpc>
                <a:spcPct val="115000"/>
              </a:lnSpc>
            </a:pPr>
            <a:r>
              <a:rPr sz="900" b="0" i="0">
                <a:solidFill>
                  <a:srgbClr val="4A5C74"/>
                </a:solidFill>
                <a:latin typeface="Helvetica Neue"/>
              </a:rPr>
              <a:t>Feedback path (down)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972800" cy="256032"/>
          </a:xfrm>
          <a:prstGeom prst="rect">
            <a:avLst/>
          </a:prstGeom>
          <a:noFill/>
        </p:spPr>
        <p:txBody>
          <a:bodyPr wrap="square" lIns="0" rIns="0" tIns="0" bIns="0" anchor="t">
            <a:spAutoFit/>
          </a:bodyPr>
          <a:lstStyle/>
          <a:p>
            <a:pPr algn="l">
              <a:lnSpc>
                <a:spcPct val="115000"/>
              </a:lnSpc>
            </a:pPr>
            <a:r>
              <a:rPr sz="900" b="1" i="0" spc="250">
                <a:solidFill>
                  <a:srgbClr val="0A2540"/>
                </a:solidFill>
                <a:latin typeface="Helvetica Neue"/>
              </a:rPr>
              <a:t>LAYER 3 OF 6 · CL</a:t>
            </a:r>
          </a:p>
        </p:txBody>
      </p:sp>
      <p:sp>
        <p:nvSpPr>
          <p:cNvPr id="4" name="TextBox 3"/>
          <p:cNvSpPr txBox="1"/>
          <p:nvPr/>
        </p:nvSpPr>
        <p:spPr>
          <a:xfrm>
            <a:off x="731520" y="713232"/>
            <a:ext cx="10972800" cy="502920"/>
          </a:xfrm>
          <a:prstGeom prst="rect">
            <a:avLst/>
          </a:prstGeom>
          <a:noFill/>
        </p:spPr>
        <p:txBody>
          <a:bodyPr wrap="square" lIns="0" rIns="0" tIns="0" bIns="0" anchor="t">
            <a:spAutoFit/>
          </a:bodyPr>
          <a:lstStyle/>
          <a:p>
            <a:pPr algn="l">
              <a:lnSpc>
                <a:spcPct val="115000"/>
              </a:lnSpc>
            </a:pPr>
            <a:r>
              <a:rPr sz="2400" b="1" i="0">
                <a:solidFill>
                  <a:srgbClr val="0A1628"/>
                </a:solidFill>
                <a:latin typeface="Helvetica Neue"/>
              </a:rPr>
              <a:t>Context Layer</a:t>
            </a:r>
          </a:p>
        </p:txBody>
      </p:sp>
      <p:sp>
        <p:nvSpPr>
          <p:cNvPr id="5" name="TextBox 4"/>
          <p:cNvSpPr txBox="1"/>
          <p:nvPr/>
        </p:nvSpPr>
        <p:spPr>
          <a:xfrm>
            <a:off x="731520" y="1234440"/>
            <a:ext cx="10972800" cy="292608"/>
          </a:xfrm>
          <a:prstGeom prst="rect">
            <a:avLst/>
          </a:prstGeom>
          <a:noFill/>
        </p:spPr>
        <p:txBody>
          <a:bodyPr wrap="square" lIns="0" rIns="0" tIns="0" bIns="0" anchor="t">
            <a:spAutoFit/>
          </a:bodyPr>
          <a:lstStyle/>
          <a:p>
            <a:pPr algn="l">
              <a:lnSpc>
                <a:spcPct val="115000"/>
              </a:lnSpc>
            </a:pPr>
            <a:r>
              <a:rPr sz="1200" b="0" i="1">
                <a:solidFill>
                  <a:srgbClr val="4A5C74"/>
                </a:solidFill>
                <a:latin typeface="Helvetica Neue"/>
              </a:rPr>
              <a:t>Central knowledge store; the interaction hub for all other layers.</a:t>
            </a:r>
          </a:p>
        </p:txBody>
      </p:sp>
      <p:sp>
        <p:nvSpPr>
          <p:cNvPr id="6" name="Rectangle 5"/>
          <p:cNvSpPr/>
          <p:nvPr/>
        </p:nvSpPr>
        <p:spPr>
          <a:xfrm>
            <a:off x="731520" y="1572768"/>
            <a:ext cx="457200" cy="32004"/>
          </a:xfrm>
          <a:prstGeom prst="rect">
            <a:avLst/>
          </a:prstGeom>
          <a:solidFill>
            <a:srgbClr val="1B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68680" y="2011680"/>
            <a:ext cx="10515600" cy="3840480"/>
          </a:xfrm>
          <a:prstGeom prst="roundRect">
            <a:avLst/>
          </a:prstGeom>
          <a:noFill/>
          <a:ln w="12700">
            <a:solidFill>
              <a:srgbClr val="9AA5B4"/>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6172200"/>
            <a:ext cx="548640" cy="411480"/>
          </a:xfrm>
          <a:prstGeom prst="rect">
            <a:avLst/>
          </a:prstGeom>
          <a:noFill/>
        </p:spPr>
        <p:txBody>
          <a:bodyPr wrap="square" lIns="0" rIns="0" tIns="0" bIns="0" anchor="t">
            <a:spAutoFit/>
          </a:bodyPr>
          <a:lstStyle/>
          <a:p>
            <a:pPr algn="l">
              <a:lnSpc>
                <a:spcPct val="115000"/>
              </a:lnSpc>
            </a:pPr>
            <a:r>
              <a:rPr sz="700" b="0" i="0">
                <a:solidFill>
                  <a:srgbClr val="9AA5B4"/>
                </a:solidFill>
                <a:latin typeface="Helvetica Neue"/>
              </a:rPr>
              <a:t>CAPRA</a:t>
            </a:r>
          </a:p>
          <a:p>
            <a:pPr algn="l">
              <a:lnSpc>
                <a:spcPct val="115000"/>
              </a:lnSpc>
            </a:pPr>
            <a:r>
              <a:rPr sz="700" b="0" i="0">
                <a:solidFill>
                  <a:srgbClr val="9AA5B4"/>
                </a:solidFill>
                <a:latin typeface="Helvetica Neue"/>
              </a:rPr>
              <a:t>System</a:t>
            </a:r>
          </a:p>
          <a:p>
            <a:pPr algn="l">
              <a:lnSpc>
                <a:spcPct val="115000"/>
              </a:lnSpc>
            </a:pPr>
            <a:r>
              <a:rPr sz="700" b="0" i="0">
                <a:solidFill>
                  <a:srgbClr val="9AA5B4"/>
                </a:solidFill>
                <a:latin typeface="Helvetica Neue"/>
              </a:rPr>
              <a:t>Boundary</a:t>
            </a:r>
          </a:p>
        </p:txBody>
      </p:sp>
      <p:sp>
        <p:nvSpPr>
          <p:cNvPr id="9" name="Rounded Rectangle 8"/>
          <p:cNvSpPr/>
          <p:nvPr/>
        </p:nvSpPr>
        <p:spPr>
          <a:xfrm>
            <a:off x="1417320" y="6126480"/>
            <a:ext cx="2514600" cy="457200"/>
          </a:xfrm>
          <a:prstGeom prst="roundRect">
            <a:avLst/>
          </a:prstGeom>
          <a:solidFill>
            <a:srgbClr val="F1F4F8"/>
          </a:solidFill>
          <a:ln w="6350">
            <a:solidFill>
              <a:srgbClr val="E1E5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17320" y="6126480"/>
            <a:ext cx="2514600" cy="457200"/>
          </a:xfrm>
          <a:prstGeom prst="rect">
            <a:avLst/>
          </a:prstGeom>
          <a:noFill/>
        </p:spPr>
        <p:txBody>
          <a:bodyPr wrap="square" lIns="0" rIns="0" tIns="0" bIns="0" anchor="ctr">
            <a:spAutoFit/>
          </a:bodyPr>
          <a:lstStyle/>
          <a:p>
            <a:pPr algn="ctr">
              <a:lnSpc>
                <a:spcPct val="115000"/>
              </a:lnSpc>
            </a:pPr>
            <a:r>
              <a:rPr sz="1000" b="1" i="0">
                <a:solidFill>
                  <a:srgbClr val="4A5C74"/>
                </a:solidFill>
                <a:latin typeface="Helvetica Neue"/>
              </a:rPr>
              <a:t>External Systems</a:t>
            </a:r>
          </a:p>
        </p:txBody>
      </p:sp>
      <p:sp>
        <p:nvSpPr>
          <p:cNvPr id="11" name="Oval 10"/>
          <p:cNvSpPr/>
          <p:nvPr/>
        </p:nvSpPr>
        <p:spPr>
          <a:xfrm>
            <a:off x="1316736" y="6025896"/>
            <a:ext cx="292608" cy="292608"/>
          </a:xfrm>
          <a:prstGeom prst="ellipse">
            <a:avLst/>
          </a:prstGeom>
          <a:solidFill>
            <a:srgbClr val="9AA5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316736" y="6025896"/>
            <a:ext cx="292608" cy="292608"/>
          </a:xfrm>
          <a:prstGeom prst="rect">
            <a:avLst/>
          </a:prstGeom>
          <a:noFill/>
        </p:spPr>
        <p:txBody>
          <a:bodyPr wrap="square" lIns="0" rIns="0" tIns="0" bIns="0" anchor="ctr">
            <a:spAutoFit/>
          </a:bodyPr>
          <a:lstStyle/>
          <a:p>
            <a:pPr algn="ctr">
              <a:lnSpc>
                <a:spcPct val="115000"/>
              </a:lnSpc>
            </a:pPr>
            <a:r>
              <a:rPr sz="1000" b="1" i="0">
                <a:solidFill>
                  <a:srgbClr val="FFFFFF"/>
                </a:solidFill>
                <a:latin typeface="Helvetica Neue"/>
              </a:rPr>
              <a:t>0</a:t>
            </a:r>
          </a:p>
        </p:txBody>
      </p:sp>
      <p:sp>
        <p:nvSpPr>
          <p:cNvPr id="13" name="Oval 12"/>
          <p:cNvSpPr/>
          <p:nvPr/>
        </p:nvSpPr>
        <p:spPr>
          <a:xfrm>
            <a:off x="10698480" y="3749039"/>
            <a:ext cx="914400" cy="502920"/>
          </a:xfrm>
          <a:prstGeom prst="ellipse">
            <a:avLst/>
          </a:prstGeom>
          <a:solidFill>
            <a:srgbClr val="F1F4F8"/>
          </a:solidFill>
          <a:ln w="6350">
            <a:solidFill>
              <a:srgbClr val="E1E5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698480" y="3749039"/>
            <a:ext cx="914400" cy="502920"/>
          </a:xfrm>
          <a:prstGeom prst="rect">
            <a:avLst/>
          </a:prstGeom>
          <a:noFill/>
        </p:spPr>
        <p:txBody>
          <a:bodyPr wrap="square" lIns="0" rIns="0" tIns="0" bIns="0" anchor="ctr">
            <a:spAutoFit/>
          </a:bodyPr>
          <a:lstStyle/>
          <a:p>
            <a:pPr algn="ctr">
              <a:lnSpc>
                <a:spcPct val="115000"/>
              </a:lnSpc>
            </a:pPr>
            <a:r>
              <a:rPr sz="1000" b="1" i="0">
                <a:solidFill>
                  <a:srgbClr val="4A5C74"/>
                </a:solidFill>
                <a:latin typeface="Helvetica Neue"/>
              </a:rPr>
              <a:t>Human</a:t>
            </a:r>
          </a:p>
        </p:txBody>
      </p:sp>
      <p:sp>
        <p:nvSpPr>
          <p:cNvPr id="15" name="Oval 14"/>
          <p:cNvSpPr/>
          <p:nvPr/>
        </p:nvSpPr>
        <p:spPr>
          <a:xfrm>
            <a:off x="10597896" y="3648455"/>
            <a:ext cx="292608" cy="292608"/>
          </a:xfrm>
          <a:prstGeom prst="ellipse">
            <a:avLst/>
          </a:prstGeom>
          <a:solidFill>
            <a:srgbClr val="9AA5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97896" y="3648455"/>
            <a:ext cx="292608" cy="292608"/>
          </a:xfrm>
          <a:prstGeom prst="rect">
            <a:avLst/>
          </a:prstGeom>
          <a:noFill/>
        </p:spPr>
        <p:txBody>
          <a:bodyPr wrap="square" lIns="0" rIns="0" tIns="0" bIns="0" anchor="ctr">
            <a:spAutoFit/>
          </a:bodyPr>
          <a:lstStyle/>
          <a:p>
            <a:pPr algn="ctr">
              <a:lnSpc>
                <a:spcPct val="115000"/>
              </a:lnSpc>
            </a:pPr>
            <a:r>
              <a:rPr sz="1000" b="1" i="0">
                <a:solidFill>
                  <a:srgbClr val="FFFFFF"/>
                </a:solidFill>
                <a:latin typeface="Helvetica Neue"/>
              </a:rPr>
              <a:t>7</a:t>
            </a:r>
          </a:p>
        </p:txBody>
      </p:sp>
      <p:sp>
        <p:nvSpPr>
          <p:cNvPr id="17" name="Rounded Rectangle 16"/>
          <p:cNvSpPr/>
          <p:nvPr/>
        </p:nvSpPr>
        <p:spPr>
          <a:xfrm>
            <a:off x="1417320" y="4983480"/>
            <a:ext cx="2514600" cy="777240"/>
          </a:xfrm>
          <a:prstGeom prst="roundRect">
            <a:avLst/>
          </a:prstGeom>
          <a:solidFill>
            <a:srgbClr val="F1F4F8"/>
          </a:solidFill>
          <a:ln w="6350">
            <a:solidFill>
              <a:srgbClr val="E1E5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417320" y="4983480"/>
            <a:ext cx="82296" cy="777240"/>
          </a:xfrm>
          <a:prstGeom prst="roundRect">
            <a:avLst/>
          </a:prstGeom>
          <a:solidFill>
            <a:srgbClr val="E1E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600200" y="5422392"/>
            <a:ext cx="2240280" cy="274320"/>
          </a:xfrm>
          <a:prstGeom prst="rect">
            <a:avLst/>
          </a:prstGeom>
          <a:noFill/>
        </p:spPr>
        <p:txBody>
          <a:bodyPr wrap="square" lIns="0" rIns="0" tIns="0" bIns="0" anchor="t">
            <a:spAutoFit/>
          </a:bodyPr>
          <a:lstStyle/>
          <a:p>
            <a:pPr algn="l">
              <a:lnSpc>
                <a:spcPct val="115000"/>
              </a:lnSpc>
            </a:pPr>
            <a:r>
              <a:rPr sz="900" b="1" i="0">
                <a:solidFill>
                  <a:srgbClr val="9AA5B4"/>
                </a:solidFill>
                <a:latin typeface="Helvetica Neue"/>
              </a:rPr>
              <a:t>DFL</a:t>
            </a:r>
          </a:p>
        </p:txBody>
      </p:sp>
      <p:sp>
        <p:nvSpPr>
          <p:cNvPr id="20" name="TextBox 19"/>
          <p:cNvSpPr txBox="1"/>
          <p:nvPr/>
        </p:nvSpPr>
        <p:spPr>
          <a:xfrm>
            <a:off x="1600200" y="5074920"/>
            <a:ext cx="2240280" cy="310896"/>
          </a:xfrm>
          <a:prstGeom prst="rect">
            <a:avLst/>
          </a:prstGeom>
          <a:noFill/>
        </p:spPr>
        <p:txBody>
          <a:bodyPr wrap="square" lIns="0" rIns="0" tIns="0" bIns="0" anchor="t">
            <a:spAutoFit/>
          </a:bodyPr>
          <a:lstStyle/>
          <a:p>
            <a:pPr algn="l">
              <a:lnSpc>
                <a:spcPct val="115000"/>
              </a:lnSpc>
            </a:pPr>
            <a:r>
              <a:rPr sz="1200" b="1" i="0">
                <a:solidFill>
                  <a:srgbClr val="9AA5B4"/>
                </a:solidFill>
                <a:latin typeface="Helvetica Neue"/>
              </a:rPr>
              <a:t>Data Federation Layer</a:t>
            </a:r>
          </a:p>
        </p:txBody>
      </p:sp>
      <p:sp>
        <p:nvSpPr>
          <p:cNvPr id="21" name="Oval 20"/>
          <p:cNvSpPr/>
          <p:nvPr/>
        </p:nvSpPr>
        <p:spPr>
          <a:xfrm>
            <a:off x="1316736" y="4882896"/>
            <a:ext cx="292608" cy="292608"/>
          </a:xfrm>
          <a:prstGeom prst="ellipse">
            <a:avLst/>
          </a:prstGeom>
          <a:solidFill>
            <a:srgbClr val="9AA5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316736" y="4882896"/>
            <a:ext cx="292608" cy="292608"/>
          </a:xfrm>
          <a:prstGeom prst="rect">
            <a:avLst/>
          </a:prstGeom>
          <a:noFill/>
        </p:spPr>
        <p:txBody>
          <a:bodyPr wrap="square" lIns="0" rIns="0" tIns="0" bIns="0" anchor="ctr">
            <a:spAutoFit/>
          </a:bodyPr>
          <a:lstStyle/>
          <a:p>
            <a:pPr algn="ctr">
              <a:lnSpc>
                <a:spcPct val="115000"/>
              </a:lnSpc>
            </a:pPr>
            <a:r>
              <a:rPr sz="1000" b="1" i="0">
                <a:solidFill>
                  <a:srgbClr val="FFFFFF"/>
                </a:solidFill>
                <a:latin typeface="Helvetica Neue"/>
              </a:rPr>
              <a:t>1</a:t>
            </a:r>
          </a:p>
        </p:txBody>
      </p:sp>
      <p:sp>
        <p:nvSpPr>
          <p:cNvPr id="23" name="Rounded Rectangle 22"/>
          <p:cNvSpPr/>
          <p:nvPr/>
        </p:nvSpPr>
        <p:spPr>
          <a:xfrm>
            <a:off x="4846320" y="4983480"/>
            <a:ext cx="2697480" cy="777240"/>
          </a:xfrm>
          <a:prstGeom prst="roundRect">
            <a:avLst/>
          </a:prstGeom>
          <a:solidFill>
            <a:srgbClr val="F1F4F8"/>
          </a:solidFill>
          <a:ln w="6350">
            <a:solidFill>
              <a:srgbClr val="E1E5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4846320" y="4983480"/>
            <a:ext cx="82296" cy="777240"/>
          </a:xfrm>
          <a:prstGeom prst="roundRect">
            <a:avLst/>
          </a:prstGeom>
          <a:solidFill>
            <a:srgbClr val="E1E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29200" y="5422392"/>
            <a:ext cx="2423160" cy="274320"/>
          </a:xfrm>
          <a:prstGeom prst="rect">
            <a:avLst/>
          </a:prstGeom>
          <a:noFill/>
        </p:spPr>
        <p:txBody>
          <a:bodyPr wrap="square" lIns="0" rIns="0" tIns="0" bIns="0" anchor="t">
            <a:spAutoFit/>
          </a:bodyPr>
          <a:lstStyle/>
          <a:p>
            <a:pPr algn="l">
              <a:lnSpc>
                <a:spcPct val="115000"/>
              </a:lnSpc>
            </a:pPr>
            <a:r>
              <a:rPr sz="900" b="1" i="0">
                <a:solidFill>
                  <a:srgbClr val="9AA5B4"/>
                </a:solidFill>
                <a:latin typeface="Helvetica Neue"/>
              </a:rPr>
              <a:t>CPL</a:t>
            </a:r>
          </a:p>
        </p:txBody>
      </p:sp>
      <p:sp>
        <p:nvSpPr>
          <p:cNvPr id="26" name="TextBox 25"/>
          <p:cNvSpPr txBox="1"/>
          <p:nvPr/>
        </p:nvSpPr>
        <p:spPr>
          <a:xfrm>
            <a:off x="5029200" y="5074920"/>
            <a:ext cx="2423160" cy="310896"/>
          </a:xfrm>
          <a:prstGeom prst="rect">
            <a:avLst/>
          </a:prstGeom>
          <a:noFill/>
        </p:spPr>
        <p:txBody>
          <a:bodyPr wrap="square" lIns="0" rIns="0" tIns="0" bIns="0" anchor="t">
            <a:spAutoFit/>
          </a:bodyPr>
          <a:lstStyle/>
          <a:p>
            <a:pPr algn="l">
              <a:lnSpc>
                <a:spcPct val="115000"/>
              </a:lnSpc>
            </a:pPr>
            <a:r>
              <a:rPr sz="1200" b="1" i="0">
                <a:solidFill>
                  <a:srgbClr val="9AA5B4"/>
                </a:solidFill>
                <a:latin typeface="Helvetica Neue"/>
              </a:rPr>
              <a:t>Context Processing Layer</a:t>
            </a:r>
          </a:p>
        </p:txBody>
      </p:sp>
      <p:sp>
        <p:nvSpPr>
          <p:cNvPr id="27" name="Oval 26"/>
          <p:cNvSpPr/>
          <p:nvPr/>
        </p:nvSpPr>
        <p:spPr>
          <a:xfrm>
            <a:off x="4745736" y="4882896"/>
            <a:ext cx="292608" cy="292608"/>
          </a:xfrm>
          <a:prstGeom prst="ellipse">
            <a:avLst/>
          </a:prstGeom>
          <a:solidFill>
            <a:srgbClr val="9AA5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745736" y="4882896"/>
            <a:ext cx="292608" cy="292608"/>
          </a:xfrm>
          <a:prstGeom prst="rect">
            <a:avLst/>
          </a:prstGeom>
          <a:noFill/>
        </p:spPr>
        <p:txBody>
          <a:bodyPr wrap="square" lIns="0" rIns="0" tIns="0" bIns="0" anchor="ctr">
            <a:spAutoFit/>
          </a:bodyPr>
          <a:lstStyle/>
          <a:p>
            <a:pPr algn="ctr">
              <a:lnSpc>
                <a:spcPct val="115000"/>
              </a:lnSpc>
            </a:pPr>
            <a:r>
              <a:rPr sz="1000" b="1" i="0">
                <a:solidFill>
                  <a:srgbClr val="FFFFFF"/>
                </a:solidFill>
                <a:latin typeface="Helvetica Neue"/>
              </a:rPr>
              <a:t>3</a:t>
            </a:r>
          </a:p>
        </p:txBody>
      </p:sp>
      <p:sp>
        <p:nvSpPr>
          <p:cNvPr id="29" name="Rounded Rectangle 28"/>
          <p:cNvSpPr/>
          <p:nvPr/>
        </p:nvSpPr>
        <p:spPr>
          <a:xfrm>
            <a:off x="1444752" y="3621024"/>
            <a:ext cx="6172200" cy="822960"/>
          </a:xfrm>
          <a:prstGeom prst="roundRect">
            <a:avLst/>
          </a:prstGeom>
          <a:solidFill>
            <a:srgbClr val="D5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1417320" y="3566160"/>
            <a:ext cx="6172200" cy="822960"/>
          </a:xfrm>
          <a:prstGeom prst="roundRect">
            <a:avLst/>
          </a:prstGeom>
          <a:solidFill>
            <a:srgbClr val="FFFFFF"/>
          </a:solidFill>
          <a:ln w="17780">
            <a:solidFill>
              <a:srgbClr val="0A2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1417320" y="3566160"/>
            <a:ext cx="82296" cy="822960"/>
          </a:xfrm>
          <a:prstGeom prst="round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6949440" y="4005072"/>
            <a:ext cx="502920" cy="274320"/>
          </a:xfrm>
          <a:prstGeom prst="round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949440" y="4005072"/>
            <a:ext cx="502920" cy="274320"/>
          </a:xfrm>
          <a:prstGeom prst="rect">
            <a:avLst/>
          </a:prstGeom>
          <a:noFill/>
        </p:spPr>
        <p:txBody>
          <a:bodyPr wrap="square" lIns="0" rIns="0" tIns="0" bIns="0" anchor="ctr">
            <a:spAutoFit/>
          </a:bodyPr>
          <a:lstStyle/>
          <a:p>
            <a:pPr algn="ctr">
              <a:lnSpc>
                <a:spcPct val="115000"/>
              </a:lnSpc>
            </a:pPr>
            <a:r>
              <a:rPr sz="900" b="1" i="0">
                <a:solidFill>
                  <a:srgbClr val="FFFFFF"/>
                </a:solidFill>
                <a:latin typeface="Helvetica Neue"/>
              </a:rPr>
              <a:t>CL</a:t>
            </a:r>
          </a:p>
        </p:txBody>
      </p:sp>
      <p:sp>
        <p:nvSpPr>
          <p:cNvPr id="34" name="TextBox 33"/>
          <p:cNvSpPr txBox="1"/>
          <p:nvPr/>
        </p:nvSpPr>
        <p:spPr>
          <a:xfrm>
            <a:off x="1600200" y="3657600"/>
            <a:ext cx="5897880" cy="310896"/>
          </a:xfrm>
          <a:prstGeom prst="rect">
            <a:avLst/>
          </a:prstGeom>
          <a:noFill/>
        </p:spPr>
        <p:txBody>
          <a:bodyPr wrap="square" lIns="0" rIns="0" tIns="0" bIns="0" anchor="t">
            <a:spAutoFit/>
          </a:bodyPr>
          <a:lstStyle/>
          <a:p>
            <a:pPr algn="l">
              <a:lnSpc>
                <a:spcPct val="115000"/>
              </a:lnSpc>
            </a:pPr>
            <a:r>
              <a:rPr sz="1200" b="1" i="0">
                <a:solidFill>
                  <a:srgbClr val="0A1628"/>
                </a:solidFill>
                <a:latin typeface="Helvetica Neue"/>
              </a:rPr>
              <a:t>Context Layer</a:t>
            </a:r>
          </a:p>
        </p:txBody>
      </p:sp>
      <p:sp>
        <p:nvSpPr>
          <p:cNvPr id="35" name="Oval 34"/>
          <p:cNvSpPr/>
          <p:nvPr/>
        </p:nvSpPr>
        <p:spPr>
          <a:xfrm>
            <a:off x="1316736" y="3465576"/>
            <a:ext cx="292608" cy="292608"/>
          </a:xfrm>
          <a:prstGeom prst="ellipse">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316736" y="3465576"/>
            <a:ext cx="292608" cy="292608"/>
          </a:xfrm>
          <a:prstGeom prst="rect">
            <a:avLst/>
          </a:prstGeom>
          <a:noFill/>
        </p:spPr>
        <p:txBody>
          <a:bodyPr wrap="square" lIns="0" rIns="0" tIns="0" bIns="0" anchor="ctr">
            <a:spAutoFit/>
          </a:bodyPr>
          <a:lstStyle/>
          <a:p>
            <a:pPr algn="ctr">
              <a:lnSpc>
                <a:spcPct val="115000"/>
              </a:lnSpc>
            </a:pPr>
            <a:r>
              <a:rPr sz="1000" b="1" i="0">
                <a:solidFill>
                  <a:srgbClr val="FFFFFF"/>
                </a:solidFill>
                <a:latin typeface="Helvetica Neue"/>
              </a:rPr>
              <a:t>2</a:t>
            </a:r>
          </a:p>
        </p:txBody>
      </p:sp>
      <p:sp>
        <p:nvSpPr>
          <p:cNvPr id="37" name="Rounded Rectangle 36"/>
          <p:cNvSpPr/>
          <p:nvPr/>
        </p:nvSpPr>
        <p:spPr>
          <a:xfrm>
            <a:off x="1417320" y="2194560"/>
            <a:ext cx="2514600" cy="777240"/>
          </a:xfrm>
          <a:prstGeom prst="roundRect">
            <a:avLst/>
          </a:prstGeom>
          <a:solidFill>
            <a:srgbClr val="F1F4F8"/>
          </a:solidFill>
          <a:ln w="6350">
            <a:solidFill>
              <a:srgbClr val="E1E5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1417320" y="2194560"/>
            <a:ext cx="82296" cy="777240"/>
          </a:xfrm>
          <a:prstGeom prst="roundRect">
            <a:avLst/>
          </a:prstGeom>
          <a:solidFill>
            <a:srgbClr val="E1E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600200" y="2633472"/>
            <a:ext cx="2240280" cy="274320"/>
          </a:xfrm>
          <a:prstGeom prst="rect">
            <a:avLst/>
          </a:prstGeom>
          <a:noFill/>
        </p:spPr>
        <p:txBody>
          <a:bodyPr wrap="square" lIns="0" rIns="0" tIns="0" bIns="0" anchor="t">
            <a:spAutoFit/>
          </a:bodyPr>
          <a:lstStyle/>
          <a:p>
            <a:pPr algn="l">
              <a:lnSpc>
                <a:spcPct val="115000"/>
              </a:lnSpc>
            </a:pPr>
            <a:r>
              <a:rPr sz="900" b="1" i="0">
                <a:solidFill>
                  <a:srgbClr val="9AA5B4"/>
                </a:solidFill>
                <a:latin typeface="Helvetica Neue"/>
              </a:rPr>
              <a:t>RIL</a:t>
            </a:r>
          </a:p>
        </p:txBody>
      </p:sp>
      <p:sp>
        <p:nvSpPr>
          <p:cNvPr id="40" name="TextBox 39"/>
          <p:cNvSpPr txBox="1"/>
          <p:nvPr/>
        </p:nvSpPr>
        <p:spPr>
          <a:xfrm>
            <a:off x="1600200" y="2286000"/>
            <a:ext cx="2240280" cy="310896"/>
          </a:xfrm>
          <a:prstGeom prst="rect">
            <a:avLst/>
          </a:prstGeom>
          <a:noFill/>
        </p:spPr>
        <p:txBody>
          <a:bodyPr wrap="square" lIns="0" rIns="0" tIns="0" bIns="0" anchor="t">
            <a:spAutoFit/>
          </a:bodyPr>
          <a:lstStyle/>
          <a:p>
            <a:pPr algn="l">
              <a:lnSpc>
                <a:spcPct val="115000"/>
              </a:lnSpc>
            </a:pPr>
            <a:r>
              <a:rPr sz="1200" b="1" i="0">
                <a:solidFill>
                  <a:srgbClr val="9AA5B4"/>
                </a:solidFill>
                <a:latin typeface="Helvetica Neue"/>
              </a:rPr>
              <a:t>Risk Intelligence Layer</a:t>
            </a:r>
          </a:p>
        </p:txBody>
      </p:sp>
      <p:sp>
        <p:nvSpPr>
          <p:cNvPr id="41" name="Oval 40"/>
          <p:cNvSpPr/>
          <p:nvPr/>
        </p:nvSpPr>
        <p:spPr>
          <a:xfrm>
            <a:off x="1316736" y="2093976"/>
            <a:ext cx="292608" cy="292608"/>
          </a:xfrm>
          <a:prstGeom prst="ellipse">
            <a:avLst/>
          </a:prstGeom>
          <a:solidFill>
            <a:srgbClr val="9AA5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316736" y="2093976"/>
            <a:ext cx="292608" cy="292608"/>
          </a:xfrm>
          <a:prstGeom prst="rect">
            <a:avLst/>
          </a:prstGeom>
          <a:noFill/>
        </p:spPr>
        <p:txBody>
          <a:bodyPr wrap="square" lIns="0" rIns="0" tIns="0" bIns="0" anchor="ctr">
            <a:spAutoFit/>
          </a:bodyPr>
          <a:lstStyle/>
          <a:p>
            <a:pPr algn="ctr">
              <a:lnSpc>
                <a:spcPct val="115000"/>
              </a:lnSpc>
            </a:pPr>
            <a:r>
              <a:rPr sz="1000" b="1" i="0">
                <a:solidFill>
                  <a:srgbClr val="FFFFFF"/>
                </a:solidFill>
                <a:latin typeface="Helvetica Neue"/>
              </a:rPr>
              <a:t>4</a:t>
            </a:r>
          </a:p>
        </p:txBody>
      </p:sp>
      <p:sp>
        <p:nvSpPr>
          <p:cNvPr id="43" name="Rounded Rectangle 42"/>
          <p:cNvSpPr/>
          <p:nvPr/>
        </p:nvSpPr>
        <p:spPr>
          <a:xfrm>
            <a:off x="4846320" y="2194560"/>
            <a:ext cx="2697480" cy="777240"/>
          </a:xfrm>
          <a:prstGeom prst="roundRect">
            <a:avLst/>
          </a:prstGeom>
          <a:solidFill>
            <a:srgbClr val="F1F4F8"/>
          </a:solidFill>
          <a:ln w="6350">
            <a:solidFill>
              <a:srgbClr val="E1E5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4846320" y="2194560"/>
            <a:ext cx="82296" cy="777240"/>
          </a:xfrm>
          <a:prstGeom prst="roundRect">
            <a:avLst/>
          </a:prstGeom>
          <a:solidFill>
            <a:srgbClr val="E1E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029200" y="2633472"/>
            <a:ext cx="2423160" cy="274320"/>
          </a:xfrm>
          <a:prstGeom prst="rect">
            <a:avLst/>
          </a:prstGeom>
          <a:noFill/>
        </p:spPr>
        <p:txBody>
          <a:bodyPr wrap="square" lIns="0" rIns="0" tIns="0" bIns="0" anchor="t">
            <a:spAutoFit/>
          </a:bodyPr>
          <a:lstStyle/>
          <a:p>
            <a:pPr algn="l">
              <a:lnSpc>
                <a:spcPct val="115000"/>
              </a:lnSpc>
            </a:pPr>
            <a:r>
              <a:rPr sz="900" b="1" i="0">
                <a:solidFill>
                  <a:srgbClr val="9AA5B4"/>
                </a:solidFill>
                <a:latin typeface="Helvetica Neue"/>
              </a:rPr>
              <a:t>FRL</a:t>
            </a:r>
          </a:p>
        </p:txBody>
      </p:sp>
      <p:sp>
        <p:nvSpPr>
          <p:cNvPr id="46" name="TextBox 45"/>
          <p:cNvSpPr txBox="1"/>
          <p:nvPr/>
        </p:nvSpPr>
        <p:spPr>
          <a:xfrm>
            <a:off x="5029200" y="2286000"/>
            <a:ext cx="2423160" cy="310896"/>
          </a:xfrm>
          <a:prstGeom prst="rect">
            <a:avLst/>
          </a:prstGeom>
          <a:noFill/>
        </p:spPr>
        <p:txBody>
          <a:bodyPr wrap="square" lIns="0" rIns="0" tIns="0" bIns="0" anchor="t">
            <a:spAutoFit/>
          </a:bodyPr>
          <a:lstStyle/>
          <a:p>
            <a:pPr algn="l">
              <a:lnSpc>
                <a:spcPct val="115000"/>
              </a:lnSpc>
            </a:pPr>
            <a:r>
              <a:rPr sz="1200" b="1" i="0">
                <a:solidFill>
                  <a:srgbClr val="9AA5B4"/>
                </a:solidFill>
                <a:latin typeface="Helvetica Neue"/>
              </a:rPr>
              <a:t>Feedback &amp; Refinement Layer</a:t>
            </a:r>
          </a:p>
        </p:txBody>
      </p:sp>
      <p:sp>
        <p:nvSpPr>
          <p:cNvPr id="47" name="Oval 46"/>
          <p:cNvSpPr/>
          <p:nvPr/>
        </p:nvSpPr>
        <p:spPr>
          <a:xfrm>
            <a:off x="4745736" y="2093976"/>
            <a:ext cx="292608" cy="292608"/>
          </a:xfrm>
          <a:prstGeom prst="ellipse">
            <a:avLst/>
          </a:prstGeom>
          <a:solidFill>
            <a:srgbClr val="9AA5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745736" y="2093976"/>
            <a:ext cx="292608" cy="292608"/>
          </a:xfrm>
          <a:prstGeom prst="rect">
            <a:avLst/>
          </a:prstGeom>
          <a:noFill/>
        </p:spPr>
        <p:txBody>
          <a:bodyPr wrap="square" lIns="0" rIns="0" tIns="0" bIns="0" anchor="ctr">
            <a:spAutoFit/>
          </a:bodyPr>
          <a:lstStyle/>
          <a:p>
            <a:pPr algn="ctr">
              <a:lnSpc>
                <a:spcPct val="115000"/>
              </a:lnSpc>
            </a:pPr>
            <a:r>
              <a:rPr sz="1000" b="1" i="0">
                <a:solidFill>
                  <a:srgbClr val="FFFFFF"/>
                </a:solidFill>
                <a:latin typeface="Helvetica Neue"/>
              </a:rPr>
              <a:t>5</a:t>
            </a:r>
          </a:p>
        </p:txBody>
      </p:sp>
      <p:sp>
        <p:nvSpPr>
          <p:cNvPr id="49" name="Rounded Rectangle 48"/>
          <p:cNvSpPr/>
          <p:nvPr/>
        </p:nvSpPr>
        <p:spPr>
          <a:xfrm>
            <a:off x="8321040" y="3566160"/>
            <a:ext cx="2194560" cy="822960"/>
          </a:xfrm>
          <a:prstGeom prst="roundRect">
            <a:avLst/>
          </a:prstGeom>
          <a:solidFill>
            <a:srgbClr val="F1F4F8"/>
          </a:solidFill>
          <a:ln w="6350">
            <a:solidFill>
              <a:srgbClr val="E1E5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8321040" y="3566160"/>
            <a:ext cx="82296" cy="822960"/>
          </a:xfrm>
          <a:prstGeom prst="roundRect">
            <a:avLst/>
          </a:prstGeom>
          <a:solidFill>
            <a:srgbClr val="E1E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503920" y="4005072"/>
            <a:ext cx="1920240" cy="274320"/>
          </a:xfrm>
          <a:prstGeom prst="rect">
            <a:avLst/>
          </a:prstGeom>
          <a:noFill/>
        </p:spPr>
        <p:txBody>
          <a:bodyPr wrap="square" lIns="0" rIns="0" tIns="0" bIns="0" anchor="t">
            <a:spAutoFit/>
          </a:bodyPr>
          <a:lstStyle/>
          <a:p>
            <a:pPr algn="l">
              <a:lnSpc>
                <a:spcPct val="115000"/>
              </a:lnSpc>
            </a:pPr>
            <a:r>
              <a:rPr sz="900" b="1" i="0">
                <a:solidFill>
                  <a:srgbClr val="9AA5B4"/>
                </a:solidFill>
                <a:latin typeface="Helvetica Neue"/>
              </a:rPr>
              <a:t>HIL</a:t>
            </a:r>
          </a:p>
        </p:txBody>
      </p:sp>
      <p:sp>
        <p:nvSpPr>
          <p:cNvPr id="52" name="TextBox 51"/>
          <p:cNvSpPr txBox="1"/>
          <p:nvPr/>
        </p:nvSpPr>
        <p:spPr>
          <a:xfrm>
            <a:off x="8503920" y="3657600"/>
            <a:ext cx="1920240" cy="310896"/>
          </a:xfrm>
          <a:prstGeom prst="rect">
            <a:avLst/>
          </a:prstGeom>
          <a:noFill/>
        </p:spPr>
        <p:txBody>
          <a:bodyPr wrap="square" lIns="0" rIns="0" tIns="0" bIns="0" anchor="t">
            <a:spAutoFit/>
          </a:bodyPr>
          <a:lstStyle/>
          <a:p>
            <a:pPr algn="l">
              <a:lnSpc>
                <a:spcPct val="115000"/>
              </a:lnSpc>
            </a:pPr>
            <a:r>
              <a:rPr sz="1200" b="1" i="0">
                <a:solidFill>
                  <a:srgbClr val="9AA5B4"/>
                </a:solidFill>
                <a:latin typeface="Helvetica Neue"/>
              </a:rPr>
              <a:t>Human Interaction Layer</a:t>
            </a:r>
          </a:p>
        </p:txBody>
      </p:sp>
      <p:sp>
        <p:nvSpPr>
          <p:cNvPr id="53" name="Oval 52"/>
          <p:cNvSpPr/>
          <p:nvPr/>
        </p:nvSpPr>
        <p:spPr>
          <a:xfrm>
            <a:off x="8220456" y="3465576"/>
            <a:ext cx="292608" cy="292608"/>
          </a:xfrm>
          <a:prstGeom prst="ellipse">
            <a:avLst/>
          </a:prstGeom>
          <a:solidFill>
            <a:srgbClr val="9AA5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220456" y="3465576"/>
            <a:ext cx="292608" cy="292608"/>
          </a:xfrm>
          <a:prstGeom prst="rect">
            <a:avLst/>
          </a:prstGeom>
          <a:noFill/>
        </p:spPr>
        <p:txBody>
          <a:bodyPr wrap="square" lIns="0" rIns="0" tIns="0" bIns="0" anchor="ctr">
            <a:spAutoFit/>
          </a:bodyPr>
          <a:lstStyle/>
          <a:p>
            <a:pPr algn="ctr">
              <a:lnSpc>
                <a:spcPct val="115000"/>
              </a:lnSpc>
            </a:pPr>
            <a:r>
              <a:rPr sz="1000" b="1" i="0">
                <a:solidFill>
                  <a:srgbClr val="FFFFFF"/>
                </a:solidFill>
                <a:latin typeface="Helvetica Neue"/>
              </a:rPr>
              <a:t>6</a:t>
            </a:r>
          </a:p>
        </p:txBody>
      </p:sp>
      <p:cxnSp>
        <p:nvCxnSpPr>
          <p:cNvPr id="55" name="Connector 54"/>
          <p:cNvCxnSpPr/>
          <p:nvPr/>
        </p:nvCxnSpPr>
        <p:spPr>
          <a:xfrm flipV="1">
            <a:off x="2674620" y="5760720"/>
            <a:ext cx="0" cy="365760"/>
          </a:xfrm>
          <a:prstGeom prst="line">
            <a:avLst/>
          </a:prstGeom>
          <a:ln w="11430">
            <a:solidFill>
              <a:srgbClr val="9AA5B4"/>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V="1">
            <a:off x="2674620" y="4389120"/>
            <a:ext cx="1828800" cy="594360"/>
          </a:xfrm>
          <a:prstGeom prst="line">
            <a:avLst/>
          </a:prstGeom>
          <a:ln w="24130">
            <a:solidFill>
              <a:srgbClr val="0A2540"/>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4503420" y="4389120"/>
            <a:ext cx="1691640" cy="594360"/>
          </a:xfrm>
          <a:prstGeom prst="line">
            <a:avLst/>
          </a:prstGeom>
          <a:ln w="24130">
            <a:solidFill>
              <a:srgbClr val="0A2540"/>
            </a:solidFill>
            <a:tailEnd type="triangle" w="med" h="med"/>
            <a:headEnd type="triangle" w="med" h="med"/>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flipV="1">
            <a:off x="2674620" y="2971800"/>
            <a:ext cx="1828800" cy="594360"/>
          </a:xfrm>
          <a:prstGeom prst="line">
            <a:avLst/>
          </a:prstGeom>
          <a:ln w="24130">
            <a:solidFill>
              <a:srgbClr val="0A2540"/>
            </a:solidFill>
            <a:tailEnd type="triangle" w="med" h="med"/>
            <a:headEnd type="triangle" w="med" h="med"/>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7589520" y="3977640"/>
            <a:ext cx="731520" cy="0"/>
          </a:xfrm>
          <a:prstGeom prst="line">
            <a:avLst/>
          </a:prstGeom>
          <a:ln w="24130">
            <a:solidFill>
              <a:srgbClr val="0A2540"/>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10515600" y="3977640"/>
            <a:ext cx="182880" cy="22859"/>
          </a:xfrm>
          <a:prstGeom prst="line">
            <a:avLst/>
          </a:prstGeom>
          <a:ln w="11430">
            <a:solidFill>
              <a:srgbClr val="9AA5B4"/>
            </a:solidFill>
            <a:tailEnd type="triangle" w="med" h="med"/>
            <a:headEnd type="triangle" w="med" h="med"/>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3931920" y="2583180"/>
            <a:ext cx="914400" cy="0"/>
          </a:xfrm>
          <a:prstGeom prst="line">
            <a:avLst/>
          </a:prstGeom>
          <a:ln w="11430">
            <a:solidFill>
              <a:srgbClr val="9AA5B4"/>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a:off x="4503420" y="2971800"/>
            <a:ext cx="1691640" cy="594360"/>
          </a:xfrm>
          <a:prstGeom prst="line">
            <a:avLst/>
          </a:prstGeom>
          <a:ln w="24130">
            <a:solidFill>
              <a:srgbClr val="3B6FA8"/>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flipV="1">
            <a:off x="7543800" y="2583180"/>
            <a:ext cx="1874520" cy="982980"/>
          </a:xfrm>
          <a:prstGeom prst="line">
            <a:avLst/>
          </a:prstGeom>
          <a:ln w="11430">
            <a:solidFill>
              <a:srgbClr val="9AA5B4"/>
            </a:solidFill>
            <a:tailEnd type="triangle" w="med" h="med"/>
          </a:ln>
        </p:spPr>
        <p:style>
          <a:lnRef idx="2">
            <a:schemeClr val="accent1"/>
          </a:lnRef>
          <a:fillRef idx="0">
            <a:schemeClr val="accent1"/>
          </a:fillRef>
          <a:effectRef idx="1">
            <a:schemeClr val="accent1"/>
          </a:effectRef>
          <a:fontRef idx="minor">
            <a:schemeClr val="tx1"/>
          </a:fontRef>
        </p:style>
      </p:cxnSp>
      <p:sp>
        <p:nvSpPr>
          <p:cNvPr id="64" name="Rounded Rectangle 63"/>
          <p:cNvSpPr/>
          <p:nvPr/>
        </p:nvSpPr>
        <p:spPr>
          <a:xfrm>
            <a:off x="2125980" y="4544568"/>
            <a:ext cx="1600200" cy="2743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2125980" y="4544568"/>
            <a:ext cx="1600200" cy="274320"/>
          </a:xfrm>
          <a:prstGeom prst="rect">
            <a:avLst/>
          </a:prstGeom>
          <a:noFill/>
        </p:spPr>
        <p:txBody>
          <a:bodyPr wrap="square" lIns="0" rIns="0" tIns="0" bIns="0" anchor="ctr">
            <a:spAutoFit/>
          </a:bodyPr>
          <a:lstStyle/>
          <a:p>
            <a:pPr algn="ctr">
              <a:lnSpc>
                <a:spcPct val="115000"/>
              </a:lnSpc>
            </a:pPr>
            <a:r>
              <a:rPr sz="800" b="0" i="0">
                <a:solidFill>
                  <a:srgbClr val="0A2540"/>
                </a:solidFill>
                <a:latin typeface="Helvetica Neue"/>
              </a:rPr>
              <a:t>normalised telemetry</a:t>
            </a:r>
          </a:p>
        </p:txBody>
      </p:sp>
      <p:sp>
        <p:nvSpPr>
          <p:cNvPr id="66" name="Rounded Rectangle 65"/>
          <p:cNvSpPr/>
          <p:nvPr/>
        </p:nvSpPr>
        <p:spPr>
          <a:xfrm>
            <a:off x="5234940" y="4544568"/>
            <a:ext cx="1600200" cy="2743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5234940" y="4544568"/>
            <a:ext cx="1600200" cy="274320"/>
          </a:xfrm>
          <a:prstGeom prst="rect">
            <a:avLst/>
          </a:prstGeom>
          <a:noFill/>
        </p:spPr>
        <p:txBody>
          <a:bodyPr wrap="square" lIns="0" rIns="0" tIns="0" bIns="0" anchor="ctr">
            <a:spAutoFit/>
          </a:bodyPr>
          <a:lstStyle/>
          <a:p>
            <a:pPr algn="ctr">
              <a:lnSpc>
                <a:spcPct val="115000"/>
              </a:lnSpc>
            </a:pPr>
            <a:r>
              <a:rPr sz="800" b="0" i="0">
                <a:solidFill>
                  <a:srgbClr val="0A2540"/>
                </a:solidFill>
                <a:latin typeface="Helvetica Neue"/>
              </a:rPr>
              <a:t>context enrichment</a:t>
            </a:r>
          </a:p>
        </p:txBody>
      </p:sp>
      <p:sp>
        <p:nvSpPr>
          <p:cNvPr id="68" name="Rounded Rectangle 67"/>
          <p:cNvSpPr/>
          <p:nvPr/>
        </p:nvSpPr>
        <p:spPr>
          <a:xfrm>
            <a:off x="2171700" y="3108960"/>
            <a:ext cx="1691640" cy="2743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2171700" y="3108960"/>
            <a:ext cx="1691640" cy="274320"/>
          </a:xfrm>
          <a:prstGeom prst="rect">
            <a:avLst/>
          </a:prstGeom>
          <a:noFill/>
        </p:spPr>
        <p:txBody>
          <a:bodyPr wrap="square" lIns="0" rIns="0" tIns="0" bIns="0" anchor="ctr">
            <a:spAutoFit/>
          </a:bodyPr>
          <a:lstStyle/>
          <a:p>
            <a:pPr algn="ctr">
              <a:lnSpc>
                <a:spcPct val="115000"/>
              </a:lnSpc>
            </a:pPr>
            <a:r>
              <a:rPr sz="800" b="0" i="0">
                <a:solidFill>
                  <a:srgbClr val="0A2540"/>
                </a:solidFill>
                <a:latin typeface="Helvetica Neue"/>
              </a:rPr>
              <a:t>context &amp; assessment</a:t>
            </a:r>
          </a:p>
        </p:txBody>
      </p:sp>
      <p:sp>
        <p:nvSpPr>
          <p:cNvPr id="70" name="Rounded Rectangle 69"/>
          <p:cNvSpPr/>
          <p:nvPr/>
        </p:nvSpPr>
        <p:spPr>
          <a:xfrm>
            <a:off x="7598663" y="3840479"/>
            <a:ext cx="713232" cy="2743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7598663" y="3840479"/>
            <a:ext cx="713232" cy="274320"/>
          </a:xfrm>
          <a:prstGeom prst="rect">
            <a:avLst/>
          </a:prstGeom>
          <a:noFill/>
        </p:spPr>
        <p:txBody>
          <a:bodyPr wrap="square" lIns="0" rIns="0" tIns="0" bIns="0" anchor="ctr">
            <a:spAutoFit/>
          </a:bodyPr>
          <a:lstStyle/>
          <a:p>
            <a:pPr algn="ctr">
              <a:lnSpc>
                <a:spcPct val="115000"/>
              </a:lnSpc>
            </a:pPr>
            <a:r>
              <a:rPr sz="800" b="0" i="0">
                <a:solidFill>
                  <a:srgbClr val="0A2540"/>
                </a:solidFill>
                <a:latin typeface="Helvetica Neue"/>
              </a:rPr>
              <a:t>risk profile</a:t>
            </a:r>
          </a:p>
        </p:txBody>
      </p:sp>
      <p:sp>
        <p:nvSpPr>
          <p:cNvPr id="72" name="Rounded Rectangle 71"/>
          <p:cNvSpPr/>
          <p:nvPr/>
        </p:nvSpPr>
        <p:spPr>
          <a:xfrm>
            <a:off x="5623560" y="3108960"/>
            <a:ext cx="1188720" cy="2743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5623560" y="3108960"/>
            <a:ext cx="1188720" cy="274320"/>
          </a:xfrm>
          <a:prstGeom prst="rect">
            <a:avLst/>
          </a:prstGeom>
          <a:noFill/>
        </p:spPr>
        <p:txBody>
          <a:bodyPr wrap="square" lIns="0" rIns="0" tIns="0" bIns="0" anchor="ctr">
            <a:spAutoFit/>
          </a:bodyPr>
          <a:lstStyle/>
          <a:p>
            <a:pPr algn="ctr">
              <a:lnSpc>
                <a:spcPct val="115000"/>
              </a:lnSpc>
            </a:pPr>
            <a:r>
              <a:rPr sz="800" b="0" i="0">
                <a:solidFill>
                  <a:srgbClr val="3B6FA8"/>
                </a:solidFill>
                <a:latin typeface="Helvetica Neue"/>
              </a:rPr>
              <a:t>model updates</a:t>
            </a:r>
          </a:p>
        </p:txBody>
      </p:sp>
      <p:sp>
        <p:nvSpPr>
          <p:cNvPr id="74" name="Rectangle 73"/>
          <p:cNvSpPr/>
          <p:nvPr/>
        </p:nvSpPr>
        <p:spPr>
          <a:xfrm>
            <a:off x="7772400" y="6409944"/>
            <a:ext cx="256032" cy="4572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8138160" y="6309360"/>
            <a:ext cx="1463040" cy="256032"/>
          </a:xfrm>
          <a:prstGeom prst="rect">
            <a:avLst/>
          </a:prstGeom>
          <a:noFill/>
        </p:spPr>
        <p:txBody>
          <a:bodyPr wrap="square" lIns="0" rIns="0" tIns="0" bIns="0" anchor="ctr">
            <a:spAutoFit/>
          </a:bodyPr>
          <a:lstStyle/>
          <a:p>
            <a:pPr algn="l">
              <a:lnSpc>
                <a:spcPct val="115000"/>
              </a:lnSpc>
            </a:pPr>
            <a:r>
              <a:rPr sz="900" b="0" i="0">
                <a:solidFill>
                  <a:srgbClr val="4A5C74"/>
                </a:solidFill>
                <a:latin typeface="Helvetica Neue"/>
              </a:rPr>
              <a:t>Data path (up)</a:t>
            </a:r>
          </a:p>
        </p:txBody>
      </p:sp>
      <p:sp>
        <p:nvSpPr>
          <p:cNvPr id="76" name="Rectangle 75"/>
          <p:cNvSpPr/>
          <p:nvPr/>
        </p:nvSpPr>
        <p:spPr>
          <a:xfrm>
            <a:off x="9692640" y="6409944"/>
            <a:ext cx="256032" cy="45720"/>
          </a:xfrm>
          <a:prstGeom prst="rect">
            <a:avLst/>
          </a:prstGeom>
          <a:solidFill>
            <a:srgbClr val="3B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10058400" y="6309360"/>
            <a:ext cx="2011680" cy="256032"/>
          </a:xfrm>
          <a:prstGeom prst="rect">
            <a:avLst/>
          </a:prstGeom>
          <a:noFill/>
        </p:spPr>
        <p:txBody>
          <a:bodyPr wrap="square" lIns="0" rIns="0" tIns="0" bIns="0" anchor="ctr">
            <a:spAutoFit/>
          </a:bodyPr>
          <a:lstStyle/>
          <a:p>
            <a:pPr algn="l">
              <a:lnSpc>
                <a:spcPct val="115000"/>
              </a:lnSpc>
            </a:pPr>
            <a:r>
              <a:rPr sz="900" b="0" i="0">
                <a:solidFill>
                  <a:srgbClr val="4A5C74"/>
                </a:solidFill>
                <a:latin typeface="Helvetica Neue"/>
              </a:rPr>
              <a:t>Feedback path (down)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972800" cy="256032"/>
          </a:xfrm>
          <a:prstGeom prst="rect">
            <a:avLst/>
          </a:prstGeom>
          <a:noFill/>
        </p:spPr>
        <p:txBody>
          <a:bodyPr wrap="square" lIns="0" rIns="0" tIns="0" bIns="0" anchor="t">
            <a:spAutoFit/>
          </a:bodyPr>
          <a:lstStyle/>
          <a:p>
            <a:pPr algn="l">
              <a:lnSpc>
                <a:spcPct val="115000"/>
              </a:lnSpc>
            </a:pPr>
            <a:r>
              <a:rPr sz="900" b="1" i="0" spc="250">
                <a:solidFill>
                  <a:srgbClr val="0A2540"/>
                </a:solidFill>
                <a:latin typeface="Helvetica Neue"/>
              </a:rPr>
              <a:t>LAYER 4 OF 6 · RIL</a:t>
            </a:r>
          </a:p>
        </p:txBody>
      </p:sp>
      <p:sp>
        <p:nvSpPr>
          <p:cNvPr id="4" name="TextBox 3"/>
          <p:cNvSpPr txBox="1"/>
          <p:nvPr/>
        </p:nvSpPr>
        <p:spPr>
          <a:xfrm>
            <a:off x="731520" y="713232"/>
            <a:ext cx="10972800" cy="502920"/>
          </a:xfrm>
          <a:prstGeom prst="rect">
            <a:avLst/>
          </a:prstGeom>
          <a:noFill/>
        </p:spPr>
        <p:txBody>
          <a:bodyPr wrap="square" lIns="0" rIns="0" tIns="0" bIns="0" anchor="t">
            <a:spAutoFit/>
          </a:bodyPr>
          <a:lstStyle/>
          <a:p>
            <a:pPr algn="l">
              <a:lnSpc>
                <a:spcPct val="115000"/>
              </a:lnSpc>
            </a:pPr>
            <a:r>
              <a:rPr sz="2400" b="1" i="0">
                <a:solidFill>
                  <a:srgbClr val="0A1628"/>
                </a:solidFill>
                <a:latin typeface="Helvetica Neue"/>
              </a:rPr>
              <a:t>Risk Intelligence Layer</a:t>
            </a:r>
          </a:p>
        </p:txBody>
      </p:sp>
      <p:sp>
        <p:nvSpPr>
          <p:cNvPr id="5" name="TextBox 4"/>
          <p:cNvSpPr txBox="1"/>
          <p:nvPr/>
        </p:nvSpPr>
        <p:spPr>
          <a:xfrm>
            <a:off x="731520" y="1234440"/>
            <a:ext cx="10972800" cy="292608"/>
          </a:xfrm>
          <a:prstGeom prst="rect">
            <a:avLst/>
          </a:prstGeom>
          <a:noFill/>
        </p:spPr>
        <p:txBody>
          <a:bodyPr wrap="square" lIns="0" rIns="0" tIns="0" bIns="0" anchor="t">
            <a:spAutoFit/>
          </a:bodyPr>
          <a:lstStyle/>
          <a:p>
            <a:pPr algn="l">
              <a:lnSpc>
                <a:spcPct val="115000"/>
              </a:lnSpc>
            </a:pPr>
            <a:r>
              <a:rPr sz="1200" b="0" i="1">
                <a:solidFill>
                  <a:srgbClr val="4A5C74"/>
                </a:solidFill>
                <a:latin typeface="Helvetica Neue"/>
              </a:rPr>
              <a:t>Assigns a severity score from the enriched context.</a:t>
            </a:r>
          </a:p>
        </p:txBody>
      </p:sp>
      <p:sp>
        <p:nvSpPr>
          <p:cNvPr id="6" name="Rectangle 5"/>
          <p:cNvSpPr/>
          <p:nvPr/>
        </p:nvSpPr>
        <p:spPr>
          <a:xfrm>
            <a:off x="731520" y="1572768"/>
            <a:ext cx="457200" cy="32004"/>
          </a:xfrm>
          <a:prstGeom prst="rect">
            <a:avLst/>
          </a:prstGeom>
          <a:solidFill>
            <a:srgbClr val="1B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68680" y="2011680"/>
            <a:ext cx="10515600" cy="3840480"/>
          </a:xfrm>
          <a:prstGeom prst="roundRect">
            <a:avLst/>
          </a:prstGeom>
          <a:noFill/>
          <a:ln w="12700">
            <a:solidFill>
              <a:srgbClr val="9AA5B4"/>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6172200"/>
            <a:ext cx="548640" cy="411480"/>
          </a:xfrm>
          <a:prstGeom prst="rect">
            <a:avLst/>
          </a:prstGeom>
          <a:noFill/>
        </p:spPr>
        <p:txBody>
          <a:bodyPr wrap="square" lIns="0" rIns="0" tIns="0" bIns="0" anchor="t">
            <a:spAutoFit/>
          </a:bodyPr>
          <a:lstStyle/>
          <a:p>
            <a:pPr algn="l">
              <a:lnSpc>
                <a:spcPct val="115000"/>
              </a:lnSpc>
            </a:pPr>
            <a:r>
              <a:rPr sz="700" b="0" i="0">
                <a:solidFill>
                  <a:srgbClr val="9AA5B4"/>
                </a:solidFill>
                <a:latin typeface="Helvetica Neue"/>
              </a:rPr>
              <a:t>CAPRA</a:t>
            </a:r>
          </a:p>
          <a:p>
            <a:pPr algn="l">
              <a:lnSpc>
                <a:spcPct val="115000"/>
              </a:lnSpc>
            </a:pPr>
            <a:r>
              <a:rPr sz="700" b="0" i="0">
                <a:solidFill>
                  <a:srgbClr val="9AA5B4"/>
                </a:solidFill>
                <a:latin typeface="Helvetica Neue"/>
              </a:rPr>
              <a:t>System</a:t>
            </a:r>
          </a:p>
          <a:p>
            <a:pPr algn="l">
              <a:lnSpc>
                <a:spcPct val="115000"/>
              </a:lnSpc>
            </a:pPr>
            <a:r>
              <a:rPr sz="700" b="0" i="0">
                <a:solidFill>
                  <a:srgbClr val="9AA5B4"/>
                </a:solidFill>
                <a:latin typeface="Helvetica Neue"/>
              </a:rPr>
              <a:t>Boundary</a:t>
            </a:r>
          </a:p>
        </p:txBody>
      </p:sp>
      <p:sp>
        <p:nvSpPr>
          <p:cNvPr id="9" name="Rounded Rectangle 8"/>
          <p:cNvSpPr/>
          <p:nvPr/>
        </p:nvSpPr>
        <p:spPr>
          <a:xfrm>
            <a:off x="1417320" y="6126480"/>
            <a:ext cx="2514600" cy="457200"/>
          </a:xfrm>
          <a:prstGeom prst="roundRect">
            <a:avLst/>
          </a:prstGeom>
          <a:solidFill>
            <a:srgbClr val="F1F4F8"/>
          </a:solidFill>
          <a:ln w="6350">
            <a:solidFill>
              <a:srgbClr val="E1E5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17320" y="6126480"/>
            <a:ext cx="2514600" cy="457200"/>
          </a:xfrm>
          <a:prstGeom prst="rect">
            <a:avLst/>
          </a:prstGeom>
          <a:noFill/>
        </p:spPr>
        <p:txBody>
          <a:bodyPr wrap="square" lIns="0" rIns="0" tIns="0" bIns="0" anchor="ctr">
            <a:spAutoFit/>
          </a:bodyPr>
          <a:lstStyle/>
          <a:p>
            <a:pPr algn="ctr">
              <a:lnSpc>
                <a:spcPct val="115000"/>
              </a:lnSpc>
            </a:pPr>
            <a:r>
              <a:rPr sz="1000" b="1" i="0">
                <a:solidFill>
                  <a:srgbClr val="4A5C74"/>
                </a:solidFill>
                <a:latin typeface="Helvetica Neue"/>
              </a:rPr>
              <a:t>External Systems</a:t>
            </a:r>
          </a:p>
        </p:txBody>
      </p:sp>
      <p:sp>
        <p:nvSpPr>
          <p:cNvPr id="11" name="Oval 10"/>
          <p:cNvSpPr/>
          <p:nvPr/>
        </p:nvSpPr>
        <p:spPr>
          <a:xfrm>
            <a:off x="1316736" y="6025896"/>
            <a:ext cx="292608" cy="292608"/>
          </a:xfrm>
          <a:prstGeom prst="ellipse">
            <a:avLst/>
          </a:prstGeom>
          <a:solidFill>
            <a:srgbClr val="9AA5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316736" y="6025896"/>
            <a:ext cx="292608" cy="292608"/>
          </a:xfrm>
          <a:prstGeom prst="rect">
            <a:avLst/>
          </a:prstGeom>
          <a:noFill/>
        </p:spPr>
        <p:txBody>
          <a:bodyPr wrap="square" lIns="0" rIns="0" tIns="0" bIns="0" anchor="ctr">
            <a:spAutoFit/>
          </a:bodyPr>
          <a:lstStyle/>
          <a:p>
            <a:pPr algn="ctr">
              <a:lnSpc>
                <a:spcPct val="115000"/>
              </a:lnSpc>
            </a:pPr>
            <a:r>
              <a:rPr sz="1000" b="1" i="0">
                <a:solidFill>
                  <a:srgbClr val="FFFFFF"/>
                </a:solidFill>
                <a:latin typeface="Helvetica Neue"/>
              </a:rPr>
              <a:t>0</a:t>
            </a:r>
          </a:p>
        </p:txBody>
      </p:sp>
      <p:sp>
        <p:nvSpPr>
          <p:cNvPr id="13" name="Oval 12"/>
          <p:cNvSpPr/>
          <p:nvPr/>
        </p:nvSpPr>
        <p:spPr>
          <a:xfrm>
            <a:off x="10698480" y="3749039"/>
            <a:ext cx="914400" cy="502920"/>
          </a:xfrm>
          <a:prstGeom prst="ellipse">
            <a:avLst/>
          </a:prstGeom>
          <a:solidFill>
            <a:srgbClr val="F1F4F8"/>
          </a:solidFill>
          <a:ln w="6350">
            <a:solidFill>
              <a:srgbClr val="E1E5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698480" y="3749039"/>
            <a:ext cx="914400" cy="502920"/>
          </a:xfrm>
          <a:prstGeom prst="rect">
            <a:avLst/>
          </a:prstGeom>
          <a:noFill/>
        </p:spPr>
        <p:txBody>
          <a:bodyPr wrap="square" lIns="0" rIns="0" tIns="0" bIns="0" anchor="ctr">
            <a:spAutoFit/>
          </a:bodyPr>
          <a:lstStyle/>
          <a:p>
            <a:pPr algn="ctr">
              <a:lnSpc>
                <a:spcPct val="115000"/>
              </a:lnSpc>
            </a:pPr>
            <a:r>
              <a:rPr sz="1000" b="1" i="0">
                <a:solidFill>
                  <a:srgbClr val="4A5C74"/>
                </a:solidFill>
                <a:latin typeface="Helvetica Neue"/>
              </a:rPr>
              <a:t>Human</a:t>
            </a:r>
          </a:p>
        </p:txBody>
      </p:sp>
      <p:sp>
        <p:nvSpPr>
          <p:cNvPr id="15" name="Oval 14"/>
          <p:cNvSpPr/>
          <p:nvPr/>
        </p:nvSpPr>
        <p:spPr>
          <a:xfrm>
            <a:off x="10597896" y="3648455"/>
            <a:ext cx="292608" cy="292608"/>
          </a:xfrm>
          <a:prstGeom prst="ellipse">
            <a:avLst/>
          </a:prstGeom>
          <a:solidFill>
            <a:srgbClr val="9AA5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97896" y="3648455"/>
            <a:ext cx="292608" cy="292608"/>
          </a:xfrm>
          <a:prstGeom prst="rect">
            <a:avLst/>
          </a:prstGeom>
          <a:noFill/>
        </p:spPr>
        <p:txBody>
          <a:bodyPr wrap="square" lIns="0" rIns="0" tIns="0" bIns="0" anchor="ctr">
            <a:spAutoFit/>
          </a:bodyPr>
          <a:lstStyle/>
          <a:p>
            <a:pPr algn="ctr">
              <a:lnSpc>
                <a:spcPct val="115000"/>
              </a:lnSpc>
            </a:pPr>
            <a:r>
              <a:rPr sz="1000" b="1" i="0">
                <a:solidFill>
                  <a:srgbClr val="FFFFFF"/>
                </a:solidFill>
                <a:latin typeface="Helvetica Neue"/>
              </a:rPr>
              <a:t>7</a:t>
            </a:r>
          </a:p>
        </p:txBody>
      </p:sp>
      <p:sp>
        <p:nvSpPr>
          <p:cNvPr id="17" name="Rounded Rectangle 16"/>
          <p:cNvSpPr/>
          <p:nvPr/>
        </p:nvSpPr>
        <p:spPr>
          <a:xfrm>
            <a:off x="1417320" y="4983480"/>
            <a:ext cx="2514600" cy="777240"/>
          </a:xfrm>
          <a:prstGeom prst="roundRect">
            <a:avLst/>
          </a:prstGeom>
          <a:solidFill>
            <a:srgbClr val="F1F4F8"/>
          </a:solidFill>
          <a:ln w="6350">
            <a:solidFill>
              <a:srgbClr val="E1E5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417320" y="4983480"/>
            <a:ext cx="82296" cy="777240"/>
          </a:xfrm>
          <a:prstGeom prst="roundRect">
            <a:avLst/>
          </a:prstGeom>
          <a:solidFill>
            <a:srgbClr val="E1E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600200" y="5422392"/>
            <a:ext cx="2240280" cy="274320"/>
          </a:xfrm>
          <a:prstGeom prst="rect">
            <a:avLst/>
          </a:prstGeom>
          <a:noFill/>
        </p:spPr>
        <p:txBody>
          <a:bodyPr wrap="square" lIns="0" rIns="0" tIns="0" bIns="0" anchor="t">
            <a:spAutoFit/>
          </a:bodyPr>
          <a:lstStyle/>
          <a:p>
            <a:pPr algn="l">
              <a:lnSpc>
                <a:spcPct val="115000"/>
              </a:lnSpc>
            </a:pPr>
            <a:r>
              <a:rPr sz="900" b="1" i="0">
                <a:solidFill>
                  <a:srgbClr val="9AA5B4"/>
                </a:solidFill>
                <a:latin typeface="Helvetica Neue"/>
              </a:rPr>
              <a:t>DFL</a:t>
            </a:r>
          </a:p>
        </p:txBody>
      </p:sp>
      <p:sp>
        <p:nvSpPr>
          <p:cNvPr id="20" name="TextBox 19"/>
          <p:cNvSpPr txBox="1"/>
          <p:nvPr/>
        </p:nvSpPr>
        <p:spPr>
          <a:xfrm>
            <a:off x="1600200" y="5074920"/>
            <a:ext cx="2240280" cy="310896"/>
          </a:xfrm>
          <a:prstGeom prst="rect">
            <a:avLst/>
          </a:prstGeom>
          <a:noFill/>
        </p:spPr>
        <p:txBody>
          <a:bodyPr wrap="square" lIns="0" rIns="0" tIns="0" bIns="0" anchor="t">
            <a:spAutoFit/>
          </a:bodyPr>
          <a:lstStyle/>
          <a:p>
            <a:pPr algn="l">
              <a:lnSpc>
                <a:spcPct val="115000"/>
              </a:lnSpc>
            </a:pPr>
            <a:r>
              <a:rPr sz="1200" b="1" i="0">
                <a:solidFill>
                  <a:srgbClr val="9AA5B4"/>
                </a:solidFill>
                <a:latin typeface="Helvetica Neue"/>
              </a:rPr>
              <a:t>Data Federation Layer</a:t>
            </a:r>
          </a:p>
        </p:txBody>
      </p:sp>
      <p:sp>
        <p:nvSpPr>
          <p:cNvPr id="21" name="Oval 20"/>
          <p:cNvSpPr/>
          <p:nvPr/>
        </p:nvSpPr>
        <p:spPr>
          <a:xfrm>
            <a:off x="1316736" y="4882896"/>
            <a:ext cx="292608" cy="292608"/>
          </a:xfrm>
          <a:prstGeom prst="ellipse">
            <a:avLst/>
          </a:prstGeom>
          <a:solidFill>
            <a:srgbClr val="9AA5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316736" y="4882896"/>
            <a:ext cx="292608" cy="292608"/>
          </a:xfrm>
          <a:prstGeom prst="rect">
            <a:avLst/>
          </a:prstGeom>
          <a:noFill/>
        </p:spPr>
        <p:txBody>
          <a:bodyPr wrap="square" lIns="0" rIns="0" tIns="0" bIns="0" anchor="ctr">
            <a:spAutoFit/>
          </a:bodyPr>
          <a:lstStyle/>
          <a:p>
            <a:pPr algn="ctr">
              <a:lnSpc>
                <a:spcPct val="115000"/>
              </a:lnSpc>
            </a:pPr>
            <a:r>
              <a:rPr sz="1000" b="1" i="0">
                <a:solidFill>
                  <a:srgbClr val="FFFFFF"/>
                </a:solidFill>
                <a:latin typeface="Helvetica Neue"/>
              </a:rPr>
              <a:t>1</a:t>
            </a:r>
          </a:p>
        </p:txBody>
      </p:sp>
      <p:sp>
        <p:nvSpPr>
          <p:cNvPr id="23" name="Rounded Rectangle 22"/>
          <p:cNvSpPr/>
          <p:nvPr/>
        </p:nvSpPr>
        <p:spPr>
          <a:xfrm>
            <a:off x="4846320" y="4983480"/>
            <a:ext cx="2697480" cy="777240"/>
          </a:xfrm>
          <a:prstGeom prst="roundRect">
            <a:avLst/>
          </a:prstGeom>
          <a:solidFill>
            <a:srgbClr val="F1F4F8"/>
          </a:solidFill>
          <a:ln w="6350">
            <a:solidFill>
              <a:srgbClr val="E1E5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4846320" y="4983480"/>
            <a:ext cx="82296" cy="777240"/>
          </a:xfrm>
          <a:prstGeom prst="roundRect">
            <a:avLst/>
          </a:prstGeom>
          <a:solidFill>
            <a:srgbClr val="E1E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29200" y="5422392"/>
            <a:ext cx="2423160" cy="274320"/>
          </a:xfrm>
          <a:prstGeom prst="rect">
            <a:avLst/>
          </a:prstGeom>
          <a:noFill/>
        </p:spPr>
        <p:txBody>
          <a:bodyPr wrap="square" lIns="0" rIns="0" tIns="0" bIns="0" anchor="t">
            <a:spAutoFit/>
          </a:bodyPr>
          <a:lstStyle/>
          <a:p>
            <a:pPr algn="l">
              <a:lnSpc>
                <a:spcPct val="115000"/>
              </a:lnSpc>
            </a:pPr>
            <a:r>
              <a:rPr sz="900" b="1" i="0">
                <a:solidFill>
                  <a:srgbClr val="9AA5B4"/>
                </a:solidFill>
                <a:latin typeface="Helvetica Neue"/>
              </a:rPr>
              <a:t>CPL</a:t>
            </a:r>
          </a:p>
        </p:txBody>
      </p:sp>
      <p:sp>
        <p:nvSpPr>
          <p:cNvPr id="26" name="TextBox 25"/>
          <p:cNvSpPr txBox="1"/>
          <p:nvPr/>
        </p:nvSpPr>
        <p:spPr>
          <a:xfrm>
            <a:off x="5029200" y="5074920"/>
            <a:ext cx="2423160" cy="310896"/>
          </a:xfrm>
          <a:prstGeom prst="rect">
            <a:avLst/>
          </a:prstGeom>
          <a:noFill/>
        </p:spPr>
        <p:txBody>
          <a:bodyPr wrap="square" lIns="0" rIns="0" tIns="0" bIns="0" anchor="t">
            <a:spAutoFit/>
          </a:bodyPr>
          <a:lstStyle/>
          <a:p>
            <a:pPr algn="l">
              <a:lnSpc>
                <a:spcPct val="115000"/>
              </a:lnSpc>
            </a:pPr>
            <a:r>
              <a:rPr sz="1200" b="1" i="0">
                <a:solidFill>
                  <a:srgbClr val="9AA5B4"/>
                </a:solidFill>
                <a:latin typeface="Helvetica Neue"/>
              </a:rPr>
              <a:t>Context Processing Layer</a:t>
            </a:r>
          </a:p>
        </p:txBody>
      </p:sp>
      <p:sp>
        <p:nvSpPr>
          <p:cNvPr id="27" name="Oval 26"/>
          <p:cNvSpPr/>
          <p:nvPr/>
        </p:nvSpPr>
        <p:spPr>
          <a:xfrm>
            <a:off x="4745736" y="4882896"/>
            <a:ext cx="292608" cy="292608"/>
          </a:xfrm>
          <a:prstGeom prst="ellipse">
            <a:avLst/>
          </a:prstGeom>
          <a:solidFill>
            <a:srgbClr val="9AA5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745736" y="4882896"/>
            <a:ext cx="292608" cy="292608"/>
          </a:xfrm>
          <a:prstGeom prst="rect">
            <a:avLst/>
          </a:prstGeom>
          <a:noFill/>
        </p:spPr>
        <p:txBody>
          <a:bodyPr wrap="square" lIns="0" rIns="0" tIns="0" bIns="0" anchor="ctr">
            <a:spAutoFit/>
          </a:bodyPr>
          <a:lstStyle/>
          <a:p>
            <a:pPr algn="ctr">
              <a:lnSpc>
                <a:spcPct val="115000"/>
              </a:lnSpc>
            </a:pPr>
            <a:r>
              <a:rPr sz="1000" b="1" i="0">
                <a:solidFill>
                  <a:srgbClr val="FFFFFF"/>
                </a:solidFill>
                <a:latin typeface="Helvetica Neue"/>
              </a:rPr>
              <a:t>3</a:t>
            </a:r>
          </a:p>
        </p:txBody>
      </p:sp>
      <p:sp>
        <p:nvSpPr>
          <p:cNvPr id="29" name="Rounded Rectangle 28"/>
          <p:cNvSpPr/>
          <p:nvPr/>
        </p:nvSpPr>
        <p:spPr>
          <a:xfrm>
            <a:off x="1417320" y="3566160"/>
            <a:ext cx="6172200" cy="822960"/>
          </a:xfrm>
          <a:prstGeom prst="roundRect">
            <a:avLst/>
          </a:prstGeom>
          <a:solidFill>
            <a:srgbClr val="F1F4F8"/>
          </a:solidFill>
          <a:ln w="6350">
            <a:solidFill>
              <a:srgbClr val="E1E5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1417320" y="3566160"/>
            <a:ext cx="82296" cy="822960"/>
          </a:xfrm>
          <a:prstGeom prst="roundRect">
            <a:avLst/>
          </a:prstGeom>
          <a:solidFill>
            <a:srgbClr val="E1E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600200" y="4005072"/>
            <a:ext cx="5897880" cy="274320"/>
          </a:xfrm>
          <a:prstGeom prst="rect">
            <a:avLst/>
          </a:prstGeom>
          <a:noFill/>
        </p:spPr>
        <p:txBody>
          <a:bodyPr wrap="square" lIns="0" rIns="0" tIns="0" bIns="0" anchor="t">
            <a:spAutoFit/>
          </a:bodyPr>
          <a:lstStyle/>
          <a:p>
            <a:pPr algn="l">
              <a:lnSpc>
                <a:spcPct val="115000"/>
              </a:lnSpc>
            </a:pPr>
            <a:r>
              <a:rPr sz="900" b="1" i="0">
                <a:solidFill>
                  <a:srgbClr val="9AA5B4"/>
                </a:solidFill>
                <a:latin typeface="Helvetica Neue"/>
              </a:rPr>
              <a:t>CL</a:t>
            </a:r>
          </a:p>
        </p:txBody>
      </p:sp>
      <p:sp>
        <p:nvSpPr>
          <p:cNvPr id="32" name="TextBox 31"/>
          <p:cNvSpPr txBox="1"/>
          <p:nvPr/>
        </p:nvSpPr>
        <p:spPr>
          <a:xfrm>
            <a:off x="1600200" y="3657600"/>
            <a:ext cx="5897880" cy="310896"/>
          </a:xfrm>
          <a:prstGeom prst="rect">
            <a:avLst/>
          </a:prstGeom>
          <a:noFill/>
        </p:spPr>
        <p:txBody>
          <a:bodyPr wrap="square" lIns="0" rIns="0" tIns="0" bIns="0" anchor="t">
            <a:spAutoFit/>
          </a:bodyPr>
          <a:lstStyle/>
          <a:p>
            <a:pPr algn="l">
              <a:lnSpc>
                <a:spcPct val="115000"/>
              </a:lnSpc>
            </a:pPr>
            <a:r>
              <a:rPr sz="1200" b="1" i="0">
                <a:solidFill>
                  <a:srgbClr val="9AA5B4"/>
                </a:solidFill>
                <a:latin typeface="Helvetica Neue"/>
              </a:rPr>
              <a:t>Context Layer</a:t>
            </a:r>
          </a:p>
        </p:txBody>
      </p:sp>
      <p:sp>
        <p:nvSpPr>
          <p:cNvPr id="33" name="Oval 32"/>
          <p:cNvSpPr/>
          <p:nvPr/>
        </p:nvSpPr>
        <p:spPr>
          <a:xfrm>
            <a:off x="1316736" y="3465576"/>
            <a:ext cx="292608" cy="292608"/>
          </a:xfrm>
          <a:prstGeom prst="ellipse">
            <a:avLst/>
          </a:prstGeom>
          <a:solidFill>
            <a:srgbClr val="9AA5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316736" y="3465576"/>
            <a:ext cx="292608" cy="292608"/>
          </a:xfrm>
          <a:prstGeom prst="rect">
            <a:avLst/>
          </a:prstGeom>
          <a:noFill/>
        </p:spPr>
        <p:txBody>
          <a:bodyPr wrap="square" lIns="0" rIns="0" tIns="0" bIns="0" anchor="ctr">
            <a:spAutoFit/>
          </a:bodyPr>
          <a:lstStyle/>
          <a:p>
            <a:pPr algn="ctr">
              <a:lnSpc>
                <a:spcPct val="115000"/>
              </a:lnSpc>
            </a:pPr>
            <a:r>
              <a:rPr sz="1000" b="1" i="0">
                <a:solidFill>
                  <a:srgbClr val="FFFFFF"/>
                </a:solidFill>
                <a:latin typeface="Helvetica Neue"/>
              </a:rPr>
              <a:t>2</a:t>
            </a:r>
          </a:p>
        </p:txBody>
      </p:sp>
      <p:sp>
        <p:nvSpPr>
          <p:cNvPr id="35" name="Rounded Rectangle 34"/>
          <p:cNvSpPr/>
          <p:nvPr/>
        </p:nvSpPr>
        <p:spPr>
          <a:xfrm>
            <a:off x="1444752" y="2249424"/>
            <a:ext cx="2514600" cy="777240"/>
          </a:xfrm>
          <a:prstGeom prst="roundRect">
            <a:avLst/>
          </a:prstGeom>
          <a:solidFill>
            <a:srgbClr val="D5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1417320" y="2194560"/>
            <a:ext cx="2514600" cy="777240"/>
          </a:xfrm>
          <a:prstGeom prst="roundRect">
            <a:avLst/>
          </a:prstGeom>
          <a:solidFill>
            <a:srgbClr val="FFFFFF"/>
          </a:solidFill>
          <a:ln w="17780">
            <a:solidFill>
              <a:srgbClr val="0A2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1417320" y="2194560"/>
            <a:ext cx="82296" cy="777240"/>
          </a:xfrm>
          <a:prstGeom prst="round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3291840" y="2587752"/>
            <a:ext cx="502920" cy="274320"/>
          </a:xfrm>
          <a:prstGeom prst="round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291840" y="2587752"/>
            <a:ext cx="502920" cy="274320"/>
          </a:xfrm>
          <a:prstGeom prst="rect">
            <a:avLst/>
          </a:prstGeom>
          <a:noFill/>
        </p:spPr>
        <p:txBody>
          <a:bodyPr wrap="square" lIns="0" rIns="0" tIns="0" bIns="0" anchor="ctr">
            <a:spAutoFit/>
          </a:bodyPr>
          <a:lstStyle/>
          <a:p>
            <a:pPr algn="ctr">
              <a:lnSpc>
                <a:spcPct val="115000"/>
              </a:lnSpc>
            </a:pPr>
            <a:r>
              <a:rPr sz="900" b="1" i="0">
                <a:solidFill>
                  <a:srgbClr val="FFFFFF"/>
                </a:solidFill>
                <a:latin typeface="Helvetica Neue"/>
              </a:rPr>
              <a:t>RIL</a:t>
            </a:r>
          </a:p>
        </p:txBody>
      </p:sp>
      <p:sp>
        <p:nvSpPr>
          <p:cNvPr id="40" name="TextBox 39"/>
          <p:cNvSpPr txBox="1"/>
          <p:nvPr/>
        </p:nvSpPr>
        <p:spPr>
          <a:xfrm>
            <a:off x="1600200" y="2286000"/>
            <a:ext cx="2240280" cy="310896"/>
          </a:xfrm>
          <a:prstGeom prst="rect">
            <a:avLst/>
          </a:prstGeom>
          <a:noFill/>
        </p:spPr>
        <p:txBody>
          <a:bodyPr wrap="square" lIns="0" rIns="0" tIns="0" bIns="0" anchor="t">
            <a:spAutoFit/>
          </a:bodyPr>
          <a:lstStyle/>
          <a:p>
            <a:pPr algn="l">
              <a:lnSpc>
                <a:spcPct val="115000"/>
              </a:lnSpc>
            </a:pPr>
            <a:r>
              <a:rPr sz="1200" b="1" i="0">
                <a:solidFill>
                  <a:srgbClr val="0A1628"/>
                </a:solidFill>
                <a:latin typeface="Helvetica Neue"/>
              </a:rPr>
              <a:t>Risk Intelligence Layer</a:t>
            </a:r>
          </a:p>
        </p:txBody>
      </p:sp>
      <p:sp>
        <p:nvSpPr>
          <p:cNvPr id="41" name="Oval 40"/>
          <p:cNvSpPr/>
          <p:nvPr/>
        </p:nvSpPr>
        <p:spPr>
          <a:xfrm>
            <a:off x="1316736" y="2093976"/>
            <a:ext cx="292608" cy="292608"/>
          </a:xfrm>
          <a:prstGeom prst="ellipse">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316736" y="2093976"/>
            <a:ext cx="292608" cy="292608"/>
          </a:xfrm>
          <a:prstGeom prst="rect">
            <a:avLst/>
          </a:prstGeom>
          <a:noFill/>
        </p:spPr>
        <p:txBody>
          <a:bodyPr wrap="square" lIns="0" rIns="0" tIns="0" bIns="0" anchor="ctr">
            <a:spAutoFit/>
          </a:bodyPr>
          <a:lstStyle/>
          <a:p>
            <a:pPr algn="ctr">
              <a:lnSpc>
                <a:spcPct val="115000"/>
              </a:lnSpc>
            </a:pPr>
            <a:r>
              <a:rPr sz="1000" b="1" i="0">
                <a:solidFill>
                  <a:srgbClr val="FFFFFF"/>
                </a:solidFill>
                <a:latin typeface="Helvetica Neue"/>
              </a:rPr>
              <a:t>4</a:t>
            </a:r>
          </a:p>
        </p:txBody>
      </p:sp>
      <p:sp>
        <p:nvSpPr>
          <p:cNvPr id="43" name="Rounded Rectangle 42"/>
          <p:cNvSpPr/>
          <p:nvPr/>
        </p:nvSpPr>
        <p:spPr>
          <a:xfrm>
            <a:off x="4846320" y="2194560"/>
            <a:ext cx="2697480" cy="777240"/>
          </a:xfrm>
          <a:prstGeom prst="roundRect">
            <a:avLst/>
          </a:prstGeom>
          <a:solidFill>
            <a:srgbClr val="F1F4F8"/>
          </a:solidFill>
          <a:ln w="6350">
            <a:solidFill>
              <a:srgbClr val="E1E5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4846320" y="2194560"/>
            <a:ext cx="82296" cy="777240"/>
          </a:xfrm>
          <a:prstGeom prst="roundRect">
            <a:avLst/>
          </a:prstGeom>
          <a:solidFill>
            <a:srgbClr val="E1E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029200" y="2633472"/>
            <a:ext cx="2423160" cy="274320"/>
          </a:xfrm>
          <a:prstGeom prst="rect">
            <a:avLst/>
          </a:prstGeom>
          <a:noFill/>
        </p:spPr>
        <p:txBody>
          <a:bodyPr wrap="square" lIns="0" rIns="0" tIns="0" bIns="0" anchor="t">
            <a:spAutoFit/>
          </a:bodyPr>
          <a:lstStyle/>
          <a:p>
            <a:pPr algn="l">
              <a:lnSpc>
                <a:spcPct val="115000"/>
              </a:lnSpc>
            </a:pPr>
            <a:r>
              <a:rPr sz="900" b="1" i="0">
                <a:solidFill>
                  <a:srgbClr val="9AA5B4"/>
                </a:solidFill>
                <a:latin typeface="Helvetica Neue"/>
              </a:rPr>
              <a:t>FRL</a:t>
            </a:r>
          </a:p>
        </p:txBody>
      </p:sp>
      <p:sp>
        <p:nvSpPr>
          <p:cNvPr id="46" name="TextBox 45"/>
          <p:cNvSpPr txBox="1"/>
          <p:nvPr/>
        </p:nvSpPr>
        <p:spPr>
          <a:xfrm>
            <a:off x="5029200" y="2286000"/>
            <a:ext cx="2423160" cy="310896"/>
          </a:xfrm>
          <a:prstGeom prst="rect">
            <a:avLst/>
          </a:prstGeom>
          <a:noFill/>
        </p:spPr>
        <p:txBody>
          <a:bodyPr wrap="square" lIns="0" rIns="0" tIns="0" bIns="0" anchor="t">
            <a:spAutoFit/>
          </a:bodyPr>
          <a:lstStyle/>
          <a:p>
            <a:pPr algn="l">
              <a:lnSpc>
                <a:spcPct val="115000"/>
              </a:lnSpc>
            </a:pPr>
            <a:r>
              <a:rPr sz="1200" b="1" i="0">
                <a:solidFill>
                  <a:srgbClr val="9AA5B4"/>
                </a:solidFill>
                <a:latin typeface="Helvetica Neue"/>
              </a:rPr>
              <a:t>Feedback &amp; Refinement Layer</a:t>
            </a:r>
          </a:p>
        </p:txBody>
      </p:sp>
      <p:sp>
        <p:nvSpPr>
          <p:cNvPr id="47" name="Oval 46"/>
          <p:cNvSpPr/>
          <p:nvPr/>
        </p:nvSpPr>
        <p:spPr>
          <a:xfrm>
            <a:off x="4745736" y="2093976"/>
            <a:ext cx="292608" cy="292608"/>
          </a:xfrm>
          <a:prstGeom prst="ellipse">
            <a:avLst/>
          </a:prstGeom>
          <a:solidFill>
            <a:srgbClr val="9AA5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745736" y="2093976"/>
            <a:ext cx="292608" cy="292608"/>
          </a:xfrm>
          <a:prstGeom prst="rect">
            <a:avLst/>
          </a:prstGeom>
          <a:noFill/>
        </p:spPr>
        <p:txBody>
          <a:bodyPr wrap="square" lIns="0" rIns="0" tIns="0" bIns="0" anchor="ctr">
            <a:spAutoFit/>
          </a:bodyPr>
          <a:lstStyle/>
          <a:p>
            <a:pPr algn="ctr">
              <a:lnSpc>
                <a:spcPct val="115000"/>
              </a:lnSpc>
            </a:pPr>
            <a:r>
              <a:rPr sz="1000" b="1" i="0">
                <a:solidFill>
                  <a:srgbClr val="FFFFFF"/>
                </a:solidFill>
                <a:latin typeface="Helvetica Neue"/>
              </a:rPr>
              <a:t>5</a:t>
            </a:r>
          </a:p>
        </p:txBody>
      </p:sp>
      <p:sp>
        <p:nvSpPr>
          <p:cNvPr id="49" name="Rounded Rectangle 48"/>
          <p:cNvSpPr/>
          <p:nvPr/>
        </p:nvSpPr>
        <p:spPr>
          <a:xfrm>
            <a:off x="8321040" y="3566160"/>
            <a:ext cx="2194560" cy="822960"/>
          </a:xfrm>
          <a:prstGeom prst="roundRect">
            <a:avLst/>
          </a:prstGeom>
          <a:solidFill>
            <a:srgbClr val="F1F4F8"/>
          </a:solidFill>
          <a:ln w="6350">
            <a:solidFill>
              <a:srgbClr val="E1E5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8321040" y="3566160"/>
            <a:ext cx="82296" cy="822960"/>
          </a:xfrm>
          <a:prstGeom prst="roundRect">
            <a:avLst/>
          </a:prstGeom>
          <a:solidFill>
            <a:srgbClr val="E1E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503920" y="4005072"/>
            <a:ext cx="1920240" cy="274320"/>
          </a:xfrm>
          <a:prstGeom prst="rect">
            <a:avLst/>
          </a:prstGeom>
          <a:noFill/>
        </p:spPr>
        <p:txBody>
          <a:bodyPr wrap="square" lIns="0" rIns="0" tIns="0" bIns="0" anchor="t">
            <a:spAutoFit/>
          </a:bodyPr>
          <a:lstStyle/>
          <a:p>
            <a:pPr algn="l">
              <a:lnSpc>
                <a:spcPct val="115000"/>
              </a:lnSpc>
            </a:pPr>
            <a:r>
              <a:rPr sz="900" b="1" i="0">
                <a:solidFill>
                  <a:srgbClr val="9AA5B4"/>
                </a:solidFill>
                <a:latin typeface="Helvetica Neue"/>
              </a:rPr>
              <a:t>HIL</a:t>
            </a:r>
          </a:p>
        </p:txBody>
      </p:sp>
      <p:sp>
        <p:nvSpPr>
          <p:cNvPr id="52" name="TextBox 51"/>
          <p:cNvSpPr txBox="1"/>
          <p:nvPr/>
        </p:nvSpPr>
        <p:spPr>
          <a:xfrm>
            <a:off x="8503920" y="3657600"/>
            <a:ext cx="1920240" cy="310896"/>
          </a:xfrm>
          <a:prstGeom prst="rect">
            <a:avLst/>
          </a:prstGeom>
          <a:noFill/>
        </p:spPr>
        <p:txBody>
          <a:bodyPr wrap="square" lIns="0" rIns="0" tIns="0" bIns="0" anchor="t">
            <a:spAutoFit/>
          </a:bodyPr>
          <a:lstStyle/>
          <a:p>
            <a:pPr algn="l">
              <a:lnSpc>
                <a:spcPct val="115000"/>
              </a:lnSpc>
            </a:pPr>
            <a:r>
              <a:rPr sz="1200" b="1" i="0">
                <a:solidFill>
                  <a:srgbClr val="9AA5B4"/>
                </a:solidFill>
                <a:latin typeface="Helvetica Neue"/>
              </a:rPr>
              <a:t>Human Interaction Layer</a:t>
            </a:r>
          </a:p>
        </p:txBody>
      </p:sp>
      <p:sp>
        <p:nvSpPr>
          <p:cNvPr id="53" name="Oval 52"/>
          <p:cNvSpPr/>
          <p:nvPr/>
        </p:nvSpPr>
        <p:spPr>
          <a:xfrm>
            <a:off x="8220456" y="3465576"/>
            <a:ext cx="292608" cy="292608"/>
          </a:xfrm>
          <a:prstGeom prst="ellipse">
            <a:avLst/>
          </a:prstGeom>
          <a:solidFill>
            <a:srgbClr val="9AA5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220456" y="3465576"/>
            <a:ext cx="292608" cy="292608"/>
          </a:xfrm>
          <a:prstGeom prst="rect">
            <a:avLst/>
          </a:prstGeom>
          <a:noFill/>
        </p:spPr>
        <p:txBody>
          <a:bodyPr wrap="square" lIns="0" rIns="0" tIns="0" bIns="0" anchor="ctr">
            <a:spAutoFit/>
          </a:bodyPr>
          <a:lstStyle/>
          <a:p>
            <a:pPr algn="ctr">
              <a:lnSpc>
                <a:spcPct val="115000"/>
              </a:lnSpc>
            </a:pPr>
            <a:r>
              <a:rPr sz="1000" b="1" i="0">
                <a:solidFill>
                  <a:srgbClr val="FFFFFF"/>
                </a:solidFill>
                <a:latin typeface="Helvetica Neue"/>
              </a:rPr>
              <a:t>6</a:t>
            </a:r>
          </a:p>
        </p:txBody>
      </p:sp>
      <p:cxnSp>
        <p:nvCxnSpPr>
          <p:cNvPr id="55" name="Connector 54"/>
          <p:cNvCxnSpPr/>
          <p:nvPr/>
        </p:nvCxnSpPr>
        <p:spPr>
          <a:xfrm flipV="1">
            <a:off x="2674620" y="5760720"/>
            <a:ext cx="0" cy="365760"/>
          </a:xfrm>
          <a:prstGeom prst="line">
            <a:avLst/>
          </a:prstGeom>
          <a:ln w="11430">
            <a:solidFill>
              <a:srgbClr val="9AA5B4"/>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V="1">
            <a:off x="2674620" y="4389120"/>
            <a:ext cx="1828800" cy="594360"/>
          </a:xfrm>
          <a:prstGeom prst="line">
            <a:avLst/>
          </a:prstGeom>
          <a:ln w="11430">
            <a:solidFill>
              <a:srgbClr val="9AA5B4"/>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4503420" y="4389120"/>
            <a:ext cx="1691640" cy="594360"/>
          </a:xfrm>
          <a:prstGeom prst="line">
            <a:avLst/>
          </a:prstGeom>
          <a:ln w="11430">
            <a:solidFill>
              <a:srgbClr val="9AA5B4"/>
            </a:solidFill>
            <a:tailEnd type="triangle" w="med" h="med"/>
            <a:headEnd type="triangle" w="med" h="med"/>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flipV="1">
            <a:off x="2674620" y="2971800"/>
            <a:ext cx="1828800" cy="594360"/>
          </a:xfrm>
          <a:prstGeom prst="line">
            <a:avLst/>
          </a:prstGeom>
          <a:ln w="24130">
            <a:solidFill>
              <a:srgbClr val="0A2540"/>
            </a:solidFill>
            <a:tailEnd type="triangle" w="med" h="med"/>
            <a:headEnd type="triangle" w="med" h="med"/>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7589520" y="3977640"/>
            <a:ext cx="731520" cy="0"/>
          </a:xfrm>
          <a:prstGeom prst="line">
            <a:avLst/>
          </a:prstGeom>
          <a:ln w="11430">
            <a:solidFill>
              <a:srgbClr val="9AA5B4"/>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10515600" y="3977640"/>
            <a:ext cx="182880" cy="22859"/>
          </a:xfrm>
          <a:prstGeom prst="line">
            <a:avLst/>
          </a:prstGeom>
          <a:ln w="11430">
            <a:solidFill>
              <a:srgbClr val="9AA5B4"/>
            </a:solidFill>
            <a:tailEnd type="triangle" w="med" h="med"/>
            <a:headEnd type="triangle" w="med" h="med"/>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3931920" y="2583180"/>
            <a:ext cx="914400" cy="0"/>
          </a:xfrm>
          <a:prstGeom prst="line">
            <a:avLst/>
          </a:prstGeom>
          <a:ln w="24130">
            <a:solidFill>
              <a:srgbClr val="3B6FA8"/>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a:off x="4503420" y="2971800"/>
            <a:ext cx="1691640" cy="594360"/>
          </a:xfrm>
          <a:prstGeom prst="line">
            <a:avLst/>
          </a:prstGeom>
          <a:ln w="11430">
            <a:solidFill>
              <a:srgbClr val="9AA5B4"/>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flipV="1">
            <a:off x="7543800" y="2583180"/>
            <a:ext cx="1874520" cy="982980"/>
          </a:xfrm>
          <a:prstGeom prst="line">
            <a:avLst/>
          </a:prstGeom>
          <a:ln w="11430">
            <a:solidFill>
              <a:srgbClr val="9AA5B4"/>
            </a:solidFill>
            <a:tailEnd type="triangle" w="med" h="med"/>
          </a:ln>
        </p:spPr>
        <p:style>
          <a:lnRef idx="2">
            <a:schemeClr val="accent1"/>
          </a:lnRef>
          <a:fillRef idx="0">
            <a:schemeClr val="accent1"/>
          </a:fillRef>
          <a:effectRef idx="1">
            <a:schemeClr val="accent1"/>
          </a:effectRef>
          <a:fontRef idx="minor">
            <a:schemeClr val="tx1"/>
          </a:fontRef>
        </p:style>
      </p:cxnSp>
      <p:sp>
        <p:nvSpPr>
          <p:cNvPr id="64" name="Rounded Rectangle 63"/>
          <p:cNvSpPr/>
          <p:nvPr/>
        </p:nvSpPr>
        <p:spPr>
          <a:xfrm>
            <a:off x="2171700" y="3108960"/>
            <a:ext cx="1691640" cy="2743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2171700" y="3108960"/>
            <a:ext cx="1691640" cy="274320"/>
          </a:xfrm>
          <a:prstGeom prst="rect">
            <a:avLst/>
          </a:prstGeom>
          <a:noFill/>
        </p:spPr>
        <p:txBody>
          <a:bodyPr wrap="square" lIns="0" rIns="0" tIns="0" bIns="0" anchor="ctr">
            <a:spAutoFit/>
          </a:bodyPr>
          <a:lstStyle/>
          <a:p>
            <a:pPr algn="ctr">
              <a:lnSpc>
                <a:spcPct val="115000"/>
              </a:lnSpc>
            </a:pPr>
            <a:r>
              <a:rPr sz="800" b="0" i="0">
                <a:solidFill>
                  <a:srgbClr val="0A2540"/>
                </a:solidFill>
                <a:latin typeface="Helvetica Neue"/>
              </a:rPr>
              <a:t>context &amp; assessment</a:t>
            </a:r>
          </a:p>
        </p:txBody>
      </p:sp>
      <p:sp>
        <p:nvSpPr>
          <p:cNvPr id="66" name="Rounded Rectangle 65"/>
          <p:cNvSpPr/>
          <p:nvPr/>
        </p:nvSpPr>
        <p:spPr>
          <a:xfrm>
            <a:off x="3954780" y="2446020"/>
            <a:ext cx="868680" cy="2743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3954780" y="2446020"/>
            <a:ext cx="868680" cy="274320"/>
          </a:xfrm>
          <a:prstGeom prst="rect">
            <a:avLst/>
          </a:prstGeom>
          <a:noFill/>
        </p:spPr>
        <p:txBody>
          <a:bodyPr wrap="square" lIns="0" rIns="0" tIns="0" bIns="0" anchor="ctr">
            <a:spAutoFit/>
          </a:bodyPr>
          <a:lstStyle/>
          <a:p>
            <a:pPr algn="ctr">
              <a:lnSpc>
                <a:spcPct val="115000"/>
              </a:lnSpc>
            </a:pPr>
            <a:r>
              <a:rPr sz="800" b="0" i="0">
                <a:solidFill>
                  <a:srgbClr val="3B6FA8"/>
                </a:solidFill>
                <a:latin typeface="Helvetica Neue"/>
              </a:rPr>
              <a:t>risk output</a:t>
            </a:r>
          </a:p>
        </p:txBody>
      </p:sp>
      <p:sp>
        <p:nvSpPr>
          <p:cNvPr id="68" name="Rectangle 67"/>
          <p:cNvSpPr/>
          <p:nvPr/>
        </p:nvSpPr>
        <p:spPr>
          <a:xfrm>
            <a:off x="7772400" y="6409944"/>
            <a:ext cx="256032" cy="4572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8138160" y="6309360"/>
            <a:ext cx="1463040" cy="256032"/>
          </a:xfrm>
          <a:prstGeom prst="rect">
            <a:avLst/>
          </a:prstGeom>
          <a:noFill/>
        </p:spPr>
        <p:txBody>
          <a:bodyPr wrap="square" lIns="0" rIns="0" tIns="0" bIns="0" anchor="ctr">
            <a:spAutoFit/>
          </a:bodyPr>
          <a:lstStyle/>
          <a:p>
            <a:pPr algn="l">
              <a:lnSpc>
                <a:spcPct val="115000"/>
              </a:lnSpc>
            </a:pPr>
            <a:r>
              <a:rPr sz="900" b="0" i="0">
                <a:solidFill>
                  <a:srgbClr val="4A5C74"/>
                </a:solidFill>
                <a:latin typeface="Helvetica Neue"/>
              </a:rPr>
              <a:t>Data path (up)</a:t>
            </a:r>
          </a:p>
        </p:txBody>
      </p:sp>
      <p:sp>
        <p:nvSpPr>
          <p:cNvPr id="70" name="Rectangle 69"/>
          <p:cNvSpPr/>
          <p:nvPr/>
        </p:nvSpPr>
        <p:spPr>
          <a:xfrm>
            <a:off x="9692640" y="6409944"/>
            <a:ext cx="256032" cy="45720"/>
          </a:xfrm>
          <a:prstGeom prst="rect">
            <a:avLst/>
          </a:prstGeom>
          <a:solidFill>
            <a:srgbClr val="3B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10058400" y="6309360"/>
            <a:ext cx="2011680" cy="256032"/>
          </a:xfrm>
          <a:prstGeom prst="rect">
            <a:avLst/>
          </a:prstGeom>
          <a:noFill/>
        </p:spPr>
        <p:txBody>
          <a:bodyPr wrap="square" lIns="0" rIns="0" tIns="0" bIns="0" anchor="ctr">
            <a:spAutoFit/>
          </a:bodyPr>
          <a:lstStyle/>
          <a:p>
            <a:pPr algn="l">
              <a:lnSpc>
                <a:spcPct val="115000"/>
              </a:lnSpc>
            </a:pPr>
            <a:r>
              <a:rPr sz="900" b="0" i="0">
                <a:solidFill>
                  <a:srgbClr val="4A5C74"/>
                </a:solidFill>
                <a:latin typeface="Helvetica Neue"/>
              </a:rPr>
              <a:t>Feedback path (down)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972800" cy="256032"/>
          </a:xfrm>
          <a:prstGeom prst="rect">
            <a:avLst/>
          </a:prstGeom>
          <a:noFill/>
        </p:spPr>
        <p:txBody>
          <a:bodyPr wrap="square" lIns="0" rIns="0" tIns="0" bIns="0" anchor="t">
            <a:spAutoFit/>
          </a:bodyPr>
          <a:lstStyle/>
          <a:p>
            <a:pPr algn="l">
              <a:lnSpc>
                <a:spcPct val="115000"/>
              </a:lnSpc>
            </a:pPr>
            <a:r>
              <a:rPr sz="900" b="1" i="0" spc="250">
                <a:solidFill>
                  <a:srgbClr val="0A2540"/>
                </a:solidFill>
                <a:latin typeface="Helvetica Neue"/>
              </a:rPr>
              <a:t>LAYER 5 OF 6 · FRL</a:t>
            </a:r>
          </a:p>
        </p:txBody>
      </p:sp>
      <p:sp>
        <p:nvSpPr>
          <p:cNvPr id="4" name="TextBox 3"/>
          <p:cNvSpPr txBox="1"/>
          <p:nvPr/>
        </p:nvSpPr>
        <p:spPr>
          <a:xfrm>
            <a:off x="731520" y="713232"/>
            <a:ext cx="10972800" cy="502920"/>
          </a:xfrm>
          <a:prstGeom prst="rect">
            <a:avLst/>
          </a:prstGeom>
          <a:noFill/>
        </p:spPr>
        <p:txBody>
          <a:bodyPr wrap="square" lIns="0" rIns="0" tIns="0" bIns="0" anchor="t">
            <a:spAutoFit/>
          </a:bodyPr>
          <a:lstStyle/>
          <a:p>
            <a:pPr algn="l">
              <a:lnSpc>
                <a:spcPct val="115000"/>
              </a:lnSpc>
            </a:pPr>
            <a:r>
              <a:rPr sz="2400" b="1" i="0">
                <a:solidFill>
                  <a:srgbClr val="0A1628"/>
                </a:solidFill>
                <a:latin typeface="Helvetica Neue"/>
              </a:rPr>
              <a:t>Feedback &amp; Refinement Layer</a:t>
            </a:r>
          </a:p>
        </p:txBody>
      </p:sp>
      <p:sp>
        <p:nvSpPr>
          <p:cNvPr id="5" name="TextBox 4"/>
          <p:cNvSpPr txBox="1"/>
          <p:nvPr/>
        </p:nvSpPr>
        <p:spPr>
          <a:xfrm>
            <a:off x="731520" y="1234440"/>
            <a:ext cx="10972800" cy="292608"/>
          </a:xfrm>
          <a:prstGeom prst="rect">
            <a:avLst/>
          </a:prstGeom>
          <a:noFill/>
        </p:spPr>
        <p:txBody>
          <a:bodyPr wrap="square" lIns="0" rIns="0" tIns="0" bIns="0" anchor="t">
            <a:spAutoFit/>
          </a:bodyPr>
          <a:lstStyle/>
          <a:p>
            <a:pPr algn="l">
              <a:lnSpc>
                <a:spcPct val="115000"/>
              </a:lnSpc>
            </a:pPr>
            <a:r>
              <a:rPr sz="1200" b="0" i="1">
                <a:solidFill>
                  <a:srgbClr val="4A5C74"/>
                </a:solidFill>
                <a:latin typeface="Helvetica Neue"/>
              </a:rPr>
              <a:t>Learns from assessment outcomes and reviewer decisions.</a:t>
            </a:r>
          </a:p>
        </p:txBody>
      </p:sp>
      <p:sp>
        <p:nvSpPr>
          <p:cNvPr id="6" name="Rectangle 5"/>
          <p:cNvSpPr/>
          <p:nvPr/>
        </p:nvSpPr>
        <p:spPr>
          <a:xfrm>
            <a:off x="731520" y="1572768"/>
            <a:ext cx="457200" cy="32004"/>
          </a:xfrm>
          <a:prstGeom prst="rect">
            <a:avLst/>
          </a:prstGeom>
          <a:solidFill>
            <a:srgbClr val="1B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68680" y="2011680"/>
            <a:ext cx="10515600" cy="3840480"/>
          </a:xfrm>
          <a:prstGeom prst="roundRect">
            <a:avLst/>
          </a:prstGeom>
          <a:noFill/>
          <a:ln w="12700">
            <a:solidFill>
              <a:srgbClr val="9AA5B4"/>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6172200"/>
            <a:ext cx="548640" cy="411480"/>
          </a:xfrm>
          <a:prstGeom prst="rect">
            <a:avLst/>
          </a:prstGeom>
          <a:noFill/>
        </p:spPr>
        <p:txBody>
          <a:bodyPr wrap="square" lIns="0" rIns="0" tIns="0" bIns="0" anchor="t">
            <a:spAutoFit/>
          </a:bodyPr>
          <a:lstStyle/>
          <a:p>
            <a:pPr algn="l">
              <a:lnSpc>
                <a:spcPct val="115000"/>
              </a:lnSpc>
            </a:pPr>
            <a:r>
              <a:rPr sz="700" b="0" i="0">
                <a:solidFill>
                  <a:srgbClr val="9AA5B4"/>
                </a:solidFill>
                <a:latin typeface="Helvetica Neue"/>
              </a:rPr>
              <a:t>CAPRA</a:t>
            </a:r>
          </a:p>
          <a:p>
            <a:pPr algn="l">
              <a:lnSpc>
                <a:spcPct val="115000"/>
              </a:lnSpc>
            </a:pPr>
            <a:r>
              <a:rPr sz="700" b="0" i="0">
                <a:solidFill>
                  <a:srgbClr val="9AA5B4"/>
                </a:solidFill>
                <a:latin typeface="Helvetica Neue"/>
              </a:rPr>
              <a:t>System</a:t>
            </a:r>
          </a:p>
          <a:p>
            <a:pPr algn="l">
              <a:lnSpc>
                <a:spcPct val="115000"/>
              </a:lnSpc>
            </a:pPr>
            <a:r>
              <a:rPr sz="700" b="0" i="0">
                <a:solidFill>
                  <a:srgbClr val="9AA5B4"/>
                </a:solidFill>
                <a:latin typeface="Helvetica Neue"/>
              </a:rPr>
              <a:t>Boundary</a:t>
            </a:r>
          </a:p>
        </p:txBody>
      </p:sp>
      <p:sp>
        <p:nvSpPr>
          <p:cNvPr id="9" name="Rounded Rectangle 8"/>
          <p:cNvSpPr/>
          <p:nvPr/>
        </p:nvSpPr>
        <p:spPr>
          <a:xfrm>
            <a:off x="1417320" y="6126480"/>
            <a:ext cx="2514600" cy="457200"/>
          </a:xfrm>
          <a:prstGeom prst="roundRect">
            <a:avLst/>
          </a:prstGeom>
          <a:solidFill>
            <a:srgbClr val="F1F4F8"/>
          </a:solidFill>
          <a:ln w="6350">
            <a:solidFill>
              <a:srgbClr val="E1E5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17320" y="6126480"/>
            <a:ext cx="2514600" cy="457200"/>
          </a:xfrm>
          <a:prstGeom prst="rect">
            <a:avLst/>
          </a:prstGeom>
          <a:noFill/>
        </p:spPr>
        <p:txBody>
          <a:bodyPr wrap="square" lIns="0" rIns="0" tIns="0" bIns="0" anchor="ctr">
            <a:spAutoFit/>
          </a:bodyPr>
          <a:lstStyle/>
          <a:p>
            <a:pPr algn="ctr">
              <a:lnSpc>
                <a:spcPct val="115000"/>
              </a:lnSpc>
            </a:pPr>
            <a:r>
              <a:rPr sz="1000" b="1" i="0">
                <a:solidFill>
                  <a:srgbClr val="4A5C74"/>
                </a:solidFill>
                <a:latin typeface="Helvetica Neue"/>
              </a:rPr>
              <a:t>External Systems</a:t>
            </a:r>
          </a:p>
        </p:txBody>
      </p:sp>
      <p:sp>
        <p:nvSpPr>
          <p:cNvPr id="11" name="Oval 10"/>
          <p:cNvSpPr/>
          <p:nvPr/>
        </p:nvSpPr>
        <p:spPr>
          <a:xfrm>
            <a:off x="1316736" y="6025896"/>
            <a:ext cx="292608" cy="292608"/>
          </a:xfrm>
          <a:prstGeom prst="ellipse">
            <a:avLst/>
          </a:prstGeom>
          <a:solidFill>
            <a:srgbClr val="9AA5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316736" y="6025896"/>
            <a:ext cx="292608" cy="292608"/>
          </a:xfrm>
          <a:prstGeom prst="rect">
            <a:avLst/>
          </a:prstGeom>
          <a:noFill/>
        </p:spPr>
        <p:txBody>
          <a:bodyPr wrap="square" lIns="0" rIns="0" tIns="0" bIns="0" anchor="ctr">
            <a:spAutoFit/>
          </a:bodyPr>
          <a:lstStyle/>
          <a:p>
            <a:pPr algn="ctr">
              <a:lnSpc>
                <a:spcPct val="115000"/>
              </a:lnSpc>
            </a:pPr>
            <a:r>
              <a:rPr sz="1000" b="1" i="0">
                <a:solidFill>
                  <a:srgbClr val="FFFFFF"/>
                </a:solidFill>
                <a:latin typeface="Helvetica Neue"/>
              </a:rPr>
              <a:t>0</a:t>
            </a:r>
          </a:p>
        </p:txBody>
      </p:sp>
      <p:sp>
        <p:nvSpPr>
          <p:cNvPr id="13" name="Oval 12"/>
          <p:cNvSpPr/>
          <p:nvPr/>
        </p:nvSpPr>
        <p:spPr>
          <a:xfrm>
            <a:off x="10698480" y="3749039"/>
            <a:ext cx="914400" cy="502920"/>
          </a:xfrm>
          <a:prstGeom prst="ellipse">
            <a:avLst/>
          </a:prstGeom>
          <a:solidFill>
            <a:srgbClr val="F1F4F8"/>
          </a:solidFill>
          <a:ln w="6350">
            <a:solidFill>
              <a:srgbClr val="E1E5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698480" y="3749039"/>
            <a:ext cx="914400" cy="502920"/>
          </a:xfrm>
          <a:prstGeom prst="rect">
            <a:avLst/>
          </a:prstGeom>
          <a:noFill/>
        </p:spPr>
        <p:txBody>
          <a:bodyPr wrap="square" lIns="0" rIns="0" tIns="0" bIns="0" anchor="ctr">
            <a:spAutoFit/>
          </a:bodyPr>
          <a:lstStyle/>
          <a:p>
            <a:pPr algn="ctr">
              <a:lnSpc>
                <a:spcPct val="115000"/>
              </a:lnSpc>
            </a:pPr>
            <a:r>
              <a:rPr sz="1000" b="1" i="0">
                <a:solidFill>
                  <a:srgbClr val="4A5C74"/>
                </a:solidFill>
                <a:latin typeface="Helvetica Neue"/>
              </a:rPr>
              <a:t>Human</a:t>
            </a:r>
          </a:p>
        </p:txBody>
      </p:sp>
      <p:sp>
        <p:nvSpPr>
          <p:cNvPr id="15" name="Oval 14"/>
          <p:cNvSpPr/>
          <p:nvPr/>
        </p:nvSpPr>
        <p:spPr>
          <a:xfrm>
            <a:off x="10597896" y="3648455"/>
            <a:ext cx="292608" cy="292608"/>
          </a:xfrm>
          <a:prstGeom prst="ellipse">
            <a:avLst/>
          </a:prstGeom>
          <a:solidFill>
            <a:srgbClr val="9AA5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97896" y="3648455"/>
            <a:ext cx="292608" cy="292608"/>
          </a:xfrm>
          <a:prstGeom prst="rect">
            <a:avLst/>
          </a:prstGeom>
          <a:noFill/>
        </p:spPr>
        <p:txBody>
          <a:bodyPr wrap="square" lIns="0" rIns="0" tIns="0" bIns="0" anchor="ctr">
            <a:spAutoFit/>
          </a:bodyPr>
          <a:lstStyle/>
          <a:p>
            <a:pPr algn="ctr">
              <a:lnSpc>
                <a:spcPct val="115000"/>
              </a:lnSpc>
            </a:pPr>
            <a:r>
              <a:rPr sz="1000" b="1" i="0">
                <a:solidFill>
                  <a:srgbClr val="FFFFFF"/>
                </a:solidFill>
                <a:latin typeface="Helvetica Neue"/>
              </a:rPr>
              <a:t>7</a:t>
            </a:r>
          </a:p>
        </p:txBody>
      </p:sp>
      <p:sp>
        <p:nvSpPr>
          <p:cNvPr id="17" name="Rounded Rectangle 16"/>
          <p:cNvSpPr/>
          <p:nvPr/>
        </p:nvSpPr>
        <p:spPr>
          <a:xfrm>
            <a:off x="1417320" y="4983480"/>
            <a:ext cx="2514600" cy="777240"/>
          </a:xfrm>
          <a:prstGeom prst="roundRect">
            <a:avLst/>
          </a:prstGeom>
          <a:solidFill>
            <a:srgbClr val="F1F4F8"/>
          </a:solidFill>
          <a:ln w="6350">
            <a:solidFill>
              <a:srgbClr val="E1E5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417320" y="4983480"/>
            <a:ext cx="82296" cy="777240"/>
          </a:xfrm>
          <a:prstGeom prst="roundRect">
            <a:avLst/>
          </a:prstGeom>
          <a:solidFill>
            <a:srgbClr val="E1E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600200" y="5422392"/>
            <a:ext cx="2240280" cy="274320"/>
          </a:xfrm>
          <a:prstGeom prst="rect">
            <a:avLst/>
          </a:prstGeom>
          <a:noFill/>
        </p:spPr>
        <p:txBody>
          <a:bodyPr wrap="square" lIns="0" rIns="0" tIns="0" bIns="0" anchor="t">
            <a:spAutoFit/>
          </a:bodyPr>
          <a:lstStyle/>
          <a:p>
            <a:pPr algn="l">
              <a:lnSpc>
                <a:spcPct val="115000"/>
              </a:lnSpc>
            </a:pPr>
            <a:r>
              <a:rPr sz="900" b="1" i="0">
                <a:solidFill>
                  <a:srgbClr val="9AA5B4"/>
                </a:solidFill>
                <a:latin typeface="Helvetica Neue"/>
              </a:rPr>
              <a:t>DFL</a:t>
            </a:r>
          </a:p>
        </p:txBody>
      </p:sp>
      <p:sp>
        <p:nvSpPr>
          <p:cNvPr id="20" name="TextBox 19"/>
          <p:cNvSpPr txBox="1"/>
          <p:nvPr/>
        </p:nvSpPr>
        <p:spPr>
          <a:xfrm>
            <a:off x="1600200" y="5074920"/>
            <a:ext cx="2240280" cy="310896"/>
          </a:xfrm>
          <a:prstGeom prst="rect">
            <a:avLst/>
          </a:prstGeom>
          <a:noFill/>
        </p:spPr>
        <p:txBody>
          <a:bodyPr wrap="square" lIns="0" rIns="0" tIns="0" bIns="0" anchor="t">
            <a:spAutoFit/>
          </a:bodyPr>
          <a:lstStyle/>
          <a:p>
            <a:pPr algn="l">
              <a:lnSpc>
                <a:spcPct val="115000"/>
              </a:lnSpc>
            </a:pPr>
            <a:r>
              <a:rPr sz="1200" b="1" i="0">
                <a:solidFill>
                  <a:srgbClr val="9AA5B4"/>
                </a:solidFill>
                <a:latin typeface="Helvetica Neue"/>
              </a:rPr>
              <a:t>Data Federation Layer</a:t>
            </a:r>
          </a:p>
        </p:txBody>
      </p:sp>
      <p:sp>
        <p:nvSpPr>
          <p:cNvPr id="21" name="Oval 20"/>
          <p:cNvSpPr/>
          <p:nvPr/>
        </p:nvSpPr>
        <p:spPr>
          <a:xfrm>
            <a:off x="1316736" y="4882896"/>
            <a:ext cx="292608" cy="292608"/>
          </a:xfrm>
          <a:prstGeom prst="ellipse">
            <a:avLst/>
          </a:prstGeom>
          <a:solidFill>
            <a:srgbClr val="9AA5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316736" y="4882896"/>
            <a:ext cx="292608" cy="292608"/>
          </a:xfrm>
          <a:prstGeom prst="rect">
            <a:avLst/>
          </a:prstGeom>
          <a:noFill/>
        </p:spPr>
        <p:txBody>
          <a:bodyPr wrap="square" lIns="0" rIns="0" tIns="0" bIns="0" anchor="ctr">
            <a:spAutoFit/>
          </a:bodyPr>
          <a:lstStyle/>
          <a:p>
            <a:pPr algn="ctr">
              <a:lnSpc>
                <a:spcPct val="115000"/>
              </a:lnSpc>
            </a:pPr>
            <a:r>
              <a:rPr sz="1000" b="1" i="0">
                <a:solidFill>
                  <a:srgbClr val="FFFFFF"/>
                </a:solidFill>
                <a:latin typeface="Helvetica Neue"/>
              </a:rPr>
              <a:t>1</a:t>
            </a:r>
          </a:p>
        </p:txBody>
      </p:sp>
      <p:sp>
        <p:nvSpPr>
          <p:cNvPr id="23" name="Rounded Rectangle 22"/>
          <p:cNvSpPr/>
          <p:nvPr/>
        </p:nvSpPr>
        <p:spPr>
          <a:xfrm>
            <a:off x="4846320" y="4983480"/>
            <a:ext cx="2697480" cy="777240"/>
          </a:xfrm>
          <a:prstGeom prst="roundRect">
            <a:avLst/>
          </a:prstGeom>
          <a:solidFill>
            <a:srgbClr val="F1F4F8"/>
          </a:solidFill>
          <a:ln w="6350">
            <a:solidFill>
              <a:srgbClr val="E1E5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4846320" y="4983480"/>
            <a:ext cx="82296" cy="777240"/>
          </a:xfrm>
          <a:prstGeom prst="roundRect">
            <a:avLst/>
          </a:prstGeom>
          <a:solidFill>
            <a:srgbClr val="E1E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29200" y="5422392"/>
            <a:ext cx="2423160" cy="274320"/>
          </a:xfrm>
          <a:prstGeom prst="rect">
            <a:avLst/>
          </a:prstGeom>
          <a:noFill/>
        </p:spPr>
        <p:txBody>
          <a:bodyPr wrap="square" lIns="0" rIns="0" tIns="0" bIns="0" anchor="t">
            <a:spAutoFit/>
          </a:bodyPr>
          <a:lstStyle/>
          <a:p>
            <a:pPr algn="l">
              <a:lnSpc>
                <a:spcPct val="115000"/>
              </a:lnSpc>
            </a:pPr>
            <a:r>
              <a:rPr sz="900" b="1" i="0">
                <a:solidFill>
                  <a:srgbClr val="9AA5B4"/>
                </a:solidFill>
                <a:latin typeface="Helvetica Neue"/>
              </a:rPr>
              <a:t>CPL</a:t>
            </a:r>
          </a:p>
        </p:txBody>
      </p:sp>
      <p:sp>
        <p:nvSpPr>
          <p:cNvPr id="26" name="TextBox 25"/>
          <p:cNvSpPr txBox="1"/>
          <p:nvPr/>
        </p:nvSpPr>
        <p:spPr>
          <a:xfrm>
            <a:off x="5029200" y="5074920"/>
            <a:ext cx="2423160" cy="310896"/>
          </a:xfrm>
          <a:prstGeom prst="rect">
            <a:avLst/>
          </a:prstGeom>
          <a:noFill/>
        </p:spPr>
        <p:txBody>
          <a:bodyPr wrap="square" lIns="0" rIns="0" tIns="0" bIns="0" anchor="t">
            <a:spAutoFit/>
          </a:bodyPr>
          <a:lstStyle/>
          <a:p>
            <a:pPr algn="l">
              <a:lnSpc>
                <a:spcPct val="115000"/>
              </a:lnSpc>
            </a:pPr>
            <a:r>
              <a:rPr sz="1200" b="1" i="0">
                <a:solidFill>
                  <a:srgbClr val="9AA5B4"/>
                </a:solidFill>
                <a:latin typeface="Helvetica Neue"/>
              </a:rPr>
              <a:t>Context Processing Layer</a:t>
            </a:r>
          </a:p>
        </p:txBody>
      </p:sp>
      <p:sp>
        <p:nvSpPr>
          <p:cNvPr id="27" name="Oval 26"/>
          <p:cNvSpPr/>
          <p:nvPr/>
        </p:nvSpPr>
        <p:spPr>
          <a:xfrm>
            <a:off x="4745736" y="4882896"/>
            <a:ext cx="292608" cy="292608"/>
          </a:xfrm>
          <a:prstGeom prst="ellipse">
            <a:avLst/>
          </a:prstGeom>
          <a:solidFill>
            <a:srgbClr val="9AA5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745736" y="4882896"/>
            <a:ext cx="292608" cy="292608"/>
          </a:xfrm>
          <a:prstGeom prst="rect">
            <a:avLst/>
          </a:prstGeom>
          <a:noFill/>
        </p:spPr>
        <p:txBody>
          <a:bodyPr wrap="square" lIns="0" rIns="0" tIns="0" bIns="0" anchor="ctr">
            <a:spAutoFit/>
          </a:bodyPr>
          <a:lstStyle/>
          <a:p>
            <a:pPr algn="ctr">
              <a:lnSpc>
                <a:spcPct val="115000"/>
              </a:lnSpc>
            </a:pPr>
            <a:r>
              <a:rPr sz="1000" b="1" i="0">
                <a:solidFill>
                  <a:srgbClr val="FFFFFF"/>
                </a:solidFill>
                <a:latin typeface="Helvetica Neue"/>
              </a:rPr>
              <a:t>3</a:t>
            </a:r>
          </a:p>
        </p:txBody>
      </p:sp>
      <p:sp>
        <p:nvSpPr>
          <p:cNvPr id="29" name="Rounded Rectangle 28"/>
          <p:cNvSpPr/>
          <p:nvPr/>
        </p:nvSpPr>
        <p:spPr>
          <a:xfrm>
            <a:off x="1417320" y="3566160"/>
            <a:ext cx="6172200" cy="822960"/>
          </a:xfrm>
          <a:prstGeom prst="roundRect">
            <a:avLst/>
          </a:prstGeom>
          <a:solidFill>
            <a:srgbClr val="F1F4F8"/>
          </a:solidFill>
          <a:ln w="6350">
            <a:solidFill>
              <a:srgbClr val="E1E5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1417320" y="3566160"/>
            <a:ext cx="82296" cy="822960"/>
          </a:xfrm>
          <a:prstGeom prst="roundRect">
            <a:avLst/>
          </a:prstGeom>
          <a:solidFill>
            <a:srgbClr val="E1E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600200" y="4005072"/>
            <a:ext cx="5897880" cy="274320"/>
          </a:xfrm>
          <a:prstGeom prst="rect">
            <a:avLst/>
          </a:prstGeom>
          <a:noFill/>
        </p:spPr>
        <p:txBody>
          <a:bodyPr wrap="square" lIns="0" rIns="0" tIns="0" bIns="0" anchor="t">
            <a:spAutoFit/>
          </a:bodyPr>
          <a:lstStyle/>
          <a:p>
            <a:pPr algn="l">
              <a:lnSpc>
                <a:spcPct val="115000"/>
              </a:lnSpc>
            </a:pPr>
            <a:r>
              <a:rPr sz="900" b="1" i="0">
                <a:solidFill>
                  <a:srgbClr val="9AA5B4"/>
                </a:solidFill>
                <a:latin typeface="Helvetica Neue"/>
              </a:rPr>
              <a:t>CL</a:t>
            </a:r>
          </a:p>
        </p:txBody>
      </p:sp>
      <p:sp>
        <p:nvSpPr>
          <p:cNvPr id="32" name="TextBox 31"/>
          <p:cNvSpPr txBox="1"/>
          <p:nvPr/>
        </p:nvSpPr>
        <p:spPr>
          <a:xfrm>
            <a:off x="1600200" y="3657600"/>
            <a:ext cx="5897880" cy="310896"/>
          </a:xfrm>
          <a:prstGeom prst="rect">
            <a:avLst/>
          </a:prstGeom>
          <a:noFill/>
        </p:spPr>
        <p:txBody>
          <a:bodyPr wrap="square" lIns="0" rIns="0" tIns="0" bIns="0" anchor="t">
            <a:spAutoFit/>
          </a:bodyPr>
          <a:lstStyle/>
          <a:p>
            <a:pPr algn="l">
              <a:lnSpc>
                <a:spcPct val="115000"/>
              </a:lnSpc>
            </a:pPr>
            <a:r>
              <a:rPr sz="1200" b="1" i="0">
                <a:solidFill>
                  <a:srgbClr val="9AA5B4"/>
                </a:solidFill>
                <a:latin typeface="Helvetica Neue"/>
              </a:rPr>
              <a:t>Context Layer</a:t>
            </a:r>
          </a:p>
        </p:txBody>
      </p:sp>
      <p:sp>
        <p:nvSpPr>
          <p:cNvPr id="33" name="Oval 32"/>
          <p:cNvSpPr/>
          <p:nvPr/>
        </p:nvSpPr>
        <p:spPr>
          <a:xfrm>
            <a:off x="1316736" y="3465576"/>
            <a:ext cx="292608" cy="292608"/>
          </a:xfrm>
          <a:prstGeom prst="ellipse">
            <a:avLst/>
          </a:prstGeom>
          <a:solidFill>
            <a:srgbClr val="9AA5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316736" y="3465576"/>
            <a:ext cx="292608" cy="292608"/>
          </a:xfrm>
          <a:prstGeom prst="rect">
            <a:avLst/>
          </a:prstGeom>
          <a:noFill/>
        </p:spPr>
        <p:txBody>
          <a:bodyPr wrap="square" lIns="0" rIns="0" tIns="0" bIns="0" anchor="ctr">
            <a:spAutoFit/>
          </a:bodyPr>
          <a:lstStyle/>
          <a:p>
            <a:pPr algn="ctr">
              <a:lnSpc>
                <a:spcPct val="115000"/>
              </a:lnSpc>
            </a:pPr>
            <a:r>
              <a:rPr sz="1000" b="1" i="0">
                <a:solidFill>
                  <a:srgbClr val="FFFFFF"/>
                </a:solidFill>
                <a:latin typeface="Helvetica Neue"/>
              </a:rPr>
              <a:t>2</a:t>
            </a:r>
          </a:p>
        </p:txBody>
      </p:sp>
      <p:sp>
        <p:nvSpPr>
          <p:cNvPr id="35" name="Rounded Rectangle 34"/>
          <p:cNvSpPr/>
          <p:nvPr/>
        </p:nvSpPr>
        <p:spPr>
          <a:xfrm>
            <a:off x="1417320" y="2194560"/>
            <a:ext cx="2514600" cy="777240"/>
          </a:xfrm>
          <a:prstGeom prst="roundRect">
            <a:avLst/>
          </a:prstGeom>
          <a:solidFill>
            <a:srgbClr val="F1F4F8"/>
          </a:solidFill>
          <a:ln w="6350">
            <a:solidFill>
              <a:srgbClr val="E1E5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1417320" y="2194560"/>
            <a:ext cx="82296" cy="777240"/>
          </a:xfrm>
          <a:prstGeom prst="roundRect">
            <a:avLst/>
          </a:prstGeom>
          <a:solidFill>
            <a:srgbClr val="E1E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600200" y="2633472"/>
            <a:ext cx="2240280" cy="274320"/>
          </a:xfrm>
          <a:prstGeom prst="rect">
            <a:avLst/>
          </a:prstGeom>
          <a:noFill/>
        </p:spPr>
        <p:txBody>
          <a:bodyPr wrap="square" lIns="0" rIns="0" tIns="0" bIns="0" anchor="t">
            <a:spAutoFit/>
          </a:bodyPr>
          <a:lstStyle/>
          <a:p>
            <a:pPr algn="l">
              <a:lnSpc>
                <a:spcPct val="115000"/>
              </a:lnSpc>
            </a:pPr>
            <a:r>
              <a:rPr sz="900" b="1" i="0">
                <a:solidFill>
                  <a:srgbClr val="9AA5B4"/>
                </a:solidFill>
                <a:latin typeface="Helvetica Neue"/>
              </a:rPr>
              <a:t>RIL</a:t>
            </a:r>
          </a:p>
        </p:txBody>
      </p:sp>
      <p:sp>
        <p:nvSpPr>
          <p:cNvPr id="38" name="TextBox 37"/>
          <p:cNvSpPr txBox="1"/>
          <p:nvPr/>
        </p:nvSpPr>
        <p:spPr>
          <a:xfrm>
            <a:off x="1600200" y="2286000"/>
            <a:ext cx="2240280" cy="310896"/>
          </a:xfrm>
          <a:prstGeom prst="rect">
            <a:avLst/>
          </a:prstGeom>
          <a:noFill/>
        </p:spPr>
        <p:txBody>
          <a:bodyPr wrap="square" lIns="0" rIns="0" tIns="0" bIns="0" anchor="t">
            <a:spAutoFit/>
          </a:bodyPr>
          <a:lstStyle/>
          <a:p>
            <a:pPr algn="l">
              <a:lnSpc>
                <a:spcPct val="115000"/>
              </a:lnSpc>
            </a:pPr>
            <a:r>
              <a:rPr sz="1200" b="1" i="0">
                <a:solidFill>
                  <a:srgbClr val="9AA5B4"/>
                </a:solidFill>
                <a:latin typeface="Helvetica Neue"/>
              </a:rPr>
              <a:t>Risk Intelligence Layer</a:t>
            </a:r>
          </a:p>
        </p:txBody>
      </p:sp>
      <p:sp>
        <p:nvSpPr>
          <p:cNvPr id="39" name="Oval 38"/>
          <p:cNvSpPr/>
          <p:nvPr/>
        </p:nvSpPr>
        <p:spPr>
          <a:xfrm>
            <a:off x="1316736" y="2093976"/>
            <a:ext cx="292608" cy="292608"/>
          </a:xfrm>
          <a:prstGeom prst="ellipse">
            <a:avLst/>
          </a:prstGeom>
          <a:solidFill>
            <a:srgbClr val="9AA5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316736" y="2093976"/>
            <a:ext cx="292608" cy="292608"/>
          </a:xfrm>
          <a:prstGeom prst="rect">
            <a:avLst/>
          </a:prstGeom>
          <a:noFill/>
        </p:spPr>
        <p:txBody>
          <a:bodyPr wrap="square" lIns="0" rIns="0" tIns="0" bIns="0" anchor="ctr">
            <a:spAutoFit/>
          </a:bodyPr>
          <a:lstStyle/>
          <a:p>
            <a:pPr algn="ctr">
              <a:lnSpc>
                <a:spcPct val="115000"/>
              </a:lnSpc>
            </a:pPr>
            <a:r>
              <a:rPr sz="1000" b="1" i="0">
                <a:solidFill>
                  <a:srgbClr val="FFFFFF"/>
                </a:solidFill>
                <a:latin typeface="Helvetica Neue"/>
              </a:rPr>
              <a:t>4</a:t>
            </a:r>
          </a:p>
        </p:txBody>
      </p:sp>
      <p:sp>
        <p:nvSpPr>
          <p:cNvPr id="41" name="Rounded Rectangle 40"/>
          <p:cNvSpPr/>
          <p:nvPr/>
        </p:nvSpPr>
        <p:spPr>
          <a:xfrm>
            <a:off x="4873752" y="2249424"/>
            <a:ext cx="2697480" cy="777240"/>
          </a:xfrm>
          <a:prstGeom prst="roundRect">
            <a:avLst/>
          </a:prstGeom>
          <a:solidFill>
            <a:srgbClr val="D5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4846320" y="2194560"/>
            <a:ext cx="2697480" cy="777240"/>
          </a:xfrm>
          <a:prstGeom prst="roundRect">
            <a:avLst/>
          </a:prstGeom>
          <a:solidFill>
            <a:srgbClr val="FFFFFF"/>
          </a:solidFill>
          <a:ln w="17780">
            <a:solidFill>
              <a:srgbClr val="0A2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4846320" y="2194560"/>
            <a:ext cx="82296" cy="777240"/>
          </a:xfrm>
          <a:prstGeom prst="round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6903720" y="2587752"/>
            <a:ext cx="502920" cy="274320"/>
          </a:xfrm>
          <a:prstGeom prst="round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903720" y="2587752"/>
            <a:ext cx="502920" cy="274320"/>
          </a:xfrm>
          <a:prstGeom prst="rect">
            <a:avLst/>
          </a:prstGeom>
          <a:noFill/>
        </p:spPr>
        <p:txBody>
          <a:bodyPr wrap="square" lIns="0" rIns="0" tIns="0" bIns="0" anchor="ctr">
            <a:spAutoFit/>
          </a:bodyPr>
          <a:lstStyle/>
          <a:p>
            <a:pPr algn="ctr">
              <a:lnSpc>
                <a:spcPct val="115000"/>
              </a:lnSpc>
            </a:pPr>
            <a:r>
              <a:rPr sz="900" b="1" i="0">
                <a:solidFill>
                  <a:srgbClr val="FFFFFF"/>
                </a:solidFill>
                <a:latin typeface="Helvetica Neue"/>
              </a:rPr>
              <a:t>FRL</a:t>
            </a:r>
          </a:p>
        </p:txBody>
      </p:sp>
      <p:sp>
        <p:nvSpPr>
          <p:cNvPr id="46" name="TextBox 45"/>
          <p:cNvSpPr txBox="1"/>
          <p:nvPr/>
        </p:nvSpPr>
        <p:spPr>
          <a:xfrm>
            <a:off x="5029200" y="2286000"/>
            <a:ext cx="2423160" cy="310896"/>
          </a:xfrm>
          <a:prstGeom prst="rect">
            <a:avLst/>
          </a:prstGeom>
          <a:noFill/>
        </p:spPr>
        <p:txBody>
          <a:bodyPr wrap="square" lIns="0" rIns="0" tIns="0" bIns="0" anchor="t">
            <a:spAutoFit/>
          </a:bodyPr>
          <a:lstStyle/>
          <a:p>
            <a:pPr algn="l">
              <a:lnSpc>
                <a:spcPct val="115000"/>
              </a:lnSpc>
            </a:pPr>
            <a:r>
              <a:rPr sz="1200" b="1" i="0">
                <a:solidFill>
                  <a:srgbClr val="0A1628"/>
                </a:solidFill>
                <a:latin typeface="Helvetica Neue"/>
              </a:rPr>
              <a:t>Feedback &amp; Refinement Layer</a:t>
            </a:r>
          </a:p>
        </p:txBody>
      </p:sp>
      <p:sp>
        <p:nvSpPr>
          <p:cNvPr id="47" name="Oval 46"/>
          <p:cNvSpPr/>
          <p:nvPr/>
        </p:nvSpPr>
        <p:spPr>
          <a:xfrm>
            <a:off x="4745736" y="2093976"/>
            <a:ext cx="292608" cy="292608"/>
          </a:xfrm>
          <a:prstGeom prst="ellipse">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745736" y="2093976"/>
            <a:ext cx="292608" cy="292608"/>
          </a:xfrm>
          <a:prstGeom prst="rect">
            <a:avLst/>
          </a:prstGeom>
          <a:noFill/>
        </p:spPr>
        <p:txBody>
          <a:bodyPr wrap="square" lIns="0" rIns="0" tIns="0" bIns="0" anchor="ctr">
            <a:spAutoFit/>
          </a:bodyPr>
          <a:lstStyle/>
          <a:p>
            <a:pPr algn="ctr">
              <a:lnSpc>
                <a:spcPct val="115000"/>
              </a:lnSpc>
            </a:pPr>
            <a:r>
              <a:rPr sz="1000" b="1" i="0">
                <a:solidFill>
                  <a:srgbClr val="FFFFFF"/>
                </a:solidFill>
                <a:latin typeface="Helvetica Neue"/>
              </a:rPr>
              <a:t>5</a:t>
            </a:r>
          </a:p>
        </p:txBody>
      </p:sp>
      <p:sp>
        <p:nvSpPr>
          <p:cNvPr id="49" name="Rounded Rectangle 48"/>
          <p:cNvSpPr/>
          <p:nvPr/>
        </p:nvSpPr>
        <p:spPr>
          <a:xfrm>
            <a:off x="8321040" y="3566160"/>
            <a:ext cx="2194560" cy="822960"/>
          </a:xfrm>
          <a:prstGeom prst="roundRect">
            <a:avLst/>
          </a:prstGeom>
          <a:solidFill>
            <a:srgbClr val="F1F4F8"/>
          </a:solidFill>
          <a:ln w="6350">
            <a:solidFill>
              <a:srgbClr val="E1E5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8321040" y="3566160"/>
            <a:ext cx="82296" cy="822960"/>
          </a:xfrm>
          <a:prstGeom prst="roundRect">
            <a:avLst/>
          </a:prstGeom>
          <a:solidFill>
            <a:srgbClr val="E1E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503920" y="4005072"/>
            <a:ext cx="1920240" cy="274320"/>
          </a:xfrm>
          <a:prstGeom prst="rect">
            <a:avLst/>
          </a:prstGeom>
          <a:noFill/>
        </p:spPr>
        <p:txBody>
          <a:bodyPr wrap="square" lIns="0" rIns="0" tIns="0" bIns="0" anchor="t">
            <a:spAutoFit/>
          </a:bodyPr>
          <a:lstStyle/>
          <a:p>
            <a:pPr algn="l">
              <a:lnSpc>
                <a:spcPct val="115000"/>
              </a:lnSpc>
            </a:pPr>
            <a:r>
              <a:rPr sz="900" b="1" i="0">
                <a:solidFill>
                  <a:srgbClr val="9AA5B4"/>
                </a:solidFill>
                <a:latin typeface="Helvetica Neue"/>
              </a:rPr>
              <a:t>HIL</a:t>
            </a:r>
          </a:p>
        </p:txBody>
      </p:sp>
      <p:sp>
        <p:nvSpPr>
          <p:cNvPr id="52" name="TextBox 51"/>
          <p:cNvSpPr txBox="1"/>
          <p:nvPr/>
        </p:nvSpPr>
        <p:spPr>
          <a:xfrm>
            <a:off x="8503920" y="3657600"/>
            <a:ext cx="1920240" cy="310896"/>
          </a:xfrm>
          <a:prstGeom prst="rect">
            <a:avLst/>
          </a:prstGeom>
          <a:noFill/>
        </p:spPr>
        <p:txBody>
          <a:bodyPr wrap="square" lIns="0" rIns="0" tIns="0" bIns="0" anchor="t">
            <a:spAutoFit/>
          </a:bodyPr>
          <a:lstStyle/>
          <a:p>
            <a:pPr algn="l">
              <a:lnSpc>
                <a:spcPct val="115000"/>
              </a:lnSpc>
            </a:pPr>
            <a:r>
              <a:rPr sz="1200" b="1" i="0">
                <a:solidFill>
                  <a:srgbClr val="9AA5B4"/>
                </a:solidFill>
                <a:latin typeface="Helvetica Neue"/>
              </a:rPr>
              <a:t>Human Interaction Layer</a:t>
            </a:r>
          </a:p>
        </p:txBody>
      </p:sp>
      <p:sp>
        <p:nvSpPr>
          <p:cNvPr id="53" name="Oval 52"/>
          <p:cNvSpPr/>
          <p:nvPr/>
        </p:nvSpPr>
        <p:spPr>
          <a:xfrm>
            <a:off x="8220456" y="3465576"/>
            <a:ext cx="292608" cy="292608"/>
          </a:xfrm>
          <a:prstGeom prst="ellipse">
            <a:avLst/>
          </a:prstGeom>
          <a:solidFill>
            <a:srgbClr val="9AA5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220456" y="3465576"/>
            <a:ext cx="292608" cy="292608"/>
          </a:xfrm>
          <a:prstGeom prst="rect">
            <a:avLst/>
          </a:prstGeom>
          <a:noFill/>
        </p:spPr>
        <p:txBody>
          <a:bodyPr wrap="square" lIns="0" rIns="0" tIns="0" bIns="0" anchor="ctr">
            <a:spAutoFit/>
          </a:bodyPr>
          <a:lstStyle/>
          <a:p>
            <a:pPr algn="ctr">
              <a:lnSpc>
                <a:spcPct val="115000"/>
              </a:lnSpc>
            </a:pPr>
            <a:r>
              <a:rPr sz="1000" b="1" i="0">
                <a:solidFill>
                  <a:srgbClr val="FFFFFF"/>
                </a:solidFill>
                <a:latin typeface="Helvetica Neue"/>
              </a:rPr>
              <a:t>6</a:t>
            </a:r>
          </a:p>
        </p:txBody>
      </p:sp>
      <p:cxnSp>
        <p:nvCxnSpPr>
          <p:cNvPr id="55" name="Connector 54"/>
          <p:cNvCxnSpPr/>
          <p:nvPr/>
        </p:nvCxnSpPr>
        <p:spPr>
          <a:xfrm flipV="1">
            <a:off x="2674620" y="5760720"/>
            <a:ext cx="0" cy="365760"/>
          </a:xfrm>
          <a:prstGeom prst="line">
            <a:avLst/>
          </a:prstGeom>
          <a:ln w="11430">
            <a:solidFill>
              <a:srgbClr val="9AA5B4"/>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V="1">
            <a:off x="2674620" y="4389120"/>
            <a:ext cx="1828800" cy="594360"/>
          </a:xfrm>
          <a:prstGeom prst="line">
            <a:avLst/>
          </a:prstGeom>
          <a:ln w="11430">
            <a:solidFill>
              <a:srgbClr val="9AA5B4"/>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4503420" y="4389120"/>
            <a:ext cx="1691640" cy="594360"/>
          </a:xfrm>
          <a:prstGeom prst="line">
            <a:avLst/>
          </a:prstGeom>
          <a:ln w="11430">
            <a:solidFill>
              <a:srgbClr val="9AA5B4"/>
            </a:solidFill>
            <a:tailEnd type="triangle" w="med" h="med"/>
            <a:headEnd type="triangle" w="med" h="med"/>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flipV="1">
            <a:off x="2674620" y="2971800"/>
            <a:ext cx="1828800" cy="594360"/>
          </a:xfrm>
          <a:prstGeom prst="line">
            <a:avLst/>
          </a:prstGeom>
          <a:ln w="11430">
            <a:solidFill>
              <a:srgbClr val="9AA5B4"/>
            </a:solidFill>
            <a:tailEnd type="triangle" w="med" h="med"/>
            <a:headEnd type="triangle" w="med" h="med"/>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7589520" y="3977640"/>
            <a:ext cx="731520" cy="0"/>
          </a:xfrm>
          <a:prstGeom prst="line">
            <a:avLst/>
          </a:prstGeom>
          <a:ln w="11430">
            <a:solidFill>
              <a:srgbClr val="9AA5B4"/>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10515600" y="3977640"/>
            <a:ext cx="182880" cy="22859"/>
          </a:xfrm>
          <a:prstGeom prst="line">
            <a:avLst/>
          </a:prstGeom>
          <a:ln w="11430">
            <a:solidFill>
              <a:srgbClr val="9AA5B4"/>
            </a:solidFill>
            <a:tailEnd type="triangle" w="med" h="med"/>
            <a:headEnd type="triangle" w="med" h="med"/>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3931920" y="2583180"/>
            <a:ext cx="914400" cy="0"/>
          </a:xfrm>
          <a:prstGeom prst="line">
            <a:avLst/>
          </a:prstGeom>
          <a:ln w="24130">
            <a:solidFill>
              <a:srgbClr val="3B6FA8"/>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a:off x="4503420" y="2971800"/>
            <a:ext cx="1691640" cy="594360"/>
          </a:xfrm>
          <a:prstGeom prst="line">
            <a:avLst/>
          </a:prstGeom>
          <a:ln w="24130">
            <a:solidFill>
              <a:srgbClr val="3B6FA8"/>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flipV="1">
            <a:off x="7543800" y="2583180"/>
            <a:ext cx="1874520" cy="982980"/>
          </a:xfrm>
          <a:prstGeom prst="line">
            <a:avLst/>
          </a:prstGeom>
          <a:ln w="24130">
            <a:solidFill>
              <a:srgbClr val="3B6FA8"/>
            </a:solidFill>
            <a:tailEnd type="triangle" w="med" h="med"/>
          </a:ln>
        </p:spPr>
        <p:style>
          <a:lnRef idx="2">
            <a:schemeClr val="accent1"/>
          </a:lnRef>
          <a:fillRef idx="0">
            <a:schemeClr val="accent1"/>
          </a:fillRef>
          <a:effectRef idx="1">
            <a:schemeClr val="accent1"/>
          </a:effectRef>
          <a:fontRef idx="minor">
            <a:schemeClr val="tx1"/>
          </a:fontRef>
        </p:style>
      </p:cxnSp>
      <p:sp>
        <p:nvSpPr>
          <p:cNvPr id="64" name="Rounded Rectangle 63"/>
          <p:cNvSpPr/>
          <p:nvPr/>
        </p:nvSpPr>
        <p:spPr>
          <a:xfrm>
            <a:off x="3954780" y="2446020"/>
            <a:ext cx="868680" cy="2743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3954780" y="2446020"/>
            <a:ext cx="868680" cy="274320"/>
          </a:xfrm>
          <a:prstGeom prst="rect">
            <a:avLst/>
          </a:prstGeom>
          <a:noFill/>
        </p:spPr>
        <p:txBody>
          <a:bodyPr wrap="square" lIns="0" rIns="0" tIns="0" bIns="0" anchor="ctr">
            <a:spAutoFit/>
          </a:bodyPr>
          <a:lstStyle/>
          <a:p>
            <a:pPr algn="ctr">
              <a:lnSpc>
                <a:spcPct val="115000"/>
              </a:lnSpc>
            </a:pPr>
            <a:r>
              <a:rPr sz="800" b="0" i="0">
                <a:solidFill>
                  <a:srgbClr val="3B6FA8"/>
                </a:solidFill>
                <a:latin typeface="Helvetica Neue"/>
              </a:rPr>
              <a:t>risk output</a:t>
            </a:r>
          </a:p>
        </p:txBody>
      </p:sp>
      <p:sp>
        <p:nvSpPr>
          <p:cNvPr id="66" name="Rounded Rectangle 65"/>
          <p:cNvSpPr/>
          <p:nvPr/>
        </p:nvSpPr>
        <p:spPr>
          <a:xfrm>
            <a:off x="5623560" y="3108960"/>
            <a:ext cx="1188720" cy="2743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5623560" y="3108960"/>
            <a:ext cx="1188720" cy="274320"/>
          </a:xfrm>
          <a:prstGeom prst="rect">
            <a:avLst/>
          </a:prstGeom>
          <a:noFill/>
        </p:spPr>
        <p:txBody>
          <a:bodyPr wrap="square" lIns="0" rIns="0" tIns="0" bIns="0" anchor="ctr">
            <a:spAutoFit/>
          </a:bodyPr>
          <a:lstStyle/>
          <a:p>
            <a:pPr algn="ctr">
              <a:lnSpc>
                <a:spcPct val="115000"/>
              </a:lnSpc>
            </a:pPr>
            <a:r>
              <a:rPr sz="800" b="0" i="0">
                <a:solidFill>
                  <a:srgbClr val="3B6FA8"/>
                </a:solidFill>
                <a:latin typeface="Helvetica Neue"/>
              </a:rPr>
              <a:t>model updates</a:t>
            </a:r>
          </a:p>
        </p:txBody>
      </p:sp>
      <p:sp>
        <p:nvSpPr>
          <p:cNvPr id="68" name="Rounded Rectangle 67"/>
          <p:cNvSpPr/>
          <p:nvPr/>
        </p:nvSpPr>
        <p:spPr>
          <a:xfrm>
            <a:off x="7795260" y="2880360"/>
            <a:ext cx="1417320" cy="2743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7795260" y="2880360"/>
            <a:ext cx="1417320" cy="274320"/>
          </a:xfrm>
          <a:prstGeom prst="rect">
            <a:avLst/>
          </a:prstGeom>
          <a:noFill/>
        </p:spPr>
        <p:txBody>
          <a:bodyPr wrap="square" lIns="0" rIns="0" tIns="0" bIns="0" anchor="ctr">
            <a:spAutoFit/>
          </a:bodyPr>
          <a:lstStyle/>
          <a:p>
            <a:pPr algn="ctr">
              <a:lnSpc>
                <a:spcPct val="115000"/>
              </a:lnSpc>
            </a:pPr>
            <a:r>
              <a:rPr sz="800" b="0" i="0">
                <a:solidFill>
                  <a:srgbClr val="3B6FA8"/>
                </a:solidFill>
                <a:latin typeface="Helvetica Neue"/>
              </a:rPr>
              <a:t>user evaluations</a:t>
            </a:r>
          </a:p>
        </p:txBody>
      </p:sp>
      <p:sp>
        <p:nvSpPr>
          <p:cNvPr id="70" name="Rectangle 69"/>
          <p:cNvSpPr/>
          <p:nvPr/>
        </p:nvSpPr>
        <p:spPr>
          <a:xfrm>
            <a:off x="7772400" y="6409944"/>
            <a:ext cx="256032" cy="4572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8138160" y="6309360"/>
            <a:ext cx="1463040" cy="256032"/>
          </a:xfrm>
          <a:prstGeom prst="rect">
            <a:avLst/>
          </a:prstGeom>
          <a:noFill/>
        </p:spPr>
        <p:txBody>
          <a:bodyPr wrap="square" lIns="0" rIns="0" tIns="0" bIns="0" anchor="ctr">
            <a:spAutoFit/>
          </a:bodyPr>
          <a:lstStyle/>
          <a:p>
            <a:pPr algn="l">
              <a:lnSpc>
                <a:spcPct val="115000"/>
              </a:lnSpc>
            </a:pPr>
            <a:r>
              <a:rPr sz="900" b="0" i="0">
                <a:solidFill>
                  <a:srgbClr val="4A5C74"/>
                </a:solidFill>
                <a:latin typeface="Helvetica Neue"/>
              </a:rPr>
              <a:t>Data path (up)</a:t>
            </a:r>
          </a:p>
        </p:txBody>
      </p:sp>
      <p:sp>
        <p:nvSpPr>
          <p:cNvPr id="72" name="Rectangle 71"/>
          <p:cNvSpPr/>
          <p:nvPr/>
        </p:nvSpPr>
        <p:spPr>
          <a:xfrm>
            <a:off x="9692640" y="6409944"/>
            <a:ext cx="256032" cy="45720"/>
          </a:xfrm>
          <a:prstGeom prst="rect">
            <a:avLst/>
          </a:prstGeom>
          <a:solidFill>
            <a:srgbClr val="3B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10058400" y="6309360"/>
            <a:ext cx="2011680" cy="256032"/>
          </a:xfrm>
          <a:prstGeom prst="rect">
            <a:avLst/>
          </a:prstGeom>
          <a:noFill/>
        </p:spPr>
        <p:txBody>
          <a:bodyPr wrap="square" lIns="0" rIns="0" tIns="0" bIns="0" anchor="ctr">
            <a:spAutoFit/>
          </a:bodyPr>
          <a:lstStyle/>
          <a:p>
            <a:pPr algn="l">
              <a:lnSpc>
                <a:spcPct val="115000"/>
              </a:lnSpc>
            </a:pPr>
            <a:r>
              <a:rPr sz="900" b="0" i="0">
                <a:solidFill>
                  <a:srgbClr val="4A5C74"/>
                </a:solidFill>
                <a:latin typeface="Helvetica Neue"/>
              </a:rPr>
              <a:t>Feedback path (down)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972800" cy="256032"/>
          </a:xfrm>
          <a:prstGeom prst="rect">
            <a:avLst/>
          </a:prstGeom>
          <a:noFill/>
        </p:spPr>
        <p:txBody>
          <a:bodyPr wrap="square" lIns="0" rIns="0" tIns="0" bIns="0" anchor="t">
            <a:spAutoFit/>
          </a:bodyPr>
          <a:lstStyle/>
          <a:p>
            <a:pPr algn="l">
              <a:lnSpc>
                <a:spcPct val="115000"/>
              </a:lnSpc>
            </a:pPr>
            <a:r>
              <a:rPr sz="900" b="1" i="0" spc="250">
                <a:solidFill>
                  <a:srgbClr val="0A2540"/>
                </a:solidFill>
                <a:latin typeface="Helvetica Neue"/>
              </a:rPr>
              <a:t>LAYER 6 OF 6 · HIL</a:t>
            </a:r>
          </a:p>
        </p:txBody>
      </p:sp>
      <p:sp>
        <p:nvSpPr>
          <p:cNvPr id="4" name="TextBox 3"/>
          <p:cNvSpPr txBox="1"/>
          <p:nvPr/>
        </p:nvSpPr>
        <p:spPr>
          <a:xfrm>
            <a:off x="731520" y="713232"/>
            <a:ext cx="10972800" cy="502920"/>
          </a:xfrm>
          <a:prstGeom prst="rect">
            <a:avLst/>
          </a:prstGeom>
          <a:noFill/>
        </p:spPr>
        <p:txBody>
          <a:bodyPr wrap="square" lIns="0" rIns="0" tIns="0" bIns="0" anchor="t">
            <a:spAutoFit/>
          </a:bodyPr>
          <a:lstStyle/>
          <a:p>
            <a:pPr algn="l">
              <a:lnSpc>
                <a:spcPct val="115000"/>
              </a:lnSpc>
            </a:pPr>
            <a:r>
              <a:rPr sz="2400" b="1" i="0">
                <a:solidFill>
                  <a:srgbClr val="0A1628"/>
                </a:solidFill>
                <a:latin typeface="Helvetica Neue"/>
              </a:rPr>
              <a:t>Human Interaction Layer</a:t>
            </a:r>
          </a:p>
        </p:txBody>
      </p:sp>
      <p:sp>
        <p:nvSpPr>
          <p:cNvPr id="5" name="TextBox 4"/>
          <p:cNvSpPr txBox="1"/>
          <p:nvPr/>
        </p:nvSpPr>
        <p:spPr>
          <a:xfrm>
            <a:off x="731520" y="1234440"/>
            <a:ext cx="10972800" cy="292608"/>
          </a:xfrm>
          <a:prstGeom prst="rect">
            <a:avLst/>
          </a:prstGeom>
          <a:noFill/>
        </p:spPr>
        <p:txBody>
          <a:bodyPr wrap="square" lIns="0" rIns="0" tIns="0" bIns="0" anchor="t">
            <a:spAutoFit/>
          </a:bodyPr>
          <a:lstStyle/>
          <a:p>
            <a:pPr algn="l">
              <a:lnSpc>
                <a:spcPct val="115000"/>
              </a:lnSpc>
            </a:pPr>
            <a:r>
              <a:rPr sz="1200" b="0" i="1">
                <a:solidFill>
                  <a:srgbClr val="4A5C74"/>
                </a:solidFill>
                <a:latin typeface="Helvetica Neue"/>
              </a:rPr>
              <a:t>Presents cases to a human reviewer and captures their evaluation.</a:t>
            </a:r>
          </a:p>
        </p:txBody>
      </p:sp>
      <p:sp>
        <p:nvSpPr>
          <p:cNvPr id="6" name="Rectangle 5"/>
          <p:cNvSpPr/>
          <p:nvPr/>
        </p:nvSpPr>
        <p:spPr>
          <a:xfrm>
            <a:off x="731520" y="1572768"/>
            <a:ext cx="457200" cy="32004"/>
          </a:xfrm>
          <a:prstGeom prst="rect">
            <a:avLst/>
          </a:prstGeom>
          <a:solidFill>
            <a:srgbClr val="1B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68680" y="2011680"/>
            <a:ext cx="10515600" cy="3840480"/>
          </a:xfrm>
          <a:prstGeom prst="roundRect">
            <a:avLst/>
          </a:prstGeom>
          <a:noFill/>
          <a:ln w="12700">
            <a:solidFill>
              <a:srgbClr val="9AA5B4"/>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6172200"/>
            <a:ext cx="548640" cy="411480"/>
          </a:xfrm>
          <a:prstGeom prst="rect">
            <a:avLst/>
          </a:prstGeom>
          <a:noFill/>
        </p:spPr>
        <p:txBody>
          <a:bodyPr wrap="square" lIns="0" rIns="0" tIns="0" bIns="0" anchor="t">
            <a:spAutoFit/>
          </a:bodyPr>
          <a:lstStyle/>
          <a:p>
            <a:pPr algn="l">
              <a:lnSpc>
                <a:spcPct val="115000"/>
              </a:lnSpc>
            </a:pPr>
            <a:r>
              <a:rPr sz="700" b="0" i="0">
                <a:solidFill>
                  <a:srgbClr val="9AA5B4"/>
                </a:solidFill>
                <a:latin typeface="Helvetica Neue"/>
              </a:rPr>
              <a:t>CAPRA</a:t>
            </a:r>
          </a:p>
          <a:p>
            <a:pPr algn="l">
              <a:lnSpc>
                <a:spcPct val="115000"/>
              </a:lnSpc>
            </a:pPr>
            <a:r>
              <a:rPr sz="700" b="0" i="0">
                <a:solidFill>
                  <a:srgbClr val="9AA5B4"/>
                </a:solidFill>
                <a:latin typeface="Helvetica Neue"/>
              </a:rPr>
              <a:t>System</a:t>
            </a:r>
          </a:p>
          <a:p>
            <a:pPr algn="l">
              <a:lnSpc>
                <a:spcPct val="115000"/>
              </a:lnSpc>
            </a:pPr>
            <a:r>
              <a:rPr sz="700" b="0" i="0">
                <a:solidFill>
                  <a:srgbClr val="9AA5B4"/>
                </a:solidFill>
                <a:latin typeface="Helvetica Neue"/>
              </a:rPr>
              <a:t>Boundary</a:t>
            </a:r>
          </a:p>
        </p:txBody>
      </p:sp>
      <p:sp>
        <p:nvSpPr>
          <p:cNvPr id="9" name="Rounded Rectangle 8"/>
          <p:cNvSpPr/>
          <p:nvPr/>
        </p:nvSpPr>
        <p:spPr>
          <a:xfrm>
            <a:off x="1417320" y="6126480"/>
            <a:ext cx="2514600" cy="457200"/>
          </a:xfrm>
          <a:prstGeom prst="roundRect">
            <a:avLst/>
          </a:prstGeom>
          <a:solidFill>
            <a:srgbClr val="F1F4F8"/>
          </a:solidFill>
          <a:ln w="6350">
            <a:solidFill>
              <a:srgbClr val="E1E5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17320" y="6126480"/>
            <a:ext cx="2514600" cy="457200"/>
          </a:xfrm>
          <a:prstGeom prst="rect">
            <a:avLst/>
          </a:prstGeom>
          <a:noFill/>
        </p:spPr>
        <p:txBody>
          <a:bodyPr wrap="square" lIns="0" rIns="0" tIns="0" bIns="0" anchor="ctr">
            <a:spAutoFit/>
          </a:bodyPr>
          <a:lstStyle/>
          <a:p>
            <a:pPr algn="ctr">
              <a:lnSpc>
                <a:spcPct val="115000"/>
              </a:lnSpc>
            </a:pPr>
            <a:r>
              <a:rPr sz="1000" b="1" i="0">
                <a:solidFill>
                  <a:srgbClr val="4A5C74"/>
                </a:solidFill>
                <a:latin typeface="Helvetica Neue"/>
              </a:rPr>
              <a:t>External Systems</a:t>
            </a:r>
          </a:p>
        </p:txBody>
      </p:sp>
      <p:sp>
        <p:nvSpPr>
          <p:cNvPr id="11" name="Oval 10"/>
          <p:cNvSpPr/>
          <p:nvPr/>
        </p:nvSpPr>
        <p:spPr>
          <a:xfrm>
            <a:off x="1316736" y="6025896"/>
            <a:ext cx="292608" cy="292608"/>
          </a:xfrm>
          <a:prstGeom prst="ellipse">
            <a:avLst/>
          </a:prstGeom>
          <a:solidFill>
            <a:srgbClr val="9AA5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316736" y="6025896"/>
            <a:ext cx="292608" cy="292608"/>
          </a:xfrm>
          <a:prstGeom prst="rect">
            <a:avLst/>
          </a:prstGeom>
          <a:noFill/>
        </p:spPr>
        <p:txBody>
          <a:bodyPr wrap="square" lIns="0" rIns="0" tIns="0" bIns="0" anchor="ctr">
            <a:spAutoFit/>
          </a:bodyPr>
          <a:lstStyle/>
          <a:p>
            <a:pPr algn="ctr">
              <a:lnSpc>
                <a:spcPct val="115000"/>
              </a:lnSpc>
            </a:pPr>
            <a:r>
              <a:rPr sz="1000" b="1" i="0">
                <a:solidFill>
                  <a:srgbClr val="FFFFFF"/>
                </a:solidFill>
                <a:latin typeface="Helvetica Neue"/>
              </a:rPr>
              <a:t>0</a:t>
            </a:r>
          </a:p>
        </p:txBody>
      </p:sp>
      <p:sp>
        <p:nvSpPr>
          <p:cNvPr id="13" name="Oval 12"/>
          <p:cNvSpPr/>
          <p:nvPr/>
        </p:nvSpPr>
        <p:spPr>
          <a:xfrm>
            <a:off x="10698480" y="3749039"/>
            <a:ext cx="914400" cy="502920"/>
          </a:xfrm>
          <a:prstGeom prst="ellipse">
            <a:avLst/>
          </a:prstGeom>
          <a:solidFill>
            <a:srgbClr val="1B3A5E"/>
          </a:solidFill>
          <a:ln w="15240">
            <a:solidFill>
              <a:srgbClr val="1B3A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698480" y="3749039"/>
            <a:ext cx="914400" cy="502920"/>
          </a:xfrm>
          <a:prstGeom prst="rect">
            <a:avLst/>
          </a:prstGeom>
          <a:noFill/>
        </p:spPr>
        <p:txBody>
          <a:bodyPr wrap="square" lIns="0" rIns="0" tIns="0" bIns="0" anchor="ctr">
            <a:spAutoFit/>
          </a:bodyPr>
          <a:lstStyle/>
          <a:p>
            <a:pPr algn="ctr">
              <a:lnSpc>
                <a:spcPct val="115000"/>
              </a:lnSpc>
            </a:pPr>
            <a:r>
              <a:rPr sz="1000" b="1" i="0">
                <a:solidFill>
                  <a:srgbClr val="FFFFFF"/>
                </a:solidFill>
                <a:latin typeface="Helvetica Neue"/>
              </a:rPr>
              <a:t>Human</a:t>
            </a:r>
          </a:p>
        </p:txBody>
      </p:sp>
      <p:sp>
        <p:nvSpPr>
          <p:cNvPr id="15" name="Oval 14"/>
          <p:cNvSpPr/>
          <p:nvPr/>
        </p:nvSpPr>
        <p:spPr>
          <a:xfrm>
            <a:off x="10597896" y="3648455"/>
            <a:ext cx="292608" cy="292608"/>
          </a:xfrm>
          <a:prstGeom prst="ellipse">
            <a:avLst/>
          </a:prstGeom>
          <a:solidFill>
            <a:srgbClr val="1B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97896" y="3648455"/>
            <a:ext cx="292608" cy="292608"/>
          </a:xfrm>
          <a:prstGeom prst="rect">
            <a:avLst/>
          </a:prstGeom>
          <a:noFill/>
        </p:spPr>
        <p:txBody>
          <a:bodyPr wrap="square" lIns="0" rIns="0" tIns="0" bIns="0" anchor="ctr">
            <a:spAutoFit/>
          </a:bodyPr>
          <a:lstStyle/>
          <a:p>
            <a:pPr algn="ctr">
              <a:lnSpc>
                <a:spcPct val="115000"/>
              </a:lnSpc>
            </a:pPr>
            <a:r>
              <a:rPr sz="1000" b="1" i="0">
                <a:solidFill>
                  <a:srgbClr val="FFFFFF"/>
                </a:solidFill>
                <a:latin typeface="Helvetica Neue"/>
              </a:rPr>
              <a:t>7</a:t>
            </a:r>
          </a:p>
        </p:txBody>
      </p:sp>
      <p:sp>
        <p:nvSpPr>
          <p:cNvPr id="17" name="Rounded Rectangle 16"/>
          <p:cNvSpPr/>
          <p:nvPr/>
        </p:nvSpPr>
        <p:spPr>
          <a:xfrm>
            <a:off x="1417320" y="4983480"/>
            <a:ext cx="2514600" cy="777240"/>
          </a:xfrm>
          <a:prstGeom prst="roundRect">
            <a:avLst/>
          </a:prstGeom>
          <a:solidFill>
            <a:srgbClr val="F1F4F8"/>
          </a:solidFill>
          <a:ln w="6350">
            <a:solidFill>
              <a:srgbClr val="E1E5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417320" y="4983480"/>
            <a:ext cx="82296" cy="777240"/>
          </a:xfrm>
          <a:prstGeom prst="roundRect">
            <a:avLst/>
          </a:prstGeom>
          <a:solidFill>
            <a:srgbClr val="E1E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600200" y="5422392"/>
            <a:ext cx="2240280" cy="274320"/>
          </a:xfrm>
          <a:prstGeom prst="rect">
            <a:avLst/>
          </a:prstGeom>
          <a:noFill/>
        </p:spPr>
        <p:txBody>
          <a:bodyPr wrap="square" lIns="0" rIns="0" tIns="0" bIns="0" anchor="t">
            <a:spAutoFit/>
          </a:bodyPr>
          <a:lstStyle/>
          <a:p>
            <a:pPr algn="l">
              <a:lnSpc>
                <a:spcPct val="115000"/>
              </a:lnSpc>
            </a:pPr>
            <a:r>
              <a:rPr sz="900" b="1" i="0">
                <a:solidFill>
                  <a:srgbClr val="9AA5B4"/>
                </a:solidFill>
                <a:latin typeface="Helvetica Neue"/>
              </a:rPr>
              <a:t>DFL</a:t>
            </a:r>
          </a:p>
        </p:txBody>
      </p:sp>
      <p:sp>
        <p:nvSpPr>
          <p:cNvPr id="20" name="TextBox 19"/>
          <p:cNvSpPr txBox="1"/>
          <p:nvPr/>
        </p:nvSpPr>
        <p:spPr>
          <a:xfrm>
            <a:off x="1600200" y="5074920"/>
            <a:ext cx="2240280" cy="310896"/>
          </a:xfrm>
          <a:prstGeom prst="rect">
            <a:avLst/>
          </a:prstGeom>
          <a:noFill/>
        </p:spPr>
        <p:txBody>
          <a:bodyPr wrap="square" lIns="0" rIns="0" tIns="0" bIns="0" anchor="t">
            <a:spAutoFit/>
          </a:bodyPr>
          <a:lstStyle/>
          <a:p>
            <a:pPr algn="l">
              <a:lnSpc>
                <a:spcPct val="115000"/>
              </a:lnSpc>
            </a:pPr>
            <a:r>
              <a:rPr sz="1200" b="1" i="0">
                <a:solidFill>
                  <a:srgbClr val="9AA5B4"/>
                </a:solidFill>
                <a:latin typeface="Helvetica Neue"/>
              </a:rPr>
              <a:t>Data Federation Layer</a:t>
            </a:r>
          </a:p>
        </p:txBody>
      </p:sp>
      <p:sp>
        <p:nvSpPr>
          <p:cNvPr id="21" name="Oval 20"/>
          <p:cNvSpPr/>
          <p:nvPr/>
        </p:nvSpPr>
        <p:spPr>
          <a:xfrm>
            <a:off x="1316736" y="4882896"/>
            <a:ext cx="292608" cy="292608"/>
          </a:xfrm>
          <a:prstGeom prst="ellipse">
            <a:avLst/>
          </a:prstGeom>
          <a:solidFill>
            <a:srgbClr val="9AA5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316736" y="4882896"/>
            <a:ext cx="292608" cy="292608"/>
          </a:xfrm>
          <a:prstGeom prst="rect">
            <a:avLst/>
          </a:prstGeom>
          <a:noFill/>
        </p:spPr>
        <p:txBody>
          <a:bodyPr wrap="square" lIns="0" rIns="0" tIns="0" bIns="0" anchor="ctr">
            <a:spAutoFit/>
          </a:bodyPr>
          <a:lstStyle/>
          <a:p>
            <a:pPr algn="ctr">
              <a:lnSpc>
                <a:spcPct val="115000"/>
              </a:lnSpc>
            </a:pPr>
            <a:r>
              <a:rPr sz="1000" b="1" i="0">
                <a:solidFill>
                  <a:srgbClr val="FFFFFF"/>
                </a:solidFill>
                <a:latin typeface="Helvetica Neue"/>
              </a:rPr>
              <a:t>1</a:t>
            </a:r>
          </a:p>
        </p:txBody>
      </p:sp>
      <p:sp>
        <p:nvSpPr>
          <p:cNvPr id="23" name="Rounded Rectangle 22"/>
          <p:cNvSpPr/>
          <p:nvPr/>
        </p:nvSpPr>
        <p:spPr>
          <a:xfrm>
            <a:off x="4846320" y="4983480"/>
            <a:ext cx="2697480" cy="777240"/>
          </a:xfrm>
          <a:prstGeom prst="roundRect">
            <a:avLst/>
          </a:prstGeom>
          <a:solidFill>
            <a:srgbClr val="F1F4F8"/>
          </a:solidFill>
          <a:ln w="6350">
            <a:solidFill>
              <a:srgbClr val="E1E5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4846320" y="4983480"/>
            <a:ext cx="82296" cy="777240"/>
          </a:xfrm>
          <a:prstGeom prst="roundRect">
            <a:avLst/>
          </a:prstGeom>
          <a:solidFill>
            <a:srgbClr val="E1E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29200" y="5422392"/>
            <a:ext cx="2423160" cy="274320"/>
          </a:xfrm>
          <a:prstGeom prst="rect">
            <a:avLst/>
          </a:prstGeom>
          <a:noFill/>
        </p:spPr>
        <p:txBody>
          <a:bodyPr wrap="square" lIns="0" rIns="0" tIns="0" bIns="0" anchor="t">
            <a:spAutoFit/>
          </a:bodyPr>
          <a:lstStyle/>
          <a:p>
            <a:pPr algn="l">
              <a:lnSpc>
                <a:spcPct val="115000"/>
              </a:lnSpc>
            </a:pPr>
            <a:r>
              <a:rPr sz="900" b="1" i="0">
                <a:solidFill>
                  <a:srgbClr val="9AA5B4"/>
                </a:solidFill>
                <a:latin typeface="Helvetica Neue"/>
              </a:rPr>
              <a:t>CPL</a:t>
            </a:r>
          </a:p>
        </p:txBody>
      </p:sp>
      <p:sp>
        <p:nvSpPr>
          <p:cNvPr id="26" name="TextBox 25"/>
          <p:cNvSpPr txBox="1"/>
          <p:nvPr/>
        </p:nvSpPr>
        <p:spPr>
          <a:xfrm>
            <a:off x="5029200" y="5074920"/>
            <a:ext cx="2423160" cy="310896"/>
          </a:xfrm>
          <a:prstGeom prst="rect">
            <a:avLst/>
          </a:prstGeom>
          <a:noFill/>
        </p:spPr>
        <p:txBody>
          <a:bodyPr wrap="square" lIns="0" rIns="0" tIns="0" bIns="0" anchor="t">
            <a:spAutoFit/>
          </a:bodyPr>
          <a:lstStyle/>
          <a:p>
            <a:pPr algn="l">
              <a:lnSpc>
                <a:spcPct val="115000"/>
              </a:lnSpc>
            </a:pPr>
            <a:r>
              <a:rPr sz="1200" b="1" i="0">
                <a:solidFill>
                  <a:srgbClr val="9AA5B4"/>
                </a:solidFill>
                <a:latin typeface="Helvetica Neue"/>
              </a:rPr>
              <a:t>Context Processing Layer</a:t>
            </a:r>
          </a:p>
        </p:txBody>
      </p:sp>
      <p:sp>
        <p:nvSpPr>
          <p:cNvPr id="27" name="Oval 26"/>
          <p:cNvSpPr/>
          <p:nvPr/>
        </p:nvSpPr>
        <p:spPr>
          <a:xfrm>
            <a:off x="4745736" y="4882896"/>
            <a:ext cx="292608" cy="292608"/>
          </a:xfrm>
          <a:prstGeom prst="ellipse">
            <a:avLst/>
          </a:prstGeom>
          <a:solidFill>
            <a:srgbClr val="9AA5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745736" y="4882896"/>
            <a:ext cx="292608" cy="292608"/>
          </a:xfrm>
          <a:prstGeom prst="rect">
            <a:avLst/>
          </a:prstGeom>
          <a:noFill/>
        </p:spPr>
        <p:txBody>
          <a:bodyPr wrap="square" lIns="0" rIns="0" tIns="0" bIns="0" anchor="ctr">
            <a:spAutoFit/>
          </a:bodyPr>
          <a:lstStyle/>
          <a:p>
            <a:pPr algn="ctr">
              <a:lnSpc>
                <a:spcPct val="115000"/>
              </a:lnSpc>
            </a:pPr>
            <a:r>
              <a:rPr sz="1000" b="1" i="0">
                <a:solidFill>
                  <a:srgbClr val="FFFFFF"/>
                </a:solidFill>
                <a:latin typeface="Helvetica Neue"/>
              </a:rPr>
              <a:t>3</a:t>
            </a:r>
          </a:p>
        </p:txBody>
      </p:sp>
      <p:sp>
        <p:nvSpPr>
          <p:cNvPr id="29" name="Rounded Rectangle 28"/>
          <p:cNvSpPr/>
          <p:nvPr/>
        </p:nvSpPr>
        <p:spPr>
          <a:xfrm>
            <a:off x="1417320" y="3566160"/>
            <a:ext cx="6172200" cy="822960"/>
          </a:xfrm>
          <a:prstGeom prst="roundRect">
            <a:avLst/>
          </a:prstGeom>
          <a:solidFill>
            <a:srgbClr val="F1F4F8"/>
          </a:solidFill>
          <a:ln w="6350">
            <a:solidFill>
              <a:srgbClr val="E1E5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1417320" y="3566160"/>
            <a:ext cx="82296" cy="822960"/>
          </a:xfrm>
          <a:prstGeom prst="roundRect">
            <a:avLst/>
          </a:prstGeom>
          <a:solidFill>
            <a:srgbClr val="E1E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600200" y="4005072"/>
            <a:ext cx="5897880" cy="274320"/>
          </a:xfrm>
          <a:prstGeom prst="rect">
            <a:avLst/>
          </a:prstGeom>
          <a:noFill/>
        </p:spPr>
        <p:txBody>
          <a:bodyPr wrap="square" lIns="0" rIns="0" tIns="0" bIns="0" anchor="t">
            <a:spAutoFit/>
          </a:bodyPr>
          <a:lstStyle/>
          <a:p>
            <a:pPr algn="l">
              <a:lnSpc>
                <a:spcPct val="115000"/>
              </a:lnSpc>
            </a:pPr>
            <a:r>
              <a:rPr sz="900" b="1" i="0">
                <a:solidFill>
                  <a:srgbClr val="9AA5B4"/>
                </a:solidFill>
                <a:latin typeface="Helvetica Neue"/>
              </a:rPr>
              <a:t>CL</a:t>
            </a:r>
          </a:p>
        </p:txBody>
      </p:sp>
      <p:sp>
        <p:nvSpPr>
          <p:cNvPr id="32" name="TextBox 31"/>
          <p:cNvSpPr txBox="1"/>
          <p:nvPr/>
        </p:nvSpPr>
        <p:spPr>
          <a:xfrm>
            <a:off x="1600200" y="3657600"/>
            <a:ext cx="5897880" cy="310896"/>
          </a:xfrm>
          <a:prstGeom prst="rect">
            <a:avLst/>
          </a:prstGeom>
          <a:noFill/>
        </p:spPr>
        <p:txBody>
          <a:bodyPr wrap="square" lIns="0" rIns="0" tIns="0" bIns="0" anchor="t">
            <a:spAutoFit/>
          </a:bodyPr>
          <a:lstStyle/>
          <a:p>
            <a:pPr algn="l">
              <a:lnSpc>
                <a:spcPct val="115000"/>
              </a:lnSpc>
            </a:pPr>
            <a:r>
              <a:rPr sz="1200" b="1" i="0">
                <a:solidFill>
                  <a:srgbClr val="9AA5B4"/>
                </a:solidFill>
                <a:latin typeface="Helvetica Neue"/>
              </a:rPr>
              <a:t>Context Layer</a:t>
            </a:r>
          </a:p>
        </p:txBody>
      </p:sp>
      <p:sp>
        <p:nvSpPr>
          <p:cNvPr id="33" name="Oval 32"/>
          <p:cNvSpPr/>
          <p:nvPr/>
        </p:nvSpPr>
        <p:spPr>
          <a:xfrm>
            <a:off x="1316736" y="3465576"/>
            <a:ext cx="292608" cy="292608"/>
          </a:xfrm>
          <a:prstGeom prst="ellipse">
            <a:avLst/>
          </a:prstGeom>
          <a:solidFill>
            <a:srgbClr val="9AA5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316736" y="3465576"/>
            <a:ext cx="292608" cy="292608"/>
          </a:xfrm>
          <a:prstGeom prst="rect">
            <a:avLst/>
          </a:prstGeom>
          <a:noFill/>
        </p:spPr>
        <p:txBody>
          <a:bodyPr wrap="square" lIns="0" rIns="0" tIns="0" bIns="0" anchor="ctr">
            <a:spAutoFit/>
          </a:bodyPr>
          <a:lstStyle/>
          <a:p>
            <a:pPr algn="ctr">
              <a:lnSpc>
                <a:spcPct val="115000"/>
              </a:lnSpc>
            </a:pPr>
            <a:r>
              <a:rPr sz="1000" b="1" i="0">
                <a:solidFill>
                  <a:srgbClr val="FFFFFF"/>
                </a:solidFill>
                <a:latin typeface="Helvetica Neue"/>
              </a:rPr>
              <a:t>2</a:t>
            </a:r>
          </a:p>
        </p:txBody>
      </p:sp>
      <p:sp>
        <p:nvSpPr>
          <p:cNvPr id="35" name="Rounded Rectangle 34"/>
          <p:cNvSpPr/>
          <p:nvPr/>
        </p:nvSpPr>
        <p:spPr>
          <a:xfrm>
            <a:off x="1417320" y="2194560"/>
            <a:ext cx="2514600" cy="777240"/>
          </a:xfrm>
          <a:prstGeom prst="roundRect">
            <a:avLst/>
          </a:prstGeom>
          <a:solidFill>
            <a:srgbClr val="F1F4F8"/>
          </a:solidFill>
          <a:ln w="6350">
            <a:solidFill>
              <a:srgbClr val="E1E5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1417320" y="2194560"/>
            <a:ext cx="82296" cy="777240"/>
          </a:xfrm>
          <a:prstGeom prst="roundRect">
            <a:avLst/>
          </a:prstGeom>
          <a:solidFill>
            <a:srgbClr val="E1E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600200" y="2633472"/>
            <a:ext cx="2240280" cy="274320"/>
          </a:xfrm>
          <a:prstGeom prst="rect">
            <a:avLst/>
          </a:prstGeom>
          <a:noFill/>
        </p:spPr>
        <p:txBody>
          <a:bodyPr wrap="square" lIns="0" rIns="0" tIns="0" bIns="0" anchor="t">
            <a:spAutoFit/>
          </a:bodyPr>
          <a:lstStyle/>
          <a:p>
            <a:pPr algn="l">
              <a:lnSpc>
                <a:spcPct val="115000"/>
              </a:lnSpc>
            </a:pPr>
            <a:r>
              <a:rPr sz="900" b="1" i="0">
                <a:solidFill>
                  <a:srgbClr val="9AA5B4"/>
                </a:solidFill>
                <a:latin typeface="Helvetica Neue"/>
              </a:rPr>
              <a:t>RIL</a:t>
            </a:r>
          </a:p>
        </p:txBody>
      </p:sp>
      <p:sp>
        <p:nvSpPr>
          <p:cNvPr id="38" name="TextBox 37"/>
          <p:cNvSpPr txBox="1"/>
          <p:nvPr/>
        </p:nvSpPr>
        <p:spPr>
          <a:xfrm>
            <a:off x="1600200" y="2286000"/>
            <a:ext cx="2240280" cy="310896"/>
          </a:xfrm>
          <a:prstGeom prst="rect">
            <a:avLst/>
          </a:prstGeom>
          <a:noFill/>
        </p:spPr>
        <p:txBody>
          <a:bodyPr wrap="square" lIns="0" rIns="0" tIns="0" bIns="0" anchor="t">
            <a:spAutoFit/>
          </a:bodyPr>
          <a:lstStyle/>
          <a:p>
            <a:pPr algn="l">
              <a:lnSpc>
                <a:spcPct val="115000"/>
              </a:lnSpc>
            </a:pPr>
            <a:r>
              <a:rPr sz="1200" b="1" i="0">
                <a:solidFill>
                  <a:srgbClr val="9AA5B4"/>
                </a:solidFill>
                <a:latin typeface="Helvetica Neue"/>
              </a:rPr>
              <a:t>Risk Intelligence Layer</a:t>
            </a:r>
          </a:p>
        </p:txBody>
      </p:sp>
      <p:sp>
        <p:nvSpPr>
          <p:cNvPr id="39" name="Oval 38"/>
          <p:cNvSpPr/>
          <p:nvPr/>
        </p:nvSpPr>
        <p:spPr>
          <a:xfrm>
            <a:off x="1316736" y="2093976"/>
            <a:ext cx="292608" cy="292608"/>
          </a:xfrm>
          <a:prstGeom prst="ellipse">
            <a:avLst/>
          </a:prstGeom>
          <a:solidFill>
            <a:srgbClr val="9AA5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316736" y="2093976"/>
            <a:ext cx="292608" cy="292608"/>
          </a:xfrm>
          <a:prstGeom prst="rect">
            <a:avLst/>
          </a:prstGeom>
          <a:noFill/>
        </p:spPr>
        <p:txBody>
          <a:bodyPr wrap="square" lIns="0" rIns="0" tIns="0" bIns="0" anchor="ctr">
            <a:spAutoFit/>
          </a:bodyPr>
          <a:lstStyle/>
          <a:p>
            <a:pPr algn="ctr">
              <a:lnSpc>
                <a:spcPct val="115000"/>
              </a:lnSpc>
            </a:pPr>
            <a:r>
              <a:rPr sz="1000" b="1" i="0">
                <a:solidFill>
                  <a:srgbClr val="FFFFFF"/>
                </a:solidFill>
                <a:latin typeface="Helvetica Neue"/>
              </a:rPr>
              <a:t>4</a:t>
            </a:r>
          </a:p>
        </p:txBody>
      </p:sp>
      <p:sp>
        <p:nvSpPr>
          <p:cNvPr id="41" name="Rounded Rectangle 40"/>
          <p:cNvSpPr/>
          <p:nvPr/>
        </p:nvSpPr>
        <p:spPr>
          <a:xfrm>
            <a:off x="4846320" y="2194560"/>
            <a:ext cx="2697480" cy="777240"/>
          </a:xfrm>
          <a:prstGeom prst="roundRect">
            <a:avLst/>
          </a:prstGeom>
          <a:solidFill>
            <a:srgbClr val="F1F4F8"/>
          </a:solidFill>
          <a:ln w="6350">
            <a:solidFill>
              <a:srgbClr val="E1E5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4846320" y="2194560"/>
            <a:ext cx="82296" cy="777240"/>
          </a:xfrm>
          <a:prstGeom prst="roundRect">
            <a:avLst/>
          </a:prstGeom>
          <a:solidFill>
            <a:srgbClr val="E1E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029200" y="2633472"/>
            <a:ext cx="2423160" cy="274320"/>
          </a:xfrm>
          <a:prstGeom prst="rect">
            <a:avLst/>
          </a:prstGeom>
          <a:noFill/>
        </p:spPr>
        <p:txBody>
          <a:bodyPr wrap="square" lIns="0" rIns="0" tIns="0" bIns="0" anchor="t">
            <a:spAutoFit/>
          </a:bodyPr>
          <a:lstStyle/>
          <a:p>
            <a:pPr algn="l">
              <a:lnSpc>
                <a:spcPct val="115000"/>
              </a:lnSpc>
            </a:pPr>
            <a:r>
              <a:rPr sz="900" b="1" i="0">
                <a:solidFill>
                  <a:srgbClr val="9AA5B4"/>
                </a:solidFill>
                <a:latin typeface="Helvetica Neue"/>
              </a:rPr>
              <a:t>FRL</a:t>
            </a:r>
          </a:p>
        </p:txBody>
      </p:sp>
      <p:sp>
        <p:nvSpPr>
          <p:cNvPr id="44" name="TextBox 43"/>
          <p:cNvSpPr txBox="1"/>
          <p:nvPr/>
        </p:nvSpPr>
        <p:spPr>
          <a:xfrm>
            <a:off x="5029200" y="2286000"/>
            <a:ext cx="2423160" cy="310896"/>
          </a:xfrm>
          <a:prstGeom prst="rect">
            <a:avLst/>
          </a:prstGeom>
          <a:noFill/>
        </p:spPr>
        <p:txBody>
          <a:bodyPr wrap="square" lIns="0" rIns="0" tIns="0" bIns="0" anchor="t">
            <a:spAutoFit/>
          </a:bodyPr>
          <a:lstStyle/>
          <a:p>
            <a:pPr algn="l">
              <a:lnSpc>
                <a:spcPct val="115000"/>
              </a:lnSpc>
            </a:pPr>
            <a:r>
              <a:rPr sz="1200" b="1" i="0">
                <a:solidFill>
                  <a:srgbClr val="9AA5B4"/>
                </a:solidFill>
                <a:latin typeface="Helvetica Neue"/>
              </a:rPr>
              <a:t>Feedback &amp; Refinement Layer</a:t>
            </a:r>
          </a:p>
        </p:txBody>
      </p:sp>
      <p:sp>
        <p:nvSpPr>
          <p:cNvPr id="45" name="Oval 44"/>
          <p:cNvSpPr/>
          <p:nvPr/>
        </p:nvSpPr>
        <p:spPr>
          <a:xfrm>
            <a:off x="4745736" y="2093976"/>
            <a:ext cx="292608" cy="292608"/>
          </a:xfrm>
          <a:prstGeom prst="ellipse">
            <a:avLst/>
          </a:prstGeom>
          <a:solidFill>
            <a:srgbClr val="9AA5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745736" y="2093976"/>
            <a:ext cx="292608" cy="292608"/>
          </a:xfrm>
          <a:prstGeom prst="rect">
            <a:avLst/>
          </a:prstGeom>
          <a:noFill/>
        </p:spPr>
        <p:txBody>
          <a:bodyPr wrap="square" lIns="0" rIns="0" tIns="0" bIns="0" anchor="ctr">
            <a:spAutoFit/>
          </a:bodyPr>
          <a:lstStyle/>
          <a:p>
            <a:pPr algn="ctr">
              <a:lnSpc>
                <a:spcPct val="115000"/>
              </a:lnSpc>
            </a:pPr>
            <a:r>
              <a:rPr sz="1000" b="1" i="0">
                <a:solidFill>
                  <a:srgbClr val="FFFFFF"/>
                </a:solidFill>
                <a:latin typeface="Helvetica Neue"/>
              </a:rPr>
              <a:t>5</a:t>
            </a:r>
          </a:p>
        </p:txBody>
      </p:sp>
      <p:sp>
        <p:nvSpPr>
          <p:cNvPr id="47" name="Rounded Rectangle 46"/>
          <p:cNvSpPr/>
          <p:nvPr/>
        </p:nvSpPr>
        <p:spPr>
          <a:xfrm>
            <a:off x="8348472" y="3621024"/>
            <a:ext cx="2194560" cy="822960"/>
          </a:xfrm>
          <a:prstGeom prst="roundRect">
            <a:avLst/>
          </a:prstGeom>
          <a:solidFill>
            <a:srgbClr val="D5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8321040" y="3566160"/>
            <a:ext cx="2194560" cy="822960"/>
          </a:xfrm>
          <a:prstGeom prst="roundRect">
            <a:avLst/>
          </a:prstGeom>
          <a:solidFill>
            <a:srgbClr val="FFFFFF"/>
          </a:solidFill>
          <a:ln w="17780">
            <a:solidFill>
              <a:srgbClr val="1B3A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8321040" y="3566160"/>
            <a:ext cx="82296" cy="822960"/>
          </a:xfrm>
          <a:prstGeom prst="roundRect">
            <a:avLst/>
          </a:prstGeom>
          <a:solidFill>
            <a:srgbClr val="1B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9875520" y="4005072"/>
            <a:ext cx="502920" cy="274320"/>
          </a:xfrm>
          <a:prstGeom prst="roundRect">
            <a:avLst/>
          </a:prstGeom>
          <a:solidFill>
            <a:srgbClr val="1B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875520" y="4005072"/>
            <a:ext cx="502920" cy="274320"/>
          </a:xfrm>
          <a:prstGeom prst="rect">
            <a:avLst/>
          </a:prstGeom>
          <a:noFill/>
        </p:spPr>
        <p:txBody>
          <a:bodyPr wrap="square" lIns="0" rIns="0" tIns="0" bIns="0" anchor="ctr">
            <a:spAutoFit/>
          </a:bodyPr>
          <a:lstStyle/>
          <a:p>
            <a:pPr algn="ctr">
              <a:lnSpc>
                <a:spcPct val="115000"/>
              </a:lnSpc>
            </a:pPr>
            <a:r>
              <a:rPr sz="900" b="1" i="0">
                <a:solidFill>
                  <a:srgbClr val="FFFFFF"/>
                </a:solidFill>
                <a:latin typeface="Helvetica Neue"/>
              </a:rPr>
              <a:t>HIL</a:t>
            </a:r>
          </a:p>
        </p:txBody>
      </p:sp>
      <p:sp>
        <p:nvSpPr>
          <p:cNvPr id="52" name="TextBox 51"/>
          <p:cNvSpPr txBox="1"/>
          <p:nvPr/>
        </p:nvSpPr>
        <p:spPr>
          <a:xfrm>
            <a:off x="8503920" y="3657600"/>
            <a:ext cx="1920240" cy="310896"/>
          </a:xfrm>
          <a:prstGeom prst="rect">
            <a:avLst/>
          </a:prstGeom>
          <a:noFill/>
        </p:spPr>
        <p:txBody>
          <a:bodyPr wrap="square" lIns="0" rIns="0" tIns="0" bIns="0" anchor="t">
            <a:spAutoFit/>
          </a:bodyPr>
          <a:lstStyle/>
          <a:p>
            <a:pPr algn="l">
              <a:lnSpc>
                <a:spcPct val="115000"/>
              </a:lnSpc>
            </a:pPr>
            <a:r>
              <a:rPr sz="1200" b="1" i="0">
                <a:solidFill>
                  <a:srgbClr val="0A1628"/>
                </a:solidFill>
                <a:latin typeface="Helvetica Neue"/>
              </a:rPr>
              <a:t>Human Interaction Layer</a:t>
            </a:r>
          </a:p>
        </p:txBody>
      </p:sp>
      <p:sp>
        <p:nvSpPr>
          <p:cNvPr id="53" name="Oval 52"/>
          <p:cNvSpPr/>
          <p:nvPr/>
        </p:nvSpPr>
        <p:spPr>
          <a:xfrm>
            <a:off x="8220456" y="3465576"/>
            <a:ext cx="292608" cy="292608"/>
          </a:xfrm>
          <a:prstGeom prst="ellipse">
            <a:avLst/>
          </a:prstGeom>
          <a:solidFill>
            <a:srgbClr val="1B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220456" y="3465576"/>
            <a:ext cx="292608" cy="292608"/>
          </a:xfrm>
          <a:prstGeom prst="rect">
            <a:avLst/>
          </a:prstGeom>
          <a:noFill/>
        </p:spPr>
        <p:txBody>
          <a:bodyPr wrap="square" lIns="0" rIns="0" tIns="0" bIns="0" anchor="ctr">
            <a:spAutoFit/>
          </a:bodyPr>
          <a:lstStyle/>
          <a:p>
            <a:pPr algn="ctr">
              <a:lnSpc>
                <a:spcPct val="115000"/>
              </a:lnSpc>
            </a:pPr>
            <a:r>
              <a:rPr sz="1000" b="1" i="0">
                <a:solidFill>
                  <a:srgbClr val="FFFFFF"/>
                </a:solidFill>
                <a:latin typeface="Helvetica Neue"/>
              </a:rPr>
              <a:t>6</a:t>
            </a:r>
          </a:p>
        </p:txBody>
      </p:sp>
      <p:cxnSp>
        <p:nvCxnSpPr>
          <p:cNvPr id="55" name="Connector 54"/>
          <p:cNvCxnSpPr/>
          <p:nvPr/>
        </p:nvCxnSpPr>
        <p:spPr>
          <a:xfrm flipV="1">
            <a:off x="2674620" y="5760720"/>
            <a:ext cx="0" cy="365760"/>
          </a:xfrm>
          <a:prstGeom prst="line">
            <a:avLst/>
          </a:prstGeom>
          <a:ln w="11430">
            <a:solidFill>
              <a:srgbClr val="9AA5B4"/>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V="1">
            <a:off x="2674620" y="4389120"/>
            <a:ext cx="1828800" cy="594360"/>
          </a:xfrm>
          <a:prstGeom prst="line">
            <a:avLst/>
          </a:prstGeom>
          <a:ln w="11430">
            <a:solidFill>
              <a:srgbClr val="9AA5B4"/>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4503420" y="4389120"/>
            <a:ext cx="1691640" cy="594360"/>
          </a:xfrm>
          <a:prstGeom prst="line">
            <a:avLst/>
          </a:prstGeom>
          <a:ln w="11430">
            <a:solidFill>
              <a:srgbClr val="9AA5B4"/>
            </a:solidFill>
            <a:tailEnd type="triangle" w="med" h="med"/>
            <a:headEnd type="triangle" w="med" h="med"/>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flipV="1">
            <a:off x="2674620" y="2971800"/>
            <a:ext cx="1828800" cy="594360"/>
          </a:xfrm>
          <a:prstGeom prst="line">
            <a:avLst/>
          </a:prstGeom>
          <a:ln w="11430">
            <a:solidFill>
              <a:srgbClr val="9AA5B4"/>
            </a:solidFill>
            <a:tailEnd type="triangle" w="med" h="med"/>
            <a:headEnd type="triangle" w="med" h="med"/>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7589520" y="3977640"/>
            <a:ext cx="731520" cy="0"/>
          </a:xfrm>
          <a:prstGeom prst="line">
            <a:avLst/>
          </a:prstGeom>
          <a:ln w="24130">
            <a:solidFill>
              <a:srgbClr val="0A2540"/>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10515600" y="3977640"/>
            <a:ext cx="182880" cy="22859"/>
          </a:xfrm>
          <a:prstGeom prst="line">
            <a:avLst/>
          </a:prstGeom>
          <a:ln w="24130">
            <a:solidFill>
              <a:srgbClr val="0A2540"/>
            </a:solidFill>
            <a:tailEnd type="triangle" w="med" h="med"/>
            <a:headEnd type="triangle" w="med" h="med"/>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3931920" y="2583180"/>
            <a:ext cx="914400" cy="0"/>
          </a:xfrm>
          <a:prstGeom prst="line">
            <a:avLst/>
          </a:prstGeom>
          <a:ln w="11430">
            <a:solidFill>
              <a:srgbClr val="9AA5B4"/>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a:off x="4503420" y="2971800"/>
            <a:ext cx="1691640" cy="594360"/>
          </a:xfrm>
          <a:prstGeom prst="line">
            <a:avLst/>
          </a:prstGeom>
          <a:ln w="11430">
            <a:solidFill>
              <a:srgbClr val="9AA5B4"/>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flipV="1">
            <a:off x="7543800" y="2583180"/>
            <a:ext cx="1874520" cy="982980"/>
          </a:xfrm>
          <a:prstGeom prst="line">
            <a:avLst/>
          </a:prstGeom>
          <a:ln w="24130">
            <a:solidFill>
              <a:srgbClr val="3B6FA8"/>
            </a:solidFill>
            <a:tailEnd type="triangle" w="med" h="med"/>
          </a:ln>
        </p:spPr>
        <p:style>
          <a:lnRef idx="2">
            <a:schemeClr val="accent1"/>
          </a:lnRef>
          <a:fillRef idx="0">
            <a:schemeClr val="accent1"/>
          </a:fillRef>
          <a:effectRef idx="1">
            <a:schemeClr val="accent1"/>
          </a:effectRef>
          <a:fontRef idx="minor">
            <a:schemeClr val="tx1"/>
          </a:fontRef>
        </p:style>
      </p:cxnSp>
      <p:sp>
        <p:nvSpPr>
          <p:cNvPr id="64" name="Rounded Rectangle 63"/>
          <p:cNvSpPr/>
          <p:nvPr/>
        </p:nvSpPr>
        <p:spPr>
          <a:xfrm>
            <a:off x="7598663" y="3840479"/>
            <a:ext cx="713232" cy="2743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598663" y="3840479"/>
            <a:ext cx="713232" cy="274320"/>
          </a:xfrm>
          <a:prstGeom prst="rect">
            <a:avLst/>
          </a:prstGeom>
          <a:noFill/>
        </p:spPr>
        <p:txBody>
          <a:bodyPr wrap="square" lIns="0" rIns="0" tIns="0" bIns="0" anchor="ctr">
            <a:spAutoFit/>
          </a:bodyPr>
          <a:lstStyle/>
          <a:p>
            <a:pPr algn="ctr">
              <a:lnSpc>
                <a:spcPct val="115000"/>
              </a:lnSpc>
            </a:pPr>
            <a:r>
              <a:rPr sz="800" b="0" i="0">
                <a:solidFill>
                  <a:srgbClr val="0A2540"/>
                </a:solidFill>
                <a:latin typeface="Helvetica Neue"/>
              </a:rPr>
              <a:t>risk profile</a:t>
            </a:r>
          </a:p>
        </p:txBody>
      </p:sp>
      <p:sp>
        <p:nvSpPr>
          <p:cNvPr id="66" name="Rounded Rectangle 65"/>
          <p:cNvSpPr/>
          <p:nvPr/>
        </p:nvSpPr>
        <p:spPr>
          <a:xfrm>
            <a:off x="7795260" y="2880360"/>
            <a:ext cx="1417320" cy="2743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7795260" y="2880360"/>
            <a:ext cx="1417320" cy="274320"/>
          </a:xfrm>
          <a:prstGeom prst="rect">
            <a:avLst/>
          </a:prstGeom>
          <a:noFill/>
        </p:spPr>
        <p:txBody>
          <a:bodyPr wrap="square" lIns="0" rIns="0" tIns="0" bIns="0" anchor="ctr">
            <a:spAutoFit/>
          </a:bodyPr>
          <a:lstStyle/>
          <a:p>
            <a:pPr algn="ctr">
              <a:lnSpc>
                <a:spcPct val="115000"/>
              </a:lnSpc>
            </a:pPr>
            <a:r>
              <a:rPr sz="800" b="0" i="0">
                <a:solidFill>
                  <a:srgbClr val="3B6FA8"/>
                </a:solidFill>
                <a:latin typeface="Helvetica Neue"/>
              </a:rPr>
              <a:t>user evaluations</a:t>
            </a:r>
          </a:p>
        </p:txBody>
      </p:sp>
      <p:sp>
        <p:nvSpPr>
          <p:cNvPr id="68" name="Rectangle 67"/>
          <p:cNvSpPr/>
          <p:nvPr/>
        </p:nvSpPr>
        <p:spPr>
          <a:xfrm>
            <a:off x="7772400" y="6409944"/>
            <a:ext cx="256032" cy="4572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8138160" y="6309360"/>
            <a:ext cx="1463040" cy="256032"/>
          </a:xfrm>
          <a:prstGeom prst="rect">
            <a:avLst/>
          </a:prstGeom>
          <a:noFill/>
        </p:spPr>
        <p:txBody>
          <a:bodyPr wrap="square" lIns="0" rIns="0" tIns="0" bIns="0" anchor="ctr">
            <a:spAutoFit/>
          </a:bodyPr>
          <a:lstStyle/>
          <a:p>
            <a:pPr algn="l">
              <a:lnSpc>
                <a:spcPct val="115000"/>
              </a:lnSpc>
            </a:pPr>
            <a:r>
              <a:rPr sz="900" b="0" i="0">
                <a:solidFill>
                  <a:srgbClr val="4A5C74"/>
                </a:solidFill>
                <a:latin typeface="Helvetica Neue"/>
              </a:rPr>
              <a:t>Data path (up)</a:t>
            </a:r>
          </a:p>
        </p:txBody>
      </p:sp>
      <p:sp>
        <p:nvSpPr>
          <p:cNvPr id="70" name="Rectangle 69"/>
          <p:cNvSpPr/>
          <p:nvPr/>
        </p:nvSpPr>
        <p:spPr>
          <a:xfrm>
            <a:off x="9692640" y="6409944"/>
            <a:ext cx="256032" cy="45720"/>
          </a:xfrm>
          <a:prstGeom prst="rect">
            <a:avLst/>
          </a:prstGeom>
          <a:solidFill>
            <a:srgbClr val="3B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10058400" y="6309360"/>
            <a:ext cx="2011680" cy="256032"/>
          </a:xfrm>
          <a:prstGeom prst="rect">
            <a:avLst/>
          </a:prstGeom>
          <a:noFill/>
        </p:spPr>
        <p:txBody>
          <a:bodyPr wrap="square" lIns="0" rIns="0" tIns="0" bIns="0" anchor="ctr">
            <a:spAutoFit/>
          </a:bodyPr>
          <a:lstStyle/>
          <a:p>
            <a:pPr algn="l">
              <a:lnSpc>
                <a:spcPct val="115000"/>
              </a:lnSpc>
            </a:pPr>
            <a:r>
              <a:rPr sz="900" b="0" i="0">
                <a:solidFill>
                  <a:srgbClr val="4A5C74"/>
                </a:solidFill>
                <a:latin typeface="Helvetica Neue"/>
              </a:rPr>
              <a:t>Feedback path (down)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972800" cy="256032"/>
          </a:xfrm>
          <a:prstGeom prst="rect">
            <a:avLst/>
          </a:prstGeom>
          <a:noFill/>
        </p:spPr>
        <p:txBody>
          <a:bodyPr wrap="square" lIns="0" rIns="0" tIns="0" bIns="0" anchor="t">
            <a:spAutoFit/>
          </a:bodyPr>
          <a:lstStyle/>
          <a:p>
            <a:pPr algn="l">
              <a:lnSpc>
                <a:spcPct val="115000"/>
              </a:lnSpc>
            </a:pPr>
            <a:r>
              <a:rPr sz="900" b="1" i="0" spc="250">
                <a:solidFill>
                  <a:srgbClr val="0A2540"/>
                </a:solidFill>
                <a:latin typeface="Helvetica Neue"/>
              </a:rPr>
              <a:t>END-TO-END</a:t>
            </a:r>
          </a:p>
        </p:txBody>
      </p:sp>
      <p:sp>
        <p:nvSpPr>
          <p:cNvPr id="4" name="TextBox 3"/>
          <p:cNvSpPr txBox="1"/>
          <p:nvPr/>
        </p:nvSpPr>
        <p:spPr>
          <a:xfrm>
            <a:off x="731520" y="713232"/>
            <a:ext cx="10972800" cy="502920"/>
          </a:xfrm>
          <a:prstGeom prst="rect">
            <a:avLst/>
          </a:prstGeom>
          <a:noFill/>
        </p:spPr>
        <p:txBody>
          <a:bodyPr wrap="square" lIns="0" rIns="0" tIns="0" bIns="0" anchor="t">
            <a:spAutoFit/>
          </a:bodyPr>
          <a:lstStyle/>
          <a:p>
            <a:pPr algn="l">
              <a:lnSpc>
                <a:spcPct val="115000"/>
              </a:lnSpc>
            </a:pPr>
            <a:r>
              <a:rPr sz="2400" b="1" i="0">
                <a:solidFill>
                  <a:srgbClr val="0A1628"/>
                </a:solidFill>
                <a:latin typeface="Helvetica Neue"/>
              </a:rPr>
              <a:t>Data upward · Decisions downward · Every step traceable</a:t>
            </a:r>
          </a:p>
        </p:txBody>
      </p:sp>
      <p:sp>
        <p:nvSpPr>
          <p:cNvPr id="5" name="Rectangle 4"/>
          <p:cNvSpPr/>
          <p:nvPr/>
        </p:nvSpPr>
        <p:spPr>
          <a:xfrm>
            <a:off x="731520" y="1572768"/>
            <a:ext cx="457200" cy="32004"/>
          </a:xfrm>
          <a:prstGeom prst="rect">
            <a:avLst/>
          </a:prstGeom>
          <a:solidFill>
            <a:srgbClr val="1B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68680" y="2011680"/>
            <a:ext cx="10515600" cy="3840480"/>
          </a:xfrm>
          <a:prstGeom prst="roundRect">
            <a:avLst/>
          </a:prstGeom>
          <a:noFill/>
          <a:ln w="12700">
            <a:solidFill>
              <a:srgbClr val="9AA5B4"/>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 y="6172200"/>
            <a:ext cx="548640" cy="411480"/>
          </a:xfrm>
          <a:prstGeom prst="rect">
            <a:avLst/>
          </a:prstGeom>
          <a:noFill/>
        </p:spPr>
        <p:txBody>
          <a:bodyPr wrap="square" lIns="0" rIns="0" tIns="0" bIns="0" anchor="t">
            <a:spAutoFit/>
          </a:bodyPr>
          <a:lstStyle/>
          <a:p>
            <a:pPr algn="l">
              <a:lnSpc>
                <a:spcPct val="115000"/>
              </a:lnSpc>
            </a:pPr>
            <a:r>
              <a:rPr sz="700" b="0" i="0">
                <a:solidFill>
                  <a:srgbClr val="9AA5B4"/>
                </a:solidFill>
                <a:latin typeface="Helvetica Neue"/>
              </a:rPr>
              <a:t>CAPRA</a:t>
            </a:r>
          </a:p>
          <a:p>
            <a:pPr algn="l">
              <a:lnSpc>
                <a:spcPct val="115000"/>
              </a:lnSpc>
            </a:pPr>
            <a:r>
              <a:rPr sz="700" b="0" i="0">
                <a:solidFill>
                  <a:srgbClr val="9AA5B4"/>
                </a:solidFill>
                <a:latin typeface="Helvetica Neue"/>
              </a:rPr>
              <a:t>System</a:t>
            </a:r>
          </a:p>
          <a:p>
            <a:pPr algn="l">
              <a:lnSpc>
                <a:spcPct val="115000"/>
              </a:lnSpc>
            </a:pPr>
            <a:r>
              <a:rPr sz="700" b="0" i="0">
                <a:solidFill>
                  <a:srgbClr val="9AA5B4"/>
                </a:solidFill>
                <a:latin typeface="Helvetica Neue"/>
              </a:rPr>
              <a:t>Boundary</a:t>
            </a:r>
          </a:p>
        </p:txBody>
      </p:sp>
      <p:sp>
        <p:nvSpPr>
          <p:cNvPr id="8" name="Rounded Rectangle 7"/>
          <p:cNvSpPr/>
          <p:nvPr/>
        </p:nvSpPr>
        <p:spPr>
          <a:xfrm>
            <a:off x="1417320" y="6126480"/>
            <a:ext cx="2514600" cy="457200"/>
          </a:xfrm>
          <a:prstGeom prst="roundRect">
            <a:avLst/>
          </a:prstGeom>
          <a:solidFill>
            <a:srgbClr val="4A5C74"/>
          </a:solidFill>
          <a:ln w="12700">
            <a:solidFill>
              <a:srgbClr val="4A5C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417320" y="6126480"/>
            <a:ext cx="2514600" cy="457200"/>
          </a:xfrm>
          <a:prstGeom prst="rect">
            <a:avLst/>
          </a:prstGeom>
          <a:noFill/>
        </p:spPr>
        <p:txBody>
          <a:bodyPr wrap="square" lIns="0" rIns="0" tIns="0" bIns="0" anchor="ctr">
            <a:spAutoFit/>
          </a:bodyPr>
          <a:lstStyle/>
          <a:p>
            <a:pPr algn="ctr">
              <a:lnSpc>
                <a:spcPct val="115000"/>
              </a:lnSpc>
            </a:pPr>
            <a:r>
              <a:rPr sz="1000" b="1" i="0">
                <a:solidFill>
                  <a:srgbClr val="FFFFFF"/>
                </a:solidFill>
                <a:latin typeface="Helvetica Neue"/>
              </a:rPr>
              <a:t>External Systems</a:t>
            </a:r>
          </a:p>
        </p:txBody>
      </p:sp>
      <p:sp>
        <p:nvSpPr>
          <p:cNvPr id="10" name="Oval 9"/>
          <p:cNvSpPr/>
          <p:nvPr/>
        </p:nvSpPr>
        <p:spPr>
          <a:xfrm>
            <a:off x="1316736" y="6025896"/>
            <a:ext cx="292608" cy="292608"/>
          </a:xfrm>
          <a:prstGeom prst="ellipse">
            <a:avLst/>
          </a:prstGeom>
          <a:solidFill>
            <a:srgbClr val="4A5C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16736" y="6025896"/>
            <a:ext cx="292608" cy="292608"/>
          </a:xfrm>
          <a:prstGeom prst="rect">
            <a:avLst/>
          </a:prstGeom>
          <a:noFill/>
        </p:spPr>
        <p:txBody>
          <a:bodyPr wrap="square" lIns="0" rIns="0" tIns="0" bIns="0" anchor="ctr">
            <a:spAutoFit/>
          </a:bodyPr>
          <a:lstStyle/>
          <a:p>
            <a:pPr algn="ctr">
              <a:lnSpc>
                <a:spcPct val="115000"/>
              </a:lnSpc>
            </a:pPr>
            <a:r>
              <a:rPr sz="1000" b="1" i="0">
                <a:solidFill>
                  <a:srgbClr val="FFFFFF"/>
                </a:solidFill>
                <a:latin typeface="Helvetica Neue"/>
              </a:rPr>
              <a:t>0</a:t>
            </a:r>
          </a:p>
        </p:txBody>
      </p:sp>
      <p:sp>
        <p:nvSpPr>
          <p:cNvPr id="12" name="Oval 11"/>
          <p:cNvSpPr/>
          <p:nvPr/>
        </p:nvSpPr>
        <p:spPr>
          <a:xfrm>
            <a:off x="10698480" y="3749039"/>
            <a:ext cx="914400" cy="502920"/>
          </a:xfrm>
          <a:prstGeom prst="ellipse">
            <a:avLst/>
          </a:prstGeom>
          <a:solidFill>
            <a:srgbClr val="1B3A5E"/>
          </a:solidFill>
          <a:ln w="15240">
            <a:solidFill>
              <a:srgbClr val="1B3A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698480" y="3749039"/>
            <a:ext cx="914400" cy="502920"/>
          </a:xfrm>
          <a:prstGeom prst="rect">
            <a:avLst/>
          </a:prstGeom>
          <a:noFill/>
        </p:spPr>
        <p:txBody>
          <a:bodyPr wrap="square" lIns="0" rIns="0" tIns="0" bIns="0" anchor="ctr">
            <a:spAutoFit/>
          </a:bodyPr>
          <a:lstStyle/>
          <a:p>
            <a:pPr algn="ctr">
              <a:lnSpc>
                <a:spcPct val="115000"/>
              </a:lnSpc>
            </a:pPr>
            <a:r>
              <a:rPr sz="1000" b="1" i="0">
                <a:solidFill>
                  <a:srgbClr val="FFFFFF"/>
                </a:solidFill>
                <a:latin typeface="Helvetica Neue"/>
              </a:rPr>
              <a:t>Human</a:t>
            </a:r>
          </a:p>
        </p:txBody>
      </p:sp>
      <p:sp>
        <p:nvSpPr>
          <p:cNvPr id="14" name="Oval 13"/>
          <p:cNvSpPr/>
          <p:nvPr/>
        </p:nvSpPr>
        <p:spPr>
          <a:xfrm>
            <a:off x="10597896" y="3648455"/>
            <a:ext cx="292608" cy="292608"/>
          </a:xfrm>
          <a:prstGeom prst="ellipse">
            <a:avLst/>
          </a:prstGeom>
          <a:solidFill>
            <a:srgbClr val="1B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597896" y="3648455"/>
            <a:ext cx="292608" cy="292608"/>
          </a:xfrm>
          <a:prstGeom prst="rect">
            <a:avLst/>
          </a:prstGeom>
          <a:noFill/>
        </p:spPr>
        <p:txBody>
          <a:bodyPr wrap="square" lIns="0" rIns="0" tIns="0" bIns="0" anchor="ctr">
            <a:spAutoFit/>
          </a:bodyPr>
          <a:lstStyle/>
          <a:p>
            <a:pPr algn="ctr">
              <a:lnSpc>
                <a:spcPct val="115000"/>
              </a:lnSpc>
            </a:pPr>
            <a:r>
              <a:rPr sz="1000" b="1" i="0">
                <a:solidFill>
                  <a:srgbClr val="FFFFFF"/>
                </a:solidFill>
                <a:latin typeface="Helvetica Neue"/>
              </a:rPr>
              <a:t>7</a:t>
            </a:r>
          </a:p>
        </p:txBody>
      </p:sp>
      <p:sp>
        <p:nvSpPr>
          <p:cNvPr id="16" name="Rounded Rectangle 15"/>
          <p:cNvSpPr/>
          <p:nvPr/>
        </p:nvSpPr>
        <p:spPr>
          <a:xfrm>
            <a:off x="1444752" y="5038344"/>
            <a:ext cx="2514600" cy="777240"/>
          </a:xfrm>
          <a:prstGeom prst="roundRect">
            <a:avLst/>
          </a:prstGeom>
          <a:solidFill>
            <a:srgbClr val="D5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1417320" y="4983480"/>
            <a:ext cx="2514600" cy="777240"/>
          </a:xfrm>
          <a:prstGeom prst="roundRect">
            <a:avLst/>
          </a:prstGeom>
          <a:solidFill>
            <a:srgbClr val="FFFFFF"/>
          </a:solidFill>
          <a:ln w="17780">
            <a:solidFill>
              <a:srgbClr val="0A2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417320" y="4983480"/>
            <a:ext cx="82296" cy="777240"/>
          </a:xfrm>
          <a:prstGeom prst="round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3291840" y="5376672"/>
            <a:ext cx="502920" cy="274320"/>
          </a:xfrm>
          <a:prstGeom prst="round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291840" y="5376672"/>
            <a:ext cx="502920" cy="274320"/>
          </a:xfrm>
          <a:prstGeom prst="rect">
            <a:avLst/>
          </a:prstGeom>
          <a:noFill/>
        </p:spPr>
        <p:txBody>
          <a:bodyPr wrap="square" lIns="0" rIns="0" tIns="0" bIns="0" anchor="ctr">
            <a:spAutoFit/>
          </a:bodyPr>
          <a:lstStyle/>
          <a:p>
            <a:pPr algn="ctr">
              <a:lnSpc>
                <a:spcPct val="115000"/>
              </a:lnSpc>
            </a:pPr>
            <a:r>
              <a:rPr sz="900" b="1" i="0">
                <a:solidFill>
                  <a:srgbClr val="FFFFFF"/>
                </a:solidFill>
                <a:latin typeface="Helvetica Neue"/>
              </a:rPr>
              <a:t>DFL</a:t>
            </a:r>
          </a:p>
        </p:txBody>
      </p:sp>
      <p:sp>
        <p:nvSpPr>
          <p:cNvPr id="21" name="TextBox 20"/>
          <p:cNvSpPr txBox="1"/>
          <p:nvPr/>
        </p:nvSpPr>
        <p:spPr>
          <a:xfrm>
            <a:off x="1600200" y="5074920"/>
            <a:ext cx="2240280" cy="310896"/>
          </a:xfrm>
          <a:prstGeom prst="rect">
            <a:avLst/>
          </a:prstGeom>
          <a:noFill/>
        </p:spPr>
        <p:txBody>
          <a:bodyPr wrap="square" lIns="0" rIns="0" tIns="0" bIns="0" anchor="t">
            <a:spAutoFit/>
          </a:bodyPr>
          <a:lstStyle/>
          <a:p>
            <a:pPr algn="l">
              <a:lnSpc>
                <a:spcPct val="115000"/>
              </a:lnSpc>
            </a:pPr>
            <a:r>
              <a:rPr sz="1200" b="1" i="0">
                <a:solidFill>
                  <a:srgbClr val="0A1628"/>
                </a:solidFill>
                <a:latin typeface="Helvetica Neue"/>
              </a:rPr>
              <a:t>Data Federation Layer</a:t>
            </a:r>
          </a:p>
        </p:txBody>
      </p:sp>
      <p:sp>
        <p:nvSpPr>
          <p:cNvPr id="22" name="Oval 21"/>
          <p:cNvSpPr/>
          <p:nvPr/>
        </p:nvSpPr>
        <p:spPr>
          <a:xfrm>
            <a:off x="1316736" y="4882896"/>
            <a:ext cx="292608" cy="292608"/>
          </a:xfrm>
          <a:prstGeom prst="ellipse">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16736" y="4882896"/>
            <a:ext cx="292608" cy="292608"/>
          </a:xfrm>
          <a:prstGeom prst="rect">
            <a:avLst/>
          </a:prstGeom>
          <a:noFill/>
        </p:spPr>
        <p:txBody>
          <a:bodyPr wrap="square" lIns="0" rIns="0" tIns="0" bIns="0" anchor="ctr">
            <a:spAutoFit/>
          </a:bodyPr>
          <a:lstStyle/>
          <a:p>
            <a:pPr algn="ctr">
              <a:lnSpc>
                <a:spcPct val="115000"/>
              </a:lnSpc>
            </a:pPr>
            <a:r>
              <a:rPr sz="1000" b="1" i="0">
                <a:solidFill>
                  <a:srgbClr val="FFFFFF"/>
                </a:solidFill>
                <a:latin typeface="Helvetica Neue"/>
              </a:rPr>
              <a:t>1</a:t>
            </a:r>
          </a:p>
        </p:txBody>
      </p:sp>
      <p:sp>
        <p:nvSpPr>
          <p:cNvPr id="24" name="Rounded Rectangle 23"/>
          <p:cNvSpPr/>
          <p:nvPr/>
        </p:nvSpPr>
        <p:spPr>
          <a:xfrm>
            <a:off x="4873752" y="5038344"/>
            <a:ext cx="2697480" cy="777240"/>
          </a:xfrm>
          <a:prstGeom prst="roundRect">
            <a:avLst/>
          </a:prstGeom>
          <a:solidFill>
            <a:srgbClr val="D5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4846320" y="4983480"/>
            <a:ext cx="2697480" cy="777240"/>
          </a:xfrm>
          <a:prstGeom prst="roundRect">
            <a:avLst/>
          </a:prstGeom>
          <a:solidFill>
            <a:srgbClr val="FFFFFF"/>
          </a:solidFill>
          <a:ln w="17780">
            <a:solidFill>
              <a:srgbClr val="0A2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4846320" y="4983480"/>
            <a:ext cx="82296" cy="777240"/>
          </a:xfrm>
          <a:prstGeom prst="round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903720" y="5376672"/>
            <a:ext cx="502920" cy="274320"/>
          </a:xfrm>
          <a:prstGeom prst="round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903720" y="5376672"/>
            <a:ext cx="502920" cy="274320"/>
          </a:xfrm>
          <a:prstGeom prst="rect">
            <a:avLst/>
          </a:prstGeom>
          <a:noFill/>
        </p:spPr>
        <p:txBody>
          <a:bodyPr wrap="square" lIns="0" rIns="0" tIns="0" bIns="0" anchor="ctr">
            <a:spAutoFit/>
          </a:bodyPr>
          <a:lstStyle/>
          <a:p>
            <a:pPr algn="ctr">
              <a:lnSpc>
                <a:spcPct val="115000"/>
              </a:lnSpc>
            </a:pPr>
            <a:r>
              <a:rPr sz="900" b="1" i="0">
                <a:solidFill>
                  <a:srgbClr val="FFFFFF"/>
                </a:solidFill>
                <a:latin typeface="Helvetica Neue"/>
              </a:rPr>
              <a:t>CPL</a:t>
            </a:r>
          </a:p>
        </p:txBody>
      </p:sp>
      <p:sp>
        <p:nvSpPr>
          <p:cNvPr id="29" name="TextBox 28"/>
          <p:cNvSpPr txBox="1"/>
          <p:nvPr/>
        </p:nvSpPr>
        <p:spPr>
          <a:xfrm>
            <a:off x="5029200" y="5074920"/>
            <a:ext cx="2423160" cy="310896"/>
          </a:xfrm>
          <a:prstGeom prst="rect">
            <a:avLst/>
          </a:prstGeom>
          <a:noFill/>
        </p:spPr>
        <p:txBody>
          <a:bodyPr wrap="square" lIns="0" rIns="0" tIns="0" bIns="0" anchor="t">
            <a:spAutoFit/>
          </a:bodyPr>
          <a:lstStyle/>
          <a:p>
            <a:pPr algn="l">
              <a:lnSpc>
                <a:spcPct val="115000"/>
              </a:lnSpc>
            </a:pPr>
            <a:r>
              <a:rPr sz="1200" b="1" i="0">
                <a:solidFill>
                  <a:srgbClr val="0A1628"/>
                </a:solidFill>
                <a:latin typeface="Helvetica Neue"/>
              </a:rPr>
              <a:t>Context Processing Layer</a:t>
            </a:r>
          </a:p>
        </p:txBody>
      </p:sp>
      <p:sp>
        <p:nvSpPr>
          <p:cNvPr id="30" name="Oval 29"/>
          <p:cNvSpPr/>
          <p:nvPr/>
        </p:nvSpPr>
        <p:spPr>
          <a:xfrm>
            <a:off x="4745736" y="4882896"/>
            <a:ext cx="292608" cy="292608"/>
          </a:xfrm>
          <a:prstGeom prst="ellipse">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745736" y="4882896"/>
            <a:ext cx="292608" cy="292608"/>
          </a:xfrm>
          <a:prstGeom prst="rect">
            <a:avLst/>
          </a:prstGeom>
          <a:noFill/>
        </p:spPr>
        <p:txBody>
          <a:bodyPr wrap="square" lIns="0" rIns="0" tIns="0" bIns="0" anchor="ctr">
            <a:spAutoFit/>
          </a:bodyPr>
          <a:lstStyle/>
          <a:p>
            <a:pPr algn="ctr">
              <a:lnSpc>
                <a:spcPct val="115000"/>
              </a:lnSpc>
            </a:pPr>
            <a:r>
              <a:rPr sz="1000" b="1" i="0">
                <a:solidFill>
                  <a:srgbClr val="FFFFFF"/>
                </a:solidFill>
                <a:latin typeface="Helvetica Neue"/>
              </a:rPr>
              <a:t>3</a:t>
            </a:r>
          </a:p>
        </p:txBody>
      </p:sp>
      <p:sp>
        <p:nvSpPr>
          <p:cNvPr id="32" name="Rounded Rectangle 31"/>
          <p:cNvSpPr/>
          <p:nvPr/>
        </p:nvSpPr>
        <p:spPr>
          <a:xfrm>
            <a:off x="1444752" y="3621024"/>
            <a:ext cx="6172200" cy="822960"/>
          </a:xfrm>
          <a:prstGeom prst="roundRect">
            <a:avLst/>
          </a:prstGeom>
          <a:solidFill>
            <a:srgbClr val="D5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1417320" y="3566160"/>
            <a:ext cx="6172200" cy="822960"/>
          </a:xfrm>
          <a:prstGeom prst="roundRect">
            <a:avLst/>
          </a:prstGeom>
          <a:solidFill>
            <a:srgbClr val="FFFFFF"/>
          </a:solidFill>
          <a:ln w="17780">
            <a:solidFill>
              <a:srgbClr val="0A2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1417320" y="3566160"/>
            <a:ext cx="82296" cy="822960"/>
          </a:xfrm>
          <a:prstGeom prst="round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6949440" y="4005072"/>
            <a:ext cx="502920" cy="274320"/>
          </a:xfrm>
          <a:prstGeom prst="round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949440" y="4005072"/>
            <a:ext cx="502920" cy="274320"/>
          </a:xfrm>
          <a:prstGeom prst="rect">
            <a:avLst/>
          </a:prstGeom>
          <a:noFill/>
        </p:spPr>
        <p:txBody>
          <a:bodyPr wrap="square" lIns="0" rIns="0" tIns="0" bIns="0" anchor="ctr">
            <a:spAutoFit/>
          </a:bodyPr>
          <a:lstStyle/>
          <a:p>
            <a:pPr algn="ctr">
              <a:lnSpc>
                <a:spcPct val="115000"/>
              </a:lnSpc>
            </a:pPr>
            <a:r>
              <a:rPr sz="900" b="1" i="0">
                <a:solidFill>
                  <a:srgbClr val="FFFFFF"/>
                </a:solidFill>
                <a:latin typeface="Helvetica Neue"/>
              </a:rPr>
              <a:t>CL</a:t>
            </a:r>
          </a:p>
        </p:txBody>
      </p:sp>
      <p:sp>
        <p:nvSpPr>
          <p:cNvPr id="37" name="TextBox 36"/>
          <p:cNvSpPr txBox="1"/>
          <p:nvPr/>
        </p:nvSpPr>
        <p:spPr>
          <a:xfrm>
            <a:off x="1600200" y="3657600"/>
            <a:ext cx="5897880" cy="310896"/>
          </a:xfrm>
          <a:prstGeom prst="rect">
            <a:avLst/>
          </a:prstGeom>
          <a:noFill/>
        </p:spPr>
        <p:txBody>
          <a:bodyPr wrap="square" lIns="0" rIns="0" tIns="0" bIns="0" anchor="t">
            <a:spAutoFit/>
          </a:bodyPr>
          <a:lstStyle/>
          <a:p>
            <a:pPr algn="l">
              <a:lnSpc>
                <a:spcPct val="115000"/>
              </a:lnSpc>
            </a:pPr>
            <a:r>
              <a:rPr sz="1200" b="1" i="0">
                <a:solidFill>
                  <a:srgbClr val="0A1628"/>
                </a:solidFill>
                <a:latin typeface="Helvetica Neue"/>
              </a:rPr>
              <a:t>Context Layer</a:t>
            </a:r>
          </a:p>
        </p:txBody>
      </p:sp>
      <p:sp>
        <p:nvSpPr>
          <p:cNvPr id="38" name="Oval 37"/>
          <p:cNvSpPr/>
          <p:nvPr/>
        </p:nvSpPr>
        <p:spPr>
          <a:xfrm>
            <a:off x="1316736" y="3465576"/>
            <a:ext cx="292608" cy="292608"/>
          </a:xfrm>
          <a:prstGeom prst="ellipse">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316736" y="3465576"/>
            <a:ext cx="292608" cy="292608"/>
          </a:xfrm>
          <a:prstGeom prst="rect">
            <a:avLst/>
          </a:prstGeom>
          <a:noFill/>
        </p:spPr>
        <p:txBody>
          <a:bodyPr wrap="square" lIns="0" rIns="0" tIns="0" bIns="0" anchor="ctr">
            <a:spAutoFit/>
          </a:bodyPr>
          <a:lstStyle/>
          <a:p>
            <a:pPr algn="ctr">
              <a:lnSpc>
                <a:spcPct val="115000"/>
              </a:lnSpc>
            </a:pPr>
            <a:r>
              <a:rPr sz="1000" b="1" i="0">
                <a:solidFill>
                  <a:srgbClr val="FFFFFF"/>
                </a:solidFill>
                <a:latin typeface="Helvetica Neue"/>
              </a:rPr>
              <a:t>2</a:t>
            </a:r>
          </a:p>
        </p:txBody>
      </p:sp>
      <p:sp>
        <p:nvSpPr>
          <p:cNvPr id="40" name="Rounded Rectangle 39"/>
          <p:cNvSpPr/>
          <p:nvPr/>
        </p:nvSpPr>
        <p:spPr>
          <a:xfrm>
            <a:off x="1444752" y="2249424"/>
            <a:ext cx="2514600" cy="777240"/>
          </a:xfrm>
          <a:prstGeom prst="roundRect">
            <a:avLst/>
          </a:prstGeom>
          <a:solidFill>
            <a:srgbClr val="D5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1417320" y="2194560"/>
            <a:ext cx="2514600" cy="777240"/>
          </a:xfrm>
          <a:prstGeom prst="roundRect">
            <a:avLst/>
          </a:prstGeom>
          <a:solidFill>
            <a:srgbClr val="FFFFFF"/>
          </a:solidFill>
          <a:ln w="17780">
            <a:solidFill>
              <a:srgbClr val="0A2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1417320" y="2194560"/>
            <a:ext cx="82296" cy="777240"/>
          </a:xfrm>
          <a:prstGeom prst="round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3291840" y="2587752"/>
            <a:ext cx="502920" cy="274320"/>
          </a:xfrm>
          <a:prstGeom prst="round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291840" y="2587752"/>
            <a:ext cx="502920" cy="274320"/>
          </a:xfrm>
          <a:prstGeom prst="rect">
            <a:avLst/>
          </a:prstGeom>
          <a:noFill/>
        </p:spPr>
        <p:txBody>
          <a:bodyPr wrap="square" lIns="0" rIns="0" tIns="0" bIns="0" anchor="ctr">
            <a:spAutoFit/>
          </a:bodyPr>
          <a:lstStyle/>
          <a:p>
            <a:pPr algn="ctr">
              <a:lnSpc>
                <a:spcPct val="115000"/>
              </a:lnSpc>
            </a:pPr>
            <a:r>
              <a:rPr sz="900" b="1" i="0">
                <a:solidFill>
                  <a:srgbClr val="FFFFFF"/>
                </a:solidFill>
                <a:latin typeface="Helvetica Neue"/>
              </a:rPr>
              <a:t>RIL</a:t>
            </a:r>
          </a:p>
        </p:txBody>
      </p:sp>
      <p:sp>
        <p:nvSpPr>
          <p:cNvPr id="45" name="TextBox 44"/>
          <p:cNvSpPr txBox="1"/>
          <p:nvPr/>
        </p:nvSpPr>
        <p:spPr>
          <a:xfrm>
            <a:off x="1600200" y="2286000"/>
            <a:ext cx="2240280" cy="310896"/>
          </a:xfrm>
          <a:prstGeom prst="rect">
            <a:avLst/>
          </a:prstGeom>
          <a:noFill/>
        </p:spPr>
        <p:txBody>
          <a:bodyPr wrap="square" lIns="0" rIns="0" tIns="0" bIns="0" anchor="t">
            <a:spAutoFit/>
          </a:bodyPr>
          <a:lstStyle/>
          <a:p>
            <a:pPr algn="l">
              <a:lnSpc>
                <a:spcPct val="115000"/>
              </a:lnSpc>
            </a:pPr>
            <a:r>
              <a:rPr sz="1200" b="1" i="0">
                <a:solidFill>
                  <a:srgbClr val="0A1628"/>
                </a:solidFill>
                <a:latin typeface="Helvetica Neue"/>
              </a:rPr>
              <a:t>Risk Intelligence Layer</a:t>
            </a:r>
          </a:p>
        </p:txBody>
      </p:sp>
      <p:sp>
        <p:nvSpPr>
          <p:cNvPr id="46" name="Oval 45"/>
          <p:cNvSpPr/>
          <p:nvPr/>
        </p:nvSpPr>
        <p:spPr>
          <a:xfrm>
            <a:off x="1316736" y="2093976"/>
            <a:ext cx="292608" cy="292608"/>
          </a:xfrm>
          <a:prstGeom prst="ellipse">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316736" y="2093976"/>
            <a:ext cx="292608" cy="292608"/>
          </a:xfrm>
          <a:prstGeom prst="rect">
            <a:avLst/>
          </a:prstGeom>
          <a:noFill/>
        </p:spPr>
        <p:txBody>
          <a:bodyPr wrap="square" lIns="0" rIns="0" tIns="0" bIns="0" anchor="ctr">
            <a:spAutoFit/>
          </a:bodyPr>
          <a:lstStyle/>
          <a:p>
            <a:pPr algn="ctr">
              <a:lnSpc>
                <a:spcPct val="115000"/>
              </a:lnSpc>
            </a:pPr>
            <a:r>
              <a:rPr sz="1000" b="1" i="0">
                <a:solidFill>
                  <a:srgbClr val="FFFFFF"/>
                </a:solidFill>
                <a:latin typeface="Helvetica Neue"/>
              </a:rPr>
              <a:t>4</a:t>
            </a:r>
          </a:p>
        </p:txBody>
      </p:sp>
      <p:sp>
        <p:nvSpPr>
          <p:cNvPr id="48" name="Rounded Rectangle 47"/>
          <p:cNvSpPr/>
          <p:nvPr/>
        </p:nvSpPr>
        <p:spPr>
          <a:xfrm>
            <a:off x="4873752" y="2249424"/>
            <a:ext cx="2697480" cy="777240"/>
          </a:xfrm>
          <a:prstGeom prst="roundRect">
            <a:avLst/>
          </a:prstGeom>
          <a:solidFill>
            <a:srgbClr val="D5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4846320" y="2194560"/>
            <a:ext cx="2697480" cy="777240"/>
          </a:xfrm>
          <a:prstGeom prst="roundRect">
            <a:avLst/>
          </a:prstGeom>
          <a:solidFill>
            <a:srgbClr val="FFFFFF"/>
          </a:solidFill>
          <a:ln w="17780">
            <a:solidFill>
              <a:srgbClr val="0A2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4846320" y="2194560"/>
            <a:ext cx="82296" cy="777240"/>
          </a:xfrm>
          <a:prstGeom prst="round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6903720" y="2587752"/>
            <a:ext cx="502920" cy="274320"/>
          </a:xfrm>
          <a:prstGeom prst="round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903720" y="2587752"/>
            <a:ext cx="502920" cy="274320"/>
          </a:xfrm>
          <a:prstGeom prst="rect">
            <a:avLst/>
          </a:prstGeom>
          <a:noFill/>
        </p:spPr>
        <p:txBody>
          <a:bodyPr wrap="square" lIns="0" rIns="0" tIns="0" bIns="0" anchor="ctr">
            <a:spAutoFit/>
          </a:bodyPr>
          <a:lstStyle/>
          <a:p>
            <a:pPr algn="ctr">
              <a:lnSpc>
                <a:spcPct val="115000"/>
              </a:lnSpc>
            </a:pPr>
            <a:r>
              <a:rPr sz="900" b="1" i="0">
                <a:solidFill>
                  <a:srgbClr val="FFFFFF"/>
                </a:solidFill>
                <a:latin typeface="Helvetica Neue"/>
              </a:rPr>
              <a:t>FRL</a:t>
            </a:r>
          </a:p>
        </p:txBody>
      </p:sp>
      <p:sp>
        <p:nvSpPr>
          <p:cNvPr id="53" name="TextBox 52"/>
          <p:cNvSpPr txBox="1"/>
          <p:nvPr/>
        </p:nvSpPr>
        <p:spPr>
          <a:xfrm>
            <a:off x="5029200" y="2286000"/>
            <a:ext cx="2423160" cy="310896"/>
          </a:xfrm>
          <a:prstGeom prst="rect">
            <a:avLst/>
          </a:prstGeom>
          <a:noFill/>
        </p:spPr>
        <p:txBody>
          <a:bodyPr wrap="square" lIns="0" rIns="0" tIns="0" bIns="0" anchor="t">
            <a:spAutoFit/>
          </a:bodyPr>
          <a:lstStyle/>
          <a:p>
            <a:pPr algn="l">
              <a:lnSpc>
                <a:spcPct val="115000"/>
              </a:lnSpc>
            </a:pPr>
            <a:r>
              <a:rPr sz="1200" b="1" i="0">
                <a:solidFill>
                  <a:srgbClr val="0A1628"/>
                </a:solidFill>
                <a:latin typeface="Helvetica Neue"/>
              </a:rPr>
              <a:t>Feedback &amp; Refinement Layer</a:t>
            </a:r>
          </a:p>
        </p:txBody>
      </p:sp>
      <p:sp>
        <p:nvSpPr>
          <p:cNvPr id="54" name="Oval 53"/>
          <p:cNvSpPr/>
          <p:nvPr/>
        </p:nvSpPr>
        <p:spPr>
          <a:xfrm>
            <a:off x="4745736" y="2093976"/>
            <a:ext cx="292608" cy="292608"/>
          </a:xfrm>
          <a:prstGeom prst="ellipse">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4745736" y="2093976"/>
            <a:ext cx="292608" cy="292608"/>
          </a:xfrm>
          <a:prstGeom prst="rect">
            <a:avLst/>
          </a:prstGeom>
          <a:noFill/>
        </p:spPr>
        <p:txBody>
          <a:bodyPr wrap="square" lIns="0" rIns="0" tIns="0" bIns="0" anchor="ctr">
            <a:spAutoFit/>
          </a:bodyPr>
          <a:lstStyle/>
          <a:p>
            <a:pPr algn="ctr">
              <a:lnSpc>
                <a:spcPct val="115000"/>
              </a:lnSpc>
            </a:pPr>
            <a:r>
              <a:rPr sz="1000" b="1" i="0">
                <a:solidFill>
                  <a:srgbClr val="FFFFFF"/>
                </a:solidFill>
                <a:latin typeface="Helvetica Neue"/>
              </a:rPr>
              <a:t>5</a:t>
            </a:r>
          </a:p>
        </p:txBody>
      </p:sp>
      <p:sp>
        <p:nvSpPr>
          <p:cNvPr id="56" name="Rounded Rectangle 55"/>
          <p:cNvSpPr/>
          <p:nvPr/>
        </p:nvSpPr>
        <p:spPr>
          <a:xfrm>
            <a:off x="8348472" y="3621024"/>
            <a:ext cx="2194560" cy="822960"/>
          </a:xfrm>
          <a:prstGeom prst="roundRect">
            <a:avLst/>
          </a:prstGeom>
          <a:solidFill>
            <a:srgbClr val="D5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ounded Rectangle 56"/>
          <p:cNvSpPr/>
          <p:nvPr/>
        </p:nvSpPr>
        <p:spPr>
          <a:xfrm>
            <a:off x="8321040" y="3566160"/>
            <a:ext cx="2194560" cy="822960"/>
          </a:xfrm>
          <a:prstGeom prst="roundRect">
            <a:avLst/>
          </a:prstGeom>
          <a:solidFill>
            <a:srgbClr val="FFFFFF"/>
          </a:solidFill>
          <a:ln w="17780">
            <a:solidFill>
              <a:srgbClr val="1B3A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ounded Rectangle 57"/>
          <p:cNvSpPr/>
          <p:nvPr/>
        </p:nvSpPr>
        <p:spPr>
          <a:xfrm>
            <a:off x="8321040" y="3566160"/>
            <a:ext cx="82296" cy="822960"/>
          </a:xfrm>
          <a:prstGeom prst="roundRect">
            <a:avLst/>
          </a:prstGeom>
          <a:solidFill>
            <a:srgbClr val="1B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ounded Rectangle 58"/>
          <p:cNvSpPr/>
          <p:nvPr/>
        </p:nvSpPr>
        <p:spPr>
          <a:xfrm>
            <a:off x="9875520" y="4005072"/>
            <a:ext cx="502920" cy="274320"/>
          </a:xfrm>
          <a:prstGeom prst="roundRect">
            <a:avLst/>
          </a:prstGeom>
          <a:solidFill>
            <a:srgbClr val="1B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9875520" y="4005072"/>
            <a:ext cx="502920" cy="274320"/>
          </a:xfrm>
          <a:prstGeom prst="rect">
            <a:avLst/>
          </a:prstGeom>
          <a:noFill/>
        </p:spPr>
        <p:txBody>
          <a:bodyPr wrap="square" lIns="0" rIns="0" tIns="0" bIns="0" anchor="ctr">
            <a:spAutoFit/>
          </a:bodyPr>
          <a:lstStyle/>
          <a:p>
            <a:pPr algn="ctr">
              <a:lnSpc>
                <a:spcPct val="115000"/>
              </a:lnSpc>
            </a:pPr>
            <a:r>
              <a:rPr sz="900" b="1" i="0">
                <a:solidFill>
                  <a:srgbClr val="FFFFFF"/>
                </a:solidFill>
                <a:latin typeface="Helvetica Neue"/>
              </a:rPr>
              <a:t>HIL</a:t>
            </a:r>
          </a:p>
        </p:txBody>
      </p:sp>
      <p:sp>
        <p:nvSpPr>
          <p:cNvPr id="61" name="TextBox 60"/>
          <p:cNvSpPr txBox="1"/>
          <p:nvPr/>
        </p:nvSpPr>
        <p:spPr>
          <a:xfrm>
            <a:off x="8503920" y="3657600"/>
            <a:ext cx="1920240" cy="310896"/>
          </a:xfrm>
          <a:prstGeom prst="rect">
            <a:avLst/>
          </a:prstGeom>
          <a:noFill/>
        </p:spPr>
        <p:txBody>
          <a:bodyPr wrap="square" lIns="0" rIns="0" tIns="0" bIns="0" anchor="t">
            <a:spAutoFit/>
          </a:bodyPr>
          <a:lstStyle/>
          <a:p>
            <a:pPr algn="l">
              <a:lnSpc>
                <a:spcPct val="115000"/>
              </a:lnSpc>
            </a:pPr>
            <a:r>
              <a:rPr sz="1200" b="1" i="0">
                <a:solidFill>
                  <a:srgbClr val="0A1628"/>
                </a:solidFill>
                <a:latin typeface="Helvetica Neue"/>
              </a:rPr>
              <a:t>Human Interaction Layer</a:t>
            </a:r>
          </a:p>
        </p:txBody>
      </p:sp>
      <p:sp>
        <p:nvSpPr>
          <p:cNvPr id="62" name="Oval 61"/>
          <p:cNvSpPr/>
          <p:nvPr/>
        </p:nvSpPr>
        <p:spPr>
          <a:xfrm>
            <a:off x="8220456" y="3465576"/>
            <a:ext cx="292608" cy="292608"/>
          </a:xfrm>
          <a:prstGeom prst="ellipse">
            <a:avLst/>
          </a:prstGeom>
          <a:solidFill>
            <a:srgbClr val="1B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8220456" y="3465576"/>
            <a:ext cx="292608" cy="292608"/>
          </a:xfrm>
          <a:prstGeom prst="rect">
            <a:avLst/>
          </a:prstGeom>
          <a:noFill/>
        </p:spPr>
        <p:txBody>
          <a:bodyPr wrap="square" lIns="0" rIns="0" tIns="0" bIns="0" anchor="ctr">
            <a:spAutoFit/>
          </a:bodyPr>
          <a:lstStyle/>
          <a:p>
            <a:pPr algn="ctr">
              <a:lnSpc>
                <a:spcPct val="115000"/>
              </a:lnSpc>
            </a:pPr>
            <a:r>
              <a:rPr sz="1000" b="1" i="0">
                <a:solidFill>
                  <a:srgbClr val="FFFFFF"/>
                </a:solidFill>
                <a:latin typeface="Helvetica Neue"/>
              </a:rPr>
              <a:t>6</a:t>
            </a:r>
          </a:p>
        </p:txBody>
      </p:sp>
      <p:cxnSp>
        <p:nvCxnSpPr>
          <p:cNvPr id="64" name="Connector 63"/>
          <p:cNvCxnSpPr/>
          <p:nvPr/>
        </p:nvCxnSpPr>
        <p:spPr>
          <a:xfrm flipV="1">
            <a:off x="2674620" y="5760720"/>
            <a:ext cx="0" cy="365760"/>
          </a:xfrm>
          <a:prstGeom prst="line">
            <a:avLst/>
          </a:prstGeom>
          <a:ln w="21590">
            <a:solidFill>
              <a:srgbClr val="0A2540"/>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V="1">
            <a:off x="2674620" y="4389120"/>
            <a:ext cx="1828800" cy="594360"/>
          </a:xfrm>
          <a:prstGeom prst="line">
            <a:avLst/>
          </a:prstGeom>
          <a:ln w="21590">
            <a:solidFill>
              <a:srgbClr val="0A2540"/>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4503420" y="4389120"/>
            <a:ext cx="1691640" cy="594360"/>
          </a:xfrm>
          <a:prstGeom prst="line">
            <a:avLst/>
          </a:prstGeom>
          <a:ln w="21590">
            <a:solidFill>
              <a:srgbClr val="0A2540"/>
            </a:solidFill>
            <a:tailEnd type="triangle" w="med" h="med"/>
            <a:headEnd type="triangle" w="med" h="med"/>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flipV="1">
            <a:off x="2674620" y="2971800"/>
            <a:ext cx="1828800" cy="594360"/>
          </a:xfrm>
          <a:prstGeom prst="line">
            <a:avLst/>
          </a:prstGeom>
          <a:ln w="21590">
            <a:solidFill>
              <a:srgbClr val="0A2540"/>
            </a:solidFill>
            <a:tailEnd type="triangle" w="med" h="med"/>
            <a:headEnd type="triangle" w="med" h="med"/>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7589520" y="3977640"/>
            <a:ext cx="731520" cy="0"/>
          </a:xfrm>
          <a:prstGeom prst="line">
            <a:avLst/>
          </a:prstGeom>
          <a:ln w="21590">
            <a:solidFill>
              <a:srgbClr val="0A2540"/>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10515600" y="3977640"/>
            <a:ext cx="182880" cy="22859"/>
          </a:xfrm>
          <a:prstGeom prst="line">
            <a:avLst/>
          </a:prstGeom>
          <a:ln w="21590">
            <a:solidFill>
              <a:srgbClr val="0A2540"/>
            </a:solidFill>
            <a:tailEnd type="triangle" w="med" h="med"/>
            <a:headEnd type="triangle" w="med" h="med"/>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3931920" y="2583180"/>
            <a:ext cx="914400" cy="0"/>
          </a:xfrm>
          <a:prstGeom prst="line">
            <a:avLst/>
          </a:prstGeom>
          <a:ln w="21590">
            <a:solidFill>
              <a:srgbClr val="3B6FA8"/>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a:off x="4503420" y="2971800"/>
            <a:ext cx="1691640" cy="594360"/>
          </a:xfrm>
          <a:prstGeom prst="line">
            <a:avLst/>
          </a:prstGeom>
          <a:ln w="21590">
            <a:solidFill>
              <a:srgbClr val="3B6FA8"/>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flipV="1">
            <a:off x="7543800" y="2583180"/>
            <a:ext cx="1874520" cy="982980"/>
          </a:xfrm>
          <a:prstGeom prst="line">
            <a:avLst/>
          </a:prstGeom>
          <a:ln w="21590">
            <a:solidFill>
              <a:srgbClr val="3B6FA8"/>
            </a:solidFill>
            <a:tailEnd type="triangle" w="med" h="med"/>
          </a:ln>
        </p:spPr>
        <p:style>
          <a:lnRef idx="2">
            <a:schemeClr val="accent1"/>
          </a:lnRef>
          <a:fillRef idx="0">
            <a:schemeClr val="accent1"/>
          </a:fillRef>
          <a:effectRef idx="1">
            <a:schemeClr val="accent1"/>
          </a:effectRef>
          <a:fontRef idx="minor">
            <a:schemeClr val="tx1"/>
          </a:fontRef>
        </p:style>
      </p:cxnSp>
      <p:sp>
        <p:nvSpPr>
          <p:cNvPr id="73" name="Rounded Rectangle 72"/>
          <p:cNvSpPr/>
          <p:nvPr/>
        </p:nvSpPr>
        <p:spPr>
          <a:xfrm>
            <a:off x="1965960" y="5806440"/>
            <a:ext cx="1463040" cy="2743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1965960" y="5806440"/>
            <a:ext cx="1463040" cy="274320"/>
          </a:xfrm>
          <a:prstGeom prst="rect">
            <a:avLst/>
          </a:prstGeom>
          <a:noFill/>
        </p:spPr>
        <p:txBody>
          <a:bodyPr wrap="square" lIns="0" rIns="0" tIns="0" bIns="0" anchor="ctr">
            <a:spAutoFit/>
          </a:bodyPr>
          <a:lstStyle/>
          <a:p>
            <a:pPr algn="ctr">
              <a:lnSpc>
                <a:spcPct val="115000"/>
              </a:lnSpc>
            </a:pPr>
            <a:r>
              <a:rPr sz="800" b="0" i="0">
                <a:solidFill>
                  <a:srgbClr val="0A2540"/>
                </a:solidFill>
                <a:latin typeface="Helvetica Neue"/>
              </a:rPr>
              <a:t>raw telemetry</a:t>
            </a:r>
          </a:p>
        </p:txBody>
      </p:sp>
      <p:sp>
        <p:nvSpPr>
          <p:cNvPr id="75" name="Rounded Rectangle 74"/>
          <p:cNvSpPr/>
          <p:nvPr/>
        </p:nvSpPr>
        <p:spPr>
          <a:xfrm>
            <a:off x="2125980" y="4544568"/>
            <a:ext cx="1600200" cy="2743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2125980" y="4544568"/>
            <a:ext cx="1600200" cy="274320"/>
          </a:xfrm>
          <a:prstGeom prst="rect">
            <a:avLst/>
          </a:prstGeom>
          <a:noFill/>
        </p:spPr>
        <p:txBody>
          <a:bodyPr wrap="square" lIns="0" rIns="0" tIns="0" bIns="0" anchor="ctr">
            <a:spAutoFit/>
          </a:bodyPr>
          <a:lstStyle/>
          <a:p>
            <a:pPr algn="ctr">
              <a:lnSpc>
                <a:spcPct val="115000"/>
              </a:lnSpc>
            </a:pPr>
            <a:r>
              <a:rPr sz="800" b="0" i="0">
                <a:solidFill>
                  <a:srgbClr val="0A2540"/>
                </a:solidFill>
                <a:latin typeface="Helvetica Neue"/>
              </a:rPr>
              <a:t>normalised telemetry</a:t>
            </a:r>
          </a:p>
        </p:txBody>
      </p:sp>
      <p:sp>
        <p:nvSpPr>
          <p:cNvPr id="77" name="Rounded Rectangle 76"/>
          <p:cNvSpPr/>
          <p:nvPr/>
        </p:nvSpPr>
        <p:spPr>
          <a:xfrm>
            <a:off x="5234940" y="4544568"/>
            <a:ext cx="1600200" cy="2743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5234940" y="4544568"/>
            <a:ext cx="1600200" cy="274320"/>
          </a:xfrm>
          <a:prstGeom prst="rect">
            <a:avLst/>
          </a:prstGeom>
          <a:noFill/>
        </p:spPr>
        <p:txBody>
          <a:bodyPr wrap="square" lIns="0" rIns="0" tIns="0" bIns="0" anchor="ctr">
            <a:spAutoFit/>
          </a:bodyPr>
          <a:lstStyle/>
          <a:p>
            <a:pPr algn="ctr">
              <a:lnSpc>
                <a:spcPct val="115000"/>
              </a:lnSpc>
            </a:pPr>
            <a:r>
              <a:rPr sz="800" b="0" i="0">
                <a:solidFill>
                  <a:srgbClr val="0A2540"/>
                </a:solidFill>
                <a:latin typeface="Helvetica Neue"/>
              </a:rPr>
              <a:t>context enrichment</a:t>
            </a:r>
          </a:p>
        </p:txBody>
      </p:sp>
      <p:sp>
        <p:nvSpPr>
          <p:cNvPr id="79" name="Rounded Rectangle 78"/>
          <p:cNvSpPr/>
          <p:nvPr/>
        </p:nvSpPr>
        <p:spPr>
          <a:xfrm>
            <a:off x="2171700" y="3108960"/>
            <a:ext cx="1691640" cy="2743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2171700" y="3108960"/>
            <a:ext cx="1691640" cy="274320"/>
          </a:xfrm>
          <a:prstGeom prst="rect">
            <a:avLst/>
          </a:prstGeom>
          <a:noFill/>
        </p:spPr>
        <p:txBody>
          <a:bodyPr wrap="square" lIns="0" rIns="0" tIns="0" bIns="0" anchor="ctr">
            <a:spAutoFit/>
          </a:bodyPr>
          <a:lstStyle/>
          <a:p>
            <a:pPr algn="ctr">
              <a:lnSpc>
                <a:spcPct val="115000"/>
              </a:lnSpc>
            </a:pPr>
            <a:r>
              <a:rPr sz="800" b="0" i="0">
                <a:solidFill>
                  <a:srgbClr val="0A2540"/>
                </a:solidFill>
                <a:latin typeface="Helvetica Neue"/>
              </a:rPr>
              <a:t>context &amp; assessment</a:t>
            </a:r>
          </a:p>
        </p:txBody>
      </p:sp>
      <p:sp>
        <p:nvSpPr>
          <p:cNvPr id="81" name="Rounded Rectangle 80"/>
          <p:cNvSpPr/>
          <p:nvPr/>
        </p:nvSpPr>
        <p:spPr>
          <a:xfrm>
            <a:off x="7598663" y="3840479"/>
            <a:ext cx="713232" cy="2743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7598663" y="3840479"/>
            <a:ext cx="713232" cy="274320"/>
          </a:xfrm>
          <a:prstGeom prst="rect">
            <a:avLst/>
          </a:prstGeom>
          <a:noFill/>
        </p:spPr>
        <p:txBody>
          <a:bodyPr wrap="square" lIns="0" rIns="0" tIns="0" bIns="0" anchor="ctr">
            <a:spAutoFit/>
          </a:bodyPr>
          <a:lstStyle/>
          <a:p>
            <a:pPr algn="ctr">
              <a:lnSpc>
                <a:spcPct val="115000"/>
              </a:lnSpc>
            </a:pPr>
            <a:r>
              <a:rPr sz="800" b="0" i="0">
                <a:solidFill>
                  <a:srgbClr val="0A2540"/>
                </a:solidFill>
                <a:latin typeface="Helvetica Neue"/>
              </a:rPr>
              <a:t>risk profile</a:t>
            </a:r>
          </a:p>
        </p:txBody>
      </p:sp>
      <p:sp>
        <p:nvSpPr>
          <p:cNvPr id="83" name="Rounded Rectangle 82"/>
          <p:cNvSpPr/>
          <p:nvPr/>
        </p:nvSpPr>
        <p:spPr>
          <a:xfrm>
            <a:off x="3954780" y="2446020"/>
            <a:ext cx="868680" cy="2743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3954780" y="2446020"/>
            <a:ext cx="868680" cy="274320"/>
          </a:xfrm>
          <a:prstGeom prst="rect">
            <a:avLst/>
          </a:prstGeom>
          <a:noFill/>
        </p:spPr>
        <p:txBody>
          <a:bodyPr wrap="square" lIns="0" rIns="0" tIns="0" bIns="0" anchor="ctr">
            <a:spAutoFit/>
          </a:bodyPr>
          <a:lstStyle/>
          <a:p>
            <a:pPr algn="ctr">
              <a:lnSpc>
                <a:spcPct val="115000"/>
              </a:lnSpc>
            </a:pPr>
            <a:r>
              <a:rPr sz="800" b="0" i="0">
                <a:solidFill>
                  <a:srgbClr val="3B6FA8"/>
                </a:solidFill>
                <a:latin typeface="Helvetica Neue"/>
              </a:rPr>
              <a:t>risk output</a:t>
            </a:r>
          </a:p>
        </p:txBody>
      </p:sp>
      <p:sp>
        <p:nvSpPr>
          <p:cNvPr id="85" name="Rounded Rectangle 84"/>
          <p:cNvSpPr/>
          <p:nvPr/>
        </p:nvSpPr>
        <p:spPr>
          <a:xfrm>
            <a:off x="5623560" y="3108960"/>
            <a:ext cx="1188720" cy="2743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5623560" y="3108960"/>
            <a:ext cx="1188720" cy="274320"/>
          </a:xfrm>
          <a:prstGeom prst="rect">
            <a:avLst/>
          </a:prstGeom>
          <a:noFill/>
        </p:spPr>
        <p:txBody>
          <a:bodyPr wrap="square" lIns="0" rIns="0" tIns="0" bIns="0" anchor="ctr">
            <a:spAutoFit/>
          </a:bodyPr>
          <a:lstStyle/>
          <a:p>
            <a:pPr algn="ctr">
              <a:lnSpc>
                <a:spcPct val="115000"/>
              </a:lnSpc>
            </a:pPr>
            <a:r>
              <a:rPr sz="800" b="0" i="0">
                <a:solidFill>
                  <a:srgbClr val="3B6FA8"/>
                </a:solidFill>
                <a:latin typeface="Helvetica Neue"/>
              </a:rPr>
              <a:t>model updates</a:t>
            </a:r>
          </a:p>
        </p:txBody>
      </p:sp>
      <p:sp>
        <p:nvSpPr>
          <p:cNvPr id="87" name="Rounded Rectangle 86"/>
          <p:cNvSpPr/>
          <p:nvPr/>
        </p:nvSpPr>
        <p:spPr>
          <a:xfrm>
            <a:off x="7795260" y="2880360"/>
            <a:ext cx="1417320" cy="2743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7795260" y="2880360"/>
            <a:ext cx="1417320" cy="274320"/>
          </a:xfrm>
          <a:prstGeom prst="rect">
            <a:avLst/>
          </a:prstGeom>
          <a:noFill/>
        </p:spPr>
        <p:txBody>
          <a:bodyPr wrap="square" lIns="0" rIns="0" tIns="0" bIns="0" anchor="ctr">
            <a:spAutoFit/>
          </a:bodyPr>
          <a:lstStyle/>
          <a:p>
            <a:pPr algn="ctr">
              <a:lnSpc>
                <a:spcPct val="115000"/>
              </a:lnSpc>
            </a:pPr>
            <a:r>
              <a:rPr sz="800" b="0" i="0">
                <a:solidFill>
                  <a:srgbClr val="3B6FA8"/>
                </a:solidFill>
                <a:latin typeface="Helvetica Neue"/>
              </a:rPr>
              <a:t>user evaluations</a:t>
            </a:r>
          </a:p>
        </p:txBody>
      </p:sp>
      <p:sp>
        <p:nvSpPr>
          <p:cNvPr id="89" name="Rectangle 88"/>
          <p:cNvSpPr/>
          <p:nvPr/>
        </p:nvSpPr>
        <p:spPr>
          <a:xfrm>
            <a:off x="7772400" y="6409944"/>
            <a:ext cx="256032" cy="4572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8138160" y="6309360"/>
            <a:ext cx="1463040" cy="256032"/>
          </a:xfrm>
          <a:prstGeom prst="rect">
            <a:avLst/>
          </a:prstGeom>
          <a:noFill/>
        </p:spPr>
        <p:txBody>
          <a:bodyPr wrap="square" lIns="0" rIns="0" tIns="0" bIns="0" anchor="ctr">
            <a:spAutoFit/>
          </a:bodyPr>
          <a:lstStyle/>
          <a:p>
            <a:pPr algn="l">
              <a:lnSpc>
                <a:spcPct val="115000"/>
              </a:lnSpc>
            </a:pPr>
            <a:r>
              <a:rPr sz="900" b="0" i="0">
                <a:solidFill>
                  <a:srgbClr val="4A5C74"/>
                </a:solidFill>
                <a:latin typeface="Helvetica Neue"/>
              </a:rPr>
              <a:t>Data path (up)</a:t>
            </a:r>
          </a:p>
        </p:txBody>
      </p:sp>
      <p:sp>
        <p:nvSpPr>
          <p:cNvPr id="91" name="Rectangle 90"/>
          <p:cNvSpPr/>
          <p:nvPr/>
        </p:nvSpPr>
        <p:spPr>
          <a:xfrm>
            <a:off x="9692640" y="6409944"/>
            <a:ext cx="256032" cy="45720"/>
          </a:xfrm>
          <a:prstGeom prst="rect">
            <a:avLst/>
          </a:prstGeom>
          <a:solidFill>
            <a:srgbClr val="3B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10058400" y="6309360"/>
            <a:ext cx="2011680" cy="256032"/>
          </a:xfrm>
          <a:prstGeom prst="rect">
            <a:avLst/>
          </a:prstGeom>
          <a:noFill/>
        </p:spPr>
        <p:txBody>
          <a:bodyPr wrap="square" lIns="0" rIns="0" tIns="0" bIns="0" anchor="ctr">
            <a:spAutoFit/>
          </a:bodyPr>
          <a:lstStyle/>
          <a:p>
            <a:pPr algn="l">
              <a:lnSpc>
                <a:spcPct val="115000"/>
              </a:lnSpc>
            </a:pPr>
            <a:r>
              <a:rPr sz="900" b="0" i="0">
                <a:solidFill>
                  <a:srgbClr val="4A5C74"/>
                </a:solidFill>
                <a:latin typeface="Helvetica Neue"/>
              </a:rPr>
              <a:t>Feedback path (down)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972800" cy="256032"/>
          </a:xfrm>
          <a:prstGeom prst="rect">
            <a:avLst/>
          </a:prstGeom>
          <a:noFill/>
        </p:spPr>
        <p:txBody>
          <a:bodyPr wrap="square" lIns="0" rIns="0" tIns="0" bIns="0" anchor="t">
            <a:spAutoFit/>
          </a:bodyPr>
          <a:lstStyle/>
          <a:p>
            <a:pPr algn="l">
              <a:lnSpc>
                <a:spcPct val="115000"/>
              </a:lnSpc>
            </a:pPr>
            <a:r>
              <a:rPr sz="900" b="1" i="0" spc="250">
                <a:solidFill>
                  <a:srgbClr val="0A2540"/>
                </a:solidFill>
                <a:latin typeface="Helvetica Neue"/>
              </a:rPr>
              <a:t>PROTOTYPE IN ACTION</a:t>
            </a:r>
          </a:p>
        </p:txBody>
      </p:sp>
      <p:sp>
        <p:nvSpPr>
          <p:cNvPr id="4" name="TextBox 3"/>
          <p:cNvSpPr txBox="1"/>
          <p:nvPr/>
        </p:nvSpPr>
        <p:spPr>
          <a:xfrm>
            <a:off x="731520" y="713232"/>
            <a:ext cx="10972800" cy="502920"/>
          </a:xfrm>
          <a:prstGeom prst="rect">
            <a:avLst/>
          </a:prstGeom>
          <a:noFill/>
        </p:spPr>
        <p:txBody>
          <a:bodyPr wrap="square" lIns="0" rIns="0" tIns="0" bIns="0" anchor="t">
            <a:spAutoFit/>
          </a:bodyPr>
          <a:lstStyle/>
          <a:p>
            <a:pPr algn="l">
              <a:lnSpc>
                <a:spcPct val="115000"/>
              </a:lnSpc>
            </a:pPr>
            <a:r>
              <a:rPr sz="2400" b="1" i="0">
                <a:solidFill>
                  <a:srgbClr val="0A1628"/>
                </a:solidFill>
                <a:latin typeface="Helvetica Neue"/>
              </a:rPr>
              <a:t>One event traced end-to-end through the running workflow (sped up)</a:t>
            </a:r>
          </a:p>
        </p:txBody>
      </p:sp>
      <p:sp>
        <p:nvSpPr>
          <p:cNvPr id="5" name="Rectangle 4"/>
          <p:cNvSpPr/>
          <p:nvPr/>
        </p:nvSpPr>
        <p:spPr>
          <a:xfrm>
            <a:off x="731520" y="1572768"/>
            <a:ext cx="457200" cy="32004"/>
          </a:xfrm>
          <a:prstGeom prst="rect">
            <a:avLst/>
          </a:prstGeom>
          <a:solidFill>
            <a:srgbClr val="1B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prototype_e2e.gif"/>
          <p:cNvPicPr>
            <a:picLocks noChangeAspect="1"/>
          </p:cNvPicPr>
          <p:nvPr/>
        </p:nvPicPr>
        <p:blipFill>
          <a:blip r:embed="rId2"/>
          <a:stretch>
            <a:fillRect/>
          </a:stretch>
        </p:blipFill>
        <p:spPr>
          <a:xfrm>
            <a:off x="1523847" y="1463040"/>
            <a:ext cx="9144000" cy="5143500"/>
          </a:xfrm>
          <a:prstGeom prst="rect">
            <a:avLst/>
          </a:prstGeom>
        </p:spPr>
      </p:pic>
      <p:sp>
        <p:nvSpPr>
          <p:cNvPr id="7" name="TextBox 6"/>
          <p:cNvSpPr txBox="1"/>
          <p:nvPr/>
        </p:nvSpPr>
        <p:spPr>
          <a:xfrm>
            <a:off x="548640" y="6446520"/>
            <a:ext cx="11064240" cy="274320"/>
          </a:xfrm>
          <a:prstGeom prst="rect">
            <a:avLst/>
          </a:prstGeom>
          <a:noFill/>
        </p:spPr>
        <p:txBody>
          <a:bodyPr wrap="square" lIns="0" rIns="0" tIns="0" bIns="0" anchor="t">
            <a:spAutoFit/>
          </a:bodyPr>
          <a:lstStyle/>
          <a:p>
            <a:pPr algn="ctr">
              <a:lnSpc>
                <a:spcPct val="115000"/>
              </a:lnSpc>
            </a:pPr>
            <a:r>
              <a:rPr sz="900" b="0" i="1">
                <a:solidFill>
                  <a:srgbClr val="9AA5B4"/>
                </a:solidFill>
                <a:latin typeface="Helvetica Neue"/>
              </a:rPr>
              <a:t>Schematic replay of the executing n8n workflow — real screencap may be substituted at assets/prototype_e2e.gif.</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