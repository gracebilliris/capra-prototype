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short outline of my research — the problem, the question, and how I approached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single event: a nurse opens a patient record. In one context that's routine care. In another — say, the patient is a public figure and the nurse isn't on the treating team — the same action is a serious privacy incident. Same data, same action, different context, different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Today, privacy risk assessments are done once at design time. They sit in a folder while the systems they describe keep changing — new integrations, new datasets, new users, new purposes. The paperwork ages the moment it's signed.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the research question is straightforward: can a privacy risk assessment stay context-aware, continuously — reacting to what's actually happening in the system, not just what was written down at design time?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approach is a research method called Design Science — build the artefact, evaluate it against real scenarios, iterate. I applied it across three settings: healthcare, retail, and student admissions. Each setting has its own actors, its own sensitive data, and its own legitimate reasons for access — so if the framework works across all three, it's not tied to one industry.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contribution has three parts. First, an architecture — a six-layer framework called CAPRA that separates data intake, context, risk scoring, human review, and learning. Second, a working prototype that demonstrates each layer end-to-end. Third, an evaluation showing that the same framework handles all three settings with only domain-model changes — no code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next video walks through the framework itself, layer by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45720" cy="502920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502920" cy="45720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7BA7D9"/>
                </a:solidFill>
                <a:latin typeface="Helvetica Neue"/>
              </a:rPr>
              <a:t>RESEARCH OUTLINE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FFFFF"/>
                </a:solidFill>
                <a:latin typeface="Helvetica Neue"/>
              </a:rPr>
              <a:t>CAPRA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09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B6FA8"/>
                </a:solidFill>
                <a:latin typeface="Helvetica Neue"/>
              </a:rPr>
              <a:t>Context-Aware Privacy Risk Assessment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577840"/>
            <a:ext cx="1097280" cy="36576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150">
                <a:solidFill>
                  <a:srgbClr val="9AA5B4"/>
                </a:solidFill>
                <a:latin typeface="Helvetica Neue"/>
              </a:rPr>
              <a:t>Problem  ·  Question  ·  Method  ·  Contribution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2743200" cy="2743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18000">
                <a:solidFill>
                  <a:srgbClr val="F1F4F8"/>
                </a:solidFill>
                <a:latin typeface="Helvetica Neue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0A2540"/>
                </a:solidFill>
                <a:latin typeface="Helvetica Neue"/>
              </a:rPr>
              <a:t>MOTIVATING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A1628"/>
                </a:solidFill>
                <a:latin typeface="Helvetica Neue"/>
              </a:rPr>
              <a:t>Same data. Different context. Different risk.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64208"/>
            <a:ext cx="548640" cy="36576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A1628"/>
                </a:solidFill>
                <a:latin typeface="Helvetica Neue"/>
              </a:rPr>
              <a:t>A nurse opens a patient record.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3300984"/>
            <a:ext cx="5394960" cy="2468880"/>
          </a:xfrm>
          <a:prstGeom prst="round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5394960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246120"/>
            <a:ext cx="82296" cy="246888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4290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0A2540"/>
                </a:solidFill>
                <a:latin typeface="Helvetica Neue"/>
              </a:rPr>
              <a:t>ROUTINE 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9476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1628"/>
                </a:solidFill>
                <a:latin typeface="Helvetica Neue"/>
              </a:rPr>
              <a:t>Low risk.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2628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4A5C74"/>
                </a:solidFill>
                <a:latin typeface="Helvetica Neue"/>
              </a:rPr>
              <a:t>Treating clinician.</a:t>
            </a:r>
          </a:p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4A5C74"/>
                </a:solidFill>
                <a:latin typeface="Helvetica Neue"/>
              </a:rPr>
              <a:t>On shift.</a:t>
            </a:r>
          </a:p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4A5C74"/>
                </a:solidFill>
                <a:latin typeface="Helvetica Neue"/>
              </a:rPr>
              <a:t>Expected access.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3952" y="3300984"/>
            <a:ext cx="5029200" cy="2468880"/>
          </a:xfrm>
          <a:prstGeom prst="round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3246120"/>
            <a:ext cx="5029200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3246120"/>
            <a:ext cx="82296" cy="2468880"/>
          </a:xfrm>
          <a:prstGeom prst="roundRect">
            <a:avLst/>
          </a:prstGeom>
          <a:solidFill>
            <a:srgbClr val="3B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429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3B6FA8"/>
                </a:solidFill>
                <a:latin typeface="Helvetica Neue"/>
              </a:rPr>
              <a:t>PRIVACY INCIDENT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7947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1628"/>
                </a:solidFill>
                <a:latin typeface="Helvetica Neue"/>
              </a:rPr>
              <a:t>High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52628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4A5C74"/>
                </a:solidFill>
                <a:latin typeface="Helvetica Neue"/>
              </a:rPr>
              <a:t>Not on the care team.</a:t>
            </a:r>
          </a:p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4A5C74"/>
                </a:solidFill>
                <a:latin typeface="Helvetica Neue"/>
              </a:rPr>
              <a:t>Patient is a public figure.</a:t>
            </a:r>
          </a:p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4A5C74"/>
                </a:solidFill>
                <a:latin typeface="Helvetica Neue"/>
              </a:rPr>
              <a:t>Curious browsing.</a:t>
            </a:r>
          </a:p>
        </p:txBody>
      </p:sp>
      <p:sp>
        <p:nvSpPr>
          <p:cNvPr id="20" name="Oval 19"/>
          <p:cNvSpPr/>
          <p:nvPr/>
        </p:nvSpPr>
        <p:spPr>
          <a:xfrm>
            <a:off x="10454335" y="6446520"/>
            <a:ext cx="128016" cy="128016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673791" y="6446520"/>
            <a:ext cx="128016" cy="128016"/>
          </a:xfrm>
          <a:prstGeom prst="ellipse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93247" y="6446520"/>
            <a:ext cx="128016" cy="128016"/>
          </a:xfrm>
          <a:prstGeom prst="ellipse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112703" y="6446520"/>
            <a:ext cx="128016" cy="128016"/>
          </a:xfrm>
          <a:prstGeom prst="ellipse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32159" y="6446520"/>
            <a:ext cx="128016" cy="128016"/>
          </a:xfrm>
          <a:prstGeom prst="ellipse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2743200" cy="2743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18000">
                <a:solidFill>
                  <a:srgbClr val="F1F4F8"/>
                </a:solidFill>
                <a:latin typeface="Helvetica Neue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0A2540"/>
                </a:solidFill>
                <a:latin typeface="Helvetica Neue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A1628"/>
                </a:solidFill>
                <a:latin typeface="Helvetica Neue"/>
              </a:rPr>
              <a:t>Assessments are static. Systems are not.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64208"/>
            <a:ext cx="548640" cy="36576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4A5C74"/>
                </a:solidFill>
                <a:latin typeface="Helvetica Neue"/>
              </a:rPr>
              <a:t>Privacy risk assessments are typically completed at design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3621024"/>
            <a:ext cx="2560320" cy="1280160"/>
          </a:xfrm>
          <a:prstGeom prst="round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2560320" cy="1280160"/>
          </a:xfrm>
          <a:prstGeom prst="roundRect">
            <a:avLst/>
          </a:prstGeom>
          <a:solidFill>
            <a:srgbClr val="F1F4F8"/>
          </a:solidFill>
          <a:ln w="635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3749039"/>
            <a:ext cx="292608" cy="292608"/>
          </a:xfrm>
          <a:prstGeom prst="ellipse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74903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605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1628"/>
                </a:solidFill>
                <a:latin typeface="Helvetica Neue"/>
              </a:rPr>
              <a:t>New integrations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3621024"/>
            <a:ext cx="2560320" cy="1280160"/>
          </a:xfrm>
          <a:prstGeom prst="round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4720" y="3566160"/>
            <a:ext cx="2560320" cy="1280160"/>
          </a:xfrm>
          <a:prstGeom prst="roundRect">
            <a:avLst/>
          </a:prstGeom>
          <a:solidFill>
            <a:srgbClr val="F1F4F8"/>
          </a:solidFill>
          <a:ln w="635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49040" y="3749039"/>
            <a:ext cx="292608" cy="292608"/>
          </a:xfrm>
          <a:prstGeom prst="ellipse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0" y="374903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41605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1628"/>
                </a:solidFill>
                <a:latin typeface="Helvetica Neue"/>
              </a:rPr>
              <a:t>New datasets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621024"/>
            <a:ext cx="2560320" cy="1280160"/>
          </a:xfrm>
          <a:prstGeom prst="round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3566160"/>
            <a:ext cx="2560320" cy="1280160"/>
          </a:xfrm>
          <a:prstGeom prst="roundRect">
            <a:avLst/>
          </a:prstGeom>
          <a:solidFill>
            <a:srgbClr val="F1F4F8"/>
          </a:solidFill>
          <a:ln w="635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92240" y="3749039"/>
            <a:ext cx="292608" cy="292608"/>
          </a:xfrm>
          <a:prstGeom prst="ellipse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74903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1605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1628"/>
                </a:solidFill>
                <a:latin typeface="Helvetica Neue"/>
              </a:rPr>
              <a:t>New users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8552" y="3621024"/>
            <a:ext cx="2560320" cy="1280160"/>
          </a:xfrm>
          <a:prstGeom prst="round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61120" y="3566160"/>
            <a:ext cx="2560320" cy="1280160"/>
          </a:xfrm>
          <a:prstGeom prst="roundRect">
            <a:avLst/>
          </a:prstGeom>
          <a:solidFill>
            <a:srgbClr val="F1F4F8"/>
          </a:solidFill>
          <a:ln w="635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35440" y="3749039"/>
            <a:ext cx="292608" cy="292608"/>
          </a:xfrm>
          <a:prstGeom prst="ellipse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374903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41605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1628"/>
                </a:solidFill>
                <a:latin typeface="Helvetica Neue"/>
              </a:rPr>
              <a:t>New purposes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212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3B6FA8"/>
                </a:solidFill>
                <a:latin typeface="Helvetica Neue"/>
              </a:rPr>
              <a:t>Static assessments diverge from live system behaviour.</a:t>
            </a:r>
          </a:p>
        </p:txBody>
      </p:sp>
      <p:sp>
        <p:nvSpPr>
          <p:cNvPr id="29" name="Oval 28"/>
          <p:cNvSpPr/>
          <p:nvPr/>
        </p:nvSpPr>
        <p:spPr>
          <a:xfrm>
            <a:off x="10454335" y="6446520"/>
            <a:ext cx="128016" cy="128016"/>
          </a:xfrm>
          <a:prstGeom prst="ellipse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73791" y="6446520"/>
            <a:ext cx="128016" cy="128016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893247" y="6446520"/>
            <a:ext cx="128016" cy="128016"/>
          </a:xfrm>
          <a:prstGeom prst="ellipse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112703" y="6446520"/>
            <a:ext cx="128016" cy="128016"/>
          </a:xfrm>
          <a:prstGeom prst="ellipse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332159" y="6446520"/>
            <a:ext cx="128016" cy="128016"/>
          </a:xfrm>
          <a:prstGeom prst="ellipse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2743200" cy="2743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18000">
                <a:solidFill>
                  <a:srgbClr val="F1F4F8"/>
                </a:solidFill>
                <a:latin typeface="Helvetica Neue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0A2540"/>
                </a:solidFill>
                <a:latin typeface="Helvetica Neue"/>
              </a:rPr>
              <a:t>RESEARCH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A1628"/>
                </a:solidFill>
                <a:latin typeface="Helvetica Neue"/>
              </a:rPr>
              <a:t>The central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64208"/>
            <a:ext cx="548640" cy="36576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07592" y="2660904"/>
            <a:ext cx="9601200" cy="2926080"/>
          </a:xfrm>
          <a:prstGeom prst="round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80160" y="2606040"/>
            <a:ext cx="9601200" cy="2926080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80160" y="2606040"/>
            <a:ext cx="82296" cy="2926080"/>
          </a:xfrm>
          <a:prstGeom prst="round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78892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7BA7D9"/>
                </a:solidFill>
                <a:latin typeface="Helvetica Neue"/>
              </a:rPr>
              <a:t>RESEARCH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00400"/>
            <a:ext cx="8686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Helvetica Neue"/>
              </a:rPr>
              <a:t>Can a privacy risk assessment stay</a:t>
            </a:r>
          </a:p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Helvetica Neue"/>
              </a:rPr>
              <a:t>context-aware — continuously?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89204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9AA5B4"/>
                </a:solidFill>
                <a:latin typeface="Helvetica Neue"/>
              </a:rPr>
              <a:t>Reacting to what's happening in the system now —</a:t>
            </a:r>
          </a:p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9AA5B4"/>
                </a:solidFill>
                <a:latin typeface="Helvetica Neue"/>
              </a:rPr>
              <a:t>not only what was written down at design time.</a:t>
            </a:r>
          </a:p>
        </p:txBody>
      </p:sp>
      <p:sp>
        <p:nvSpPr>
          <p:cNvPr id="13" name="Oval 12"/>
          <p:cNvSpPr/>
          <p:nvPr/>
        </p:nvSpPr>
        <p:spPr>
          <a:xfrm>
            <a:off x="10454335" y="6446520"/>
            <a:ext cx="128016" cy="128016"/>
          </a:xfrm>
          <a:prstGeom prst="ellipse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73791" y="6446520"/>
            <a:ext cx="128016" cy="128016"/>
          </a:xfrm>
          <a:prstGeom prst="ellipse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893247" y="6446520"/>
            <a:ext cx="128016" cy="128016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12703" y="6446520"/>
            <a:ext cx="128016" cy="128016"/>
          </a:xfrm>
          <a:prstGeom prst="ellipse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32159" y="6446520"/>
            <a:ext cx="128016" cy="128016"/>
          </a:xfrm>
          <a:prstGeom prst="ellipse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2743200" cy="2743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18000">
                <a:solidFill>
                  <a:srgbClr val="F1F4F8"/>
                </a:solidFill>
                <a:latin typeface="Helvetica Neue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0A2540"/>
                </a:solidFill>
                <a:latin typeface="Helvetica Neue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A1628"/>
                </a:solidFill>
                <a:latin typeface="Helvetica Neue"/>
              </a:rPr>
              <a:t>Design Science across three domains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A5C74"/>
                </a:solidFill>
                <a:latin typeface="Helvetica Neue"/>
              </a:rPr>
              <a:t>Build the artefact  ·  Evaluate  ·  Iterate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64208"/>
            <a:ext cx="548640" cy="36576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2798064"/>
            <a:ext cx="3520440" cy="3108960"/>
          </a:xfrm>
          <a:prstGeom prst="round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352044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82296" cy="310896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063240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632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947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A1628"/>
                </a:solidFill>
                <a:latin typeface="Helvetica Neue"/>
              </a:rPr>
              <a:t>Healthcare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434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A5C74"/>
                </a:solidFill>
                <a:latin typeface="Helvetica Neue"/>
              </a:rPr>
              <a:t>Patient records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846320"/>
            <a:ext cx="548640" cy="27432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02920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A5C74"/>
                </a:solidFill>
                <a:latin typeface="Helvetica Neue"/>
              </a:rPr>
              <a:t>clinical staff · legitimate care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2272" y="2798064"/>
            <a:ext cx="3520440" cy="3108960"/>
          </a:xfrm>
          <a:prstGeom prst="round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34840" y="2743200"/>
            <a:ext cx="352044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34840" y="2743200"/>
            <a:ext cx="82296" cy="310896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09160" y="3063240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30632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37947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A1628"/>
                </a:solidFill>
                <a:latin typeface="Helvetica Neue"/>
              </a:rPr>
              <a:t>Retail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3434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A5C74"/>
                </a:solidFill>
                <a:latin typeface="Helvetica Neue"/>
              </a:rPr>
              <a:t>Customer transactions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4846320"/>
            <a:ext cx="548640" cy="27432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502920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A5C74"/>
                </a:solidFill>
                <a:latin typeface="Helvetica Neue"/>
              </a:rPr>
              <a:t>staff · marketing · analytics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2798064"/>
            <a:ext cx="3520440" cy="3108960"/>
          </a:xfrm>
          <a:prstGeom prst="round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38160" y="2743200"/>
            <a:ext cx="352044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38160" y="2743200"/>
            <a:ext cx="82296" cy="310896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12480" y="3063240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30632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7947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A1628"/>
                </a:solidFill>
                <a:latin typeface="Helvetica Neue"/>
              </a:rPr>
              <a:t>Student admissions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3434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A5C74"/>
                </a:solidFill>
                <a:latin typeface="Helvetica Neue"/>
              </a:rPr>
              <a:t>Applicant records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4846320"/>
            <a:ext cx="548640" cy="27432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502920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A5C74"/>
                </a:solidFill>
                <a:latin typeface="Helvetica Neue"/>
              </a:rPr>
              <a:t>reviewers · faculty · admin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4A5C74"/>
                </a:solidFill>
                <a:latin typeface="Helvetica Neue"/>
              </a:rPr>
              <a:t>Evaluation across three domains supports cross-domain generalisability.</a:t>
            </a:r>
          </a:p>
        </p:txBody>
      </p:sp>
      <p:sp>
        <p:nvSpPr>
          <p:cNvPr id="36" name="Oval 35"/>
          <p:cNvSpPr/>
          <p:nvPr/>
        </p:nvSpPr>
        <p:spPr>
          <a:xfrm>
            <a:off x="10454335" y="6446520"/>
            <a:ext cx="128016" cy="128016"/>
          </a:xfrm>
          <a:prstGeom prst="ellipse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73791" y="6446520"/>
            <a:ext cx="128016" cy="128016"/>
          </a:xfrm>
          <a:prstGeom prst="ellipse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893247" y="6446520"/>
            <a:ext cx="128016" cy="128016"/>
          </a:xfrm>
          <a:prstGeom prst="ellipse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112703" y="6446520"/>
            <a:ext cx="128016" cy="128016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332159" y="6446520"/>
            <a:ext cx="128016" cy="128016"/>
          </a:xfrm>
          <a:prstGeom prst="ellipse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2743200" cy="2743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18000">
                <a:solidFill>
                  <a:srgbClr val="F1F4F8"/>
                </a:solidFill>
                <a:latin typeface="Helvetica Neue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0A2540"/>
                </a:solidFill>
                <a:latin typeface="Helvetica Neue"/>
              </a:rPr>
              <a:t>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A1628"/>
                </a:solidFill>
                <a:latin typeface="Helvetica Neue"/>
              </a:rPr>
              <a:t>Three parts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64208"/>
            <a:ext cx="548640" cy="36576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569464"/>
            <a:ext cx="10744200" cy="1097280"/>
          </a:xfrm>
          <a:prstGeom prst="round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1074420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82296" cy="1097280"/>
          </a:xfrm>
          <a:prstGeom prst="round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9AA5B4"/>
                </a:solidFill>
                <a:latin typeface="Helvetica Neu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9864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A1628"/>
                </a:solidFill>
                <a:latin typeface="Helvetica Neue"/>
              </a:rP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79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A2540"/>
                </a:solidFill>
                <a:latin typeface="Helvetica Neue"/>
              </a:rPr>
              <a:t>CAPRA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71800"/>
            <a:ext cx="685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4A5C74"/>
                </a:solidFill>
                <a:latin typeface="Helvetica Neue"/>
              </a:rPr>
              <a:t>A six-layer architecture separating data intake, context, risk, learning, and human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3849624"/>
            <a:ext cx="10744200" cy="1097280"/>
          </a:xfrm>
          <a:prstGeom prst="round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1074420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794760"/>
            <a:ext cx="82296" cy="1097280"/>
          </a:xfrm>
          <a:prstGeom prst="round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9319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9AA5B4"/>
                </a:solidFill>
                <a:latin typeface="Helvetica Neue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17880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A1628"/>
                </a:solidFill>
                <a:latin typeface="Helvetica Neue"/>
              </a:rPr>
              <a:t>Prototype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95935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A2540"/>
                </a:solidFill>
                <a:latin typeface="Helvetica Neue"/>
              </a:rPr>
              <a:t>END-TO-END 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251960"/>
            <a:ext cx="685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4A5C74"/>
                </a:solidFill>
                <a:latin typeface="Helvetica Neue"/>
              </a:rPr>
              <a:t>A working demonstration of every layer, driven by a live domain scenario.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" y="5129784"/>
            <a:ext cx="10744200" cy="1097280"/>
          </a:xfrm>
          <a:prstGeom prst="round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5074920"/>
            <a:ext cx="1074420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5074920"/>
            <a:ext cx="82296" cy="1097280"/>
          </a:xfrm>
          <a:prstGeom prst="round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2120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9AA5B4"/>
                </a:solidFill>
                <a:latin typeface="Helvetica Neue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45896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A1628"/>
                </a:solidFill>
                <a:latin typeface="Helvetica Neue"/>
              </a:rPr>
              <a:t>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23951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A2540"/>
                </a:solidFill>
                <a:latin typeface="Helvetica Neue"/>
              </a:rPr>
              <a:t>THREE DOMAINS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532120"/>
            <a:ext cx="685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4A5C74"/>
                </a:solidFill>
                <a:latin typeface="Helvetica Neue"/>
              </a:rPr>
              <a:t>Applied to healthcare, retail, and student admissions — only the domain model changes between them.</a:t>
            </a:r>
          </a:p>
        </p:txBody>
      </p:sp>
      <p:sp>
        <p:nvSpPr>
          <p:cNvPr id="28" name="Oval 27"/>
          <p:cNvSpPr/>
          <p:nvPr/>
        </p:nvSpPr>
        <p:spPr>
          <a:xfrm>
            <a:off x="10454335" y="6446520"/>
            <a:ext cx="128016" cy="128016"/>
          </a:xfrm>
          <a:prstGeom prst="ellipse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673791" y="6446520"/>
            <a:ext cx="128016" cy="128016"/>
          </a:xfrm>
          <a:prstGeom prst="ellipse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93247" y="6446520"/>
            <a:ext cx="128016" cy="128016"/>
          </a:xfrm>
          <a:prstGeom prst="ellipse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112703" y="6446520"/>
            <a:ext cx="128016" cy="128016"/>
          </a:xfrm>
          <a:prstGeom prst="ellipse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332159" y="6446520"/>
            <a:ext cx="128016" cy="128016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45720" cy="502920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502920" cy="45720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7BA7D9"/>
                </a:solidFill>
                <a:latin typeface="Helvetica Neue"/>
              </a:rPr>
              <a:t>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i="0">
                <a:solidFill>
                  <a:srgbClr val="FFFFFF"/>
                </a:solidFill>
                <a:latin typeface="Helvetica Neue"/>
              </a:rPr>
              <a:t>The framework.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794760"/>
            <a:ext cx="914400" cy="36576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B6FA8"/>
                </a:solidFill>
                <a:latin typeface="Helvetica Neue"/>
              </a:rPr>
              <a:t>Six layers, each defined by role, inputs, and outputs.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150">
                <a:solidFill>
                  <a:srgbClr val="9AA5B4"/>
                </a:solidFill>
                <a:latin typeface="Helvetica Neue"/>
              </a:rPr>
              <a:t>Data ↑    ·    Feedback ↓    ·    Every step traceable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